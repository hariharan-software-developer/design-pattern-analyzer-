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7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7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7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32294529-D461-47E5-AB8A-9C021EC78662}"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4600" cy="3084120"/>
          </a:xfrm>
          <a:prstGeom prst="rect">
            <a:avLst/>
          </a:prstGeom>
          <a:ln w="0">
            <a:noFill/>
          </a:ln>
        </p:spPr>
      </p:sp>
      <p:sp>
        <p:nvSpPr>
          <p:cNvPr id="10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108" name="PlaceHolder 3"/>
          <p:cNvSpPr>
            <a:spLocks noGrp="1"/>
          </p:cNvSpPr>
          <p:nvPr>
            <p:ph type="sldNum" idx="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IN" sz="1200" b="0" u="none" strike="noStrike">
                <a:solidFill>
                  <a:srgbClr val="000000"/>
                </a:solidFill>
                <a:effectLst/>
                <a:uFillTx/>
                <a:latin typeface="Times New Roman"/>
                <a:ea typeface="+mn-ea"/>
              </a:defRPr>
            </a:lvl1pPr>
          </a:lstStyle>
          <a:p>
            <a:pPr indent="0" algn="r" defTabSz="914400">
              <a:lnSpc>
                <a:spcPct val="100000"/>
              </a:lnSpc>
              <a:buNone/>
              <a:tabLst>
                <a:tab algn="l" pos="0"/>
              </a:tabLst>
            </a:pPr>
            <a:fld id="{D8052D57-E990-4E38-A029-7E251930D6A6}" type="slidenum">
              <a:rPr lang="en-IN" sz="1200" b="0" u="none" strike="noStrike">
                <a:solidFill>
                  <a:srgbClr val="000000"/>
                </a:solidFill>
                <a:effectLst/>
                <a:uFillTx/>
                <a:latin typeface="Times New Roman"/>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3" name="PlaceHolder 2"/>
          <p:cNvSpPr>
            <a:spLocks noGrp="1"/>
          </p:cNvSpPr>
          <p:nvPr>
            <p:ph type="body"/>
          </p:nvPr>
        </p:nvSpPr>
        <p:spPr>
          <a:xfrm>
            <a:off x="838080" y="1825560"/>
            <a:ext cx="518004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 name="PlaceHolder 3"/>
          <p:cNvSpPr>
            <a:spLocks noGrp="1"/>
          </p:cNvSpPr>
          <p:nvPr>
            <p:ph type="body"/>
          </p:nvPr>
        </p:nvSpPr>
        <p:spPr>
          <a:xfrm>
            <a:off x="6172200" y="1825560"/>
            <a:ext cx="518004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 name="PlaceHolder 4"/>
          <p:cNvSpPr>
            <a:spLocks noGrp="1"/>
          </p:cNvSpPr>
          <p:nvPr>
            <p:ph type="dt" idx="1"/>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1ACDDB38-40DA-409F-8563-AB48369E8BE2}"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9" name="PlaceHolder 2"/>
          <p:cNvSpPr>
            <a:spLocks noGrp="1"/>
          </p:cNvSpPr>
          <p:nvPr>
            <p:ph type="body"/>
          </p:nvPr>
        </p:nvSpPr>
        <p:spPr>
          <a:xfrm>
            <a:off x="838080" y="1825560"/>
            <a:ext cx="1051416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0" name="PlaceHolder 3"/>
          <p:cNvSpPr>
            <a:spLocks noGrp="1"/>
          </p:cNvSpPr>
          <p:nvPr>
            <p:ph type="dt" idx="4"/>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D6A48630-86C6-4C05-9347-0BB24D82C0AA}"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1960" y="1709640"/>
            <a:ext cx="10514160" cy="285120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14" name="PlaceHolder 2"/>
          <p:cNvSpPr>
            <a:spLocks noGrp="1"/>
          </p:cNvSpPr>
          <p:nvPr>
            <p:ph type="body"/>
          </p:nvPr>
        </p:nvSpPr>
        <p:spPr>
          <a:xfrm>
            <a:off x="831960" y="4589640"/>
            <a:ext cx="10514160" cy="149868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solidFill>
              <a:effectLst/>
              <a:uFillTx/>
              <a:latin typeface="Aptos"/>
            </a:endParaRPr>
          </a:p>
        </p:txBody>
      </p:sp>
      <p:sp>
        <p:nvSpPr>
          <p:cNvPr id="15" name="PlaceHolder 3"/>
          <p:cNvSpPr>
            <a:spLocks noGrp="1"/>
          </p:cNvSpPr>
          <p:nvPr>
            <p:ph type="dt" idx="7"/>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8AF966EF-C2A9-4128-B39A-1D8E81E9447A}"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bg>
      <p:bgPr>
        <a:solidFill>
          <a:srgbClr val="ffffff"/>
        </a:solidFill>
      </p:bgPr>
    </p:bg>
    <p:spTree>
      <p:nvGrpSpPr>
        <p:cNvPr id="1" name=""/>
        <p:cNvGrpSpPr/>
        <p:nvPr/>
      </p:nvGrpSpPr>
      <p:grpSpPr>
        <a:xfrm>
          <a:off x="0" y="0"/>
          <a:ext cx="0" cy="0"/>
          <a:chOff x="0" y="0"/>
          <a:chExt cx="0" cy="0"/>
        </a:xfrm>
      </p:grpSpPr>
      <p:sp>
        <p:nvSpPr>
          <p:cNvPr id="18" name="Flowchart: Document 1"/>
          <p:cNvSpPr/>
          <p:nvPr/>
        </p:nvSpPr>
        <p:spPr>
          <a:xfrm flipH="1" flipV="1">
            <a:off x="0" y="5442480"/>
            <a:ext cx="12191040" cy="14148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0"/>
          </a:gradFill>
          <a:ln w="18000">
            <a:noFill/>
          </a:ln>
          <a:effectLst>
            <a:outerShdw dir="5400000" dist="10800" rotWithShape="0">
              <a:srgbClr val="009bdd"/>
            </a:outerShdw>
          </a:effectLst>
        </p:spPr>
        <p:style>
          <a:lnRef idx="0"/>
          <a:fillRef idx="0"/>
          <a:effectRef idx="0"/>
          <a:fontRef idx="minor"/>
        </p:style>
        <p:txBody>
          <a:bodyPr wrap="none" lIns="108720" rIns="108720" tIns="54360" bIns="54360" anchor="ctr">
            <a:noAutofit/>
          </a:bodyPr>
          <a:p>
            <a:pPr defTabSz="914400">
              <a:lnSpc>
                <a:spcPct val="100000"/>
              </a:lnSpc>
            </a:pPr>
            <a:endParaRPr lang="en-IN" sz="2170" b="0" u="none" strike="noStrike">
              <a:solidFill>
                <a:srgbClr val="000000"/>
              </a:solidFill>
              <a:effectLst/>
              <a:uFillTx/>
              <a:latin typeface="Arial"/>
            </a:endParaRPr>
          </a:p>
        </p:txBody>
      </p:sp>
      <p:sp>
        <p:nvSpPr>
          <p:cNvPr id="19" name="PlaceHolder 1"/>
          <p:cNvSpPr>
            <a:spLocks noGrp="1"/>
          </p:cNvSpPr>
          <p:nvPr>
            <p:ph type="title"/>
          </p:nvPr>
        </p:nvSpPr>
        <p:spPr>
          <a:xfrm>
            <a:off x="0" y="1959120"/>
            <a:ext cx="10884600" cy="1305720"/>
          </a:xfrm>
          <a:prstGeom prst="rect">
            <a:avLst/>
          </a:prstGeom>
          <a:noFill/>
          <a:ln w="0">
            <a:noFill/>
          </a:ln>
        </p:spPr>
        <p:txBody>
          <a:bodyPr lIns="0" rIns="0" tIns="0" bIns="0" anchor="ctr">
            <a:noAutofit/>
          </a:bodyPr>
          <a:p>
            <a:pPr indent="0" algn="ctr" defTabSz="914400">
              <a:lnSpc>
                <a:spcPct val="90000"/>
              </a:lnSpc>
              <a:buNone/>
              <a:tabLst>
                <a:tab algn="l" pos="0"/>
              </a:tabLst>
            </a:pPr>
            <a:r>
              <a:rPr lang="en-IN" sz="3990" b="0" u="none" strike="noStrike">
                <a:solidFill>
                  <a:srgbClr val="dd4100"/>
                </a:solidFill>
                <a:effectLst/>
                <a:uFillTx/>
                <a:latin typeface="Arial"/>
              </a:rPr>
              <a:t>Click to edit the title text format</a:t>
            </a:r>
            <a:endParaRPr lang="en-US" sz="3990" b="0" u="none" strike="noStrike">
              <a:solidFill>
                <a:schemeClr val="dk1"/>
              </a:solidFill>
              <a:effectLst/>
              <a:uFillTx/>
              <a:latin typeface="Aptos"/>
            </a:endParaRPr>
          </a:p>
        </p:txBody>
      </p:sp>
      <p:sp>
        <p:nvSpPr>
          <p:cNvPr id="20" name="PlaceHolder 2"/>
          <p:cNvSpPr>
            <a:spLocks noGrp="1"/>
          </p:cNvSpPr>
          <p:nvPr>
            <p:ph type="body"/>
          </p:nvPr>
        </p:nvSpPr>
        <p:spPr>
          <a:xfrm>
            <a:off x="435240" y="3483000"/>
            <a:ext cx="11320200" cy="1958760"/>
          </a:xfrm>
          <a:prstGeom prst="rect">
            <a:avLst/>
          </a:prstGeom>
          <a:noFill/>
          <a:ln w="0">
            <a:noFill/>
          </a:ln>
        </p:spPr>
        <p:txBody>
          <a:bodyPr lIns="0" rIns="0" tIns="0" bIns="0" anchor="t">
            <a:normAutofit fontScale="85000" lnSpcReduction="9999"/>
          </a:bodyPr>
          <a:p>
            <a:pPr marL="432000" indent="-324000" defTabSz="914400">
              <a:lnSpc>
                <a:spcPct val="90000"/>
              </a:lnSpc>
              <a:spcBef>
                <a:spcPts val="1060"/>
              </a:spcBef>
              <a:buClr>
                <a:srgbClr val="77caee"/>
              </a:buClr>
              <a:buSzPct val="45000"/>
              <a:buFont typeface="Wingdings" charset="2"/>
              <a:buChar char=""/>
            </a:pPr>
            <a:r>
              <a:rPr lang="en-IN" sz="2910" b="0" u="none" strike="noStrike">
                <a:solidFill>
                  <a:srgbClr val="009bdd"/>
                </a:solidFill>
                <a:effectLst/>
                <a:uFillTx/>
                <a:latin typeface="Arial"/>
              </a:rPr>
              <a:t>Click to edit the outline text format</a:t>
            </a:r>
            <a:endParaRPr lang="en-US" sz="2910" b="0" u="none" strike="noStrike">
              <a:solidFill>
                <a:schemeClr val="dk1"/>
              </a:solidFill>
              <a:effectLst/>
              <a:uFillTx/>
              <a:latin typeface="Aptos"/>
            </a:endParaRPr>
          </a:p>
          <a:p>
            <a:pPr marL="1045080" lvl="1" indent="-391680" defTabSz="914400">
              <a:lnSpc>
                <a:spcPct val="90000"/>
              </a:lnSpc>
              <a:spcBef>
                <a:spcPts val="1029"/>
              </a:spcBef>
              <a:buClr>
                <a:srgbClr val="77caee"/>
              </a:buClr>
              <a:buSzPct val="45000"/>
              <a:buFont typeface="Wingdings" charset="2"/>
              <a:buChar char=""/>
            </a:pPr>
            <a:r>
              <a:rPr lang="en-IN" sz="2540" b="0" u="none" strike="noStrike">
                <a:solidFill>
                  <a:srgbClr val="009bdd"/>
                </a:solidFill>
                <a:effectLst/>
                <a:uFillTx/>
                <a:latin typeface="Arial"/>
              </a:rPr>
              <a:t>Second Outline Level</a:t>
            </a:r>
            <a:endParaRPr lang="en-US" sz="2540" b="0" u="none" strike="noStrike">
              <a:solidFill>
                <a:schemeClr val="dk1"/>
              </a:solidFill>
              <a:effectLst/>
              <a:uFillTx/>
              <a:latin typeface="Aptos"/>
            </a:endParaRPr>
          </a:p>
          <a:p>
            <a:pPr marL="1567440" lvl="2" indent="-348480" defTabSz="914400">
              <a:lnSpc>
                <a:spcPct val="90000"/>
              </a:lnSpc>
              <a:spcBef>
                <a:spcPts val="768"/>
              </a:spcBef>
              <a:buClr>
                <a:srgbClr val="77caee"/>
              </a:buClr>
              <a:buSzPct val="45000"/>
              <a:buFont typeface="Wingdings" charset="2"/>
              <a:buChar char=""/>
            </a:pPr>
            <a:r>
              <a:rPr lang="en-IN" sz="2170" b="0" u="none" strike="noStrike">
                <a:solidFill>
                  <a:srgbClr val="009bdd"/>
                </a:solidFill>
                <a:effectLst/>
                <a:uFillTx/>
                <a:latin typeface="Arial"/>
              </a:rPr>
              <a:t>Third Outline Level</a:t>
            </a:r>
            <a:endParaRPr lang="en-US" sz="2170" b="0" u="none" strike="noStrike">
              <a:solidFill>
                <a:schemeClr val="dk1"/>
              </a:solidFill>
              <a:effectLst/>
              <a:uFillTx/>
              <a:latin typeface="Aptos"/>
            </a:endParaRPr>
          </a:p>
          <a:p>
            <a:pPr marL="2089800" lvl="3" indent="-261360" defTabSz="914400">
              <a:lnSpc>
                <a:spcPct val="90000"/>
              </a:lnSpc>
              <a:spcBef>
                <a:spcPts val="510"/>
              </a:spcBef>
              <a:buClr>
                <a:srgbClr val="77caee"/>
              </a:buClr>
              <a:buSzPct val="45000"/>
              <a:buFont typeface="Wingdings" charset="2"/>
              <a:buChar char=""/>
            </a:pPr>
            <a:r>
              <a:rPr lang="en-IN" sz="1810" b="0" u="none" strike="noStrike">
                <a:solidFill>
                  <a:srgbClr val="009bdd"/>
                </a:solidFill>
                <a:effectLst/>
                <a:uFillTx/>
                <a:latin typeface="Arial"/>
              </a:rPr>
              <a:t>Fourth Outline Level</a:t>
            </a:r>
            <a:endParaRPr lang="en-US" sz="1810" b="0" u="none" strike="noStrike">
              <a:solidFill>
                <a:schemeClr val="dk1"/>
              </a:solidFill>
              <a:effectLst/>
              <a:uFillTx/>
              <a:latin typeface="Aptos"/>
            </a:endParaRPr>
          </a:p>
          <a:p>
            <a:pPr marL="2612160" lvl="4"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Fifth Outline Level</a:t>
            </a:r>
            <a:endParaRPr lang="en-US" sz="1810" b="0" u="none" strike="noStrike">
              <a:solidFill>
                <a:schemeClr val="dk1"/>
              </a:solidFill>
              <a:effectLst/>
              <a:uFillTx/>
              <a:latin typeface="Aptos"/>
            </a:endParaRPr>
          </a:p>
          <a:p>
            <a:pPr marL="3134880" lvl="5"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Sixth Outline Level</a:t>
            </a:r>
            <a:endParaRPr lang="en-US" sz="1810" b="0" u="none" strike="noStrike">
              <a:solidFill>
                <a:schemeClr val="dk1"/>
              </a:solidFill>
              <a:effectLst/>
              <a:uFillTx/>
              <a:latin typeface="Aptos"/>
            </a:endParaRPr>
          </a:p>
          <a:p>
            <a:pPr marL="3657240" lvl="6"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Seventh Outline Level</a:t>
            </a:r>
            <a:endParaRPr lang="en-US" sz="1810" b="0" u="none" strike="noStrike">
              <a:solidFill>
                <a:schemeClr val="dk1"/>
              </a:solidFill>
              <a:effectLst/>
              <a:uFillTx/>
              <a:latin typeface="Aptos"/>
            </a:endParaRPr>
          </a:p>
        </p:txBody>
      </p:sp>
      <p:sp>
        <p:nvSpPr>
          <p:cNvPr id="21" name="PlaceHolder 3"/>
          <p:cNvSpPr>
            <a:spLocks noGrp="1"/>
          </p:cNvSpPr>
          <p:nvPr>
            <p:ph type="dt" idx="10"/>
          </p:nvPr>
        </p:nvSpPr>
        <p:spPr>
          <a:xfrm>
            <a:off x="435240" y="6312960"/>
            <a:ext cx="2829600" cy="434880"/>
          </a:xfrm>
          <a:prstGeom prst="rect">
            <a:avLst/>
          </a:prstGeom>
          <a:noFill/>
          <a:ln w="0">
            <a:noFill/>
          </a:ln>
        </p:spPr>
        <p:txBody>
          <a:bodyPr lIns="0" rIns="0" tIns="0" bIns="0" anchor="t">
            <a:noAutofit/>
          </a:bodyPr>
          <a:lstStyle>
            <a:lvl1pPr indent="0" defTabSz="914400">
              <a:lnSpc>
                <a:spcPct val="100000"/>
              </a:lnSpc>
              <a:buNone/>
              <a:tabLst>
                <a:tab algn="l" pos="0"/>
              </a:tabLst>
              <a:defRPr lang="en-IN" sz="1700" b="0" u="none" strike="noStrike">
                <a:solidFill>
                  <a:srgbClr val="ffffff"/>
                </a:solidFill>
                <a:effectLst/>
                <a:uFillTx/>
                <a:latin typeface="Arial"/>
              </a:defRPr>
            </a:lvl1pPr>
          </a:lstStyle>
          <a:p>
            <a:pPr indent="0" defTabSz="914400">
              <a:lnSpc>
                <a:spcPct val="100000"/>
              </a:lnSpc>
              <a:buNone/>
              <a:tabLst>
                <a:tab algn="l" pos="0"/>
              </a:tabLst>
            </a:pPr>
            <a:r>
              <a:rPr lang="en-IN" sz="1700" b="0" u="none" strike="noStrike">
                <a:solidFill>
                  <a:srgbClr val="ffffff"/>
                </a:solidFill>
                <a:effectLst/>
                <a:uFillTx/>
                <a:latin typeface="Arial"/>
              </a:rPr>
              <a:t>&lt;date/time&gt;</a:t>
            </a:r>
            <a:endParaRPr lang="en-IN" sz="1700" b="0" u="none" strike="noStrike">
              <a:solidFill>
                <a:srgbClr val="000000"/>
              </a:solidFill>
              <a:effectLst/>
              <a:uFillTx/>
              <a:latin typeface="Times New Roman"/>
            </a:endParaRPr>
          </a:p>
        </p:txBody>
      </p:sp>
      <p:sp>
        <p:nvSpPr>
          <p:cNvPr id="22" name="PlaceHolder 4"/>
          <p:cNvSpPr>
            <a:spLocks noGrp="1"/>
          </p:cNvSpPr>
          <p:nvPr>
            <p:ph type="ftr" idx="11"/>
          </p:nvPr>
        </p:nvSpPr>
        <p:spPr>
          <a:xfrm>
            <a:off x="4136400" y="6312960"/>
            <a:ext cx="3918240" cy="434880"/>
          </a:xfrm>
          <a:prstGeom prst="rect">
            <a:avLst/>
          </a:prstGeom>
          <a:noFill/>
          <a:ln w="0">
            <a:noFill/>
          </a:ln>
        </p:spPr>
        <p:txBody>
          <a:bodyPr lIns="0" rIns="0" tIns="0" bIns="0" anchor="t">
            <a:noAutofit/>
          </a:bodyPr>
          <a:lstStyle>
            <a:lvl1pPr indent="0" algn="ctr" defTabSz="914400">
              <a:lnSpc>
                <a:spcPct val="100000"/>
              </a:lnSpc>
              <a:buNone/>
              <a:tabLst>
                <a:tab algn="l" pos="0"/>
              </a:tabLst>
              <a:defRPr lang="en-IN" sz="1700" b="0" u="none" strike="noStrike">
                <a:solidFill>
                  <a:srgbClr val="ffffff"/>
                </a:solidFill>
                <a:effectLst/>
                <a:uFillTx/>
                <a:latin typeface="Arial"/>
              </a:defRPr>
            </a:lvl1pPr>
          </a:lstStyle>
          <a:p>
            <a:pPr indent="0" algn="ctr" defTabSz="914400">
              <a:lnSpc>
                <a:spcPct val="100000"/>
              </a:lnSpc>
              <a:buNone/>
              <a:tabLst>
                <a:tab algn="l" pos="0"/>
              </a:tabLst>
            </a:pPr>
            <a:r>
              <a:rPr lang="en-IN" sz="1700" b="0" u="none" strike="noStrike">
                <a:solidFill>
                  <a:srgbClr val="ffffff"/>
                </a:solidFill>
                <a:effectLst/>
                <a:uFillTx/>
                <a:latin typeface="Arial"/>
              </a:rPr>
              <a:t>&lt;footer&gt;</a:t>
            </a:r>
            <a:endParaRPr lang="en-IN" sz="1700" b="0" u="none" strike="noStrike">
              <a:solidFill>
                <a:srgbClr val="000000"/>
              </a:solidFill>
              <a:effectLst/>
              <a:uFillTx/>
              <a:latin typeface="Times New Roman"/>
            </a:endParaRPr>
          </a:p>
        </p:txBody>
      </p:sp>
      <p:sp>
        <p:nvSpPr>
          <p:cNvPr id="23" name="PlaceHolder 5"/>
          <p:cNvSpPr>
            <a:spLocks noGrp="1"/>
          </p:cNvSpPr>
          <p:nvPr>
            <p:ph type="sldNum" idx="12"/>
          </p:nvPr>
        </p:nvSpPr>
        <p:spPr>
          <a:xfrm>
            <a:off x="8925840" y="6312960"/>
            <a:ext cx="2829600" cy="434880"/>
          </a:xfrm>
          <a:prstGeom prst="rect">
            <a:avLst/>
          </a:prstGeom>
          <a:noFill/>
          <a:ln w="0">
            <a:noFill/>
          </a:ln>
        </p:spPr>
        <p:txBody>
          <a:bodyPr lIns="0" rIns="0" tIns="0" bIns="0" anchor="t">
            <a:noAutofit/>
          </a:bodyPr>
          <a:lstStyle>
            <a:lvl1pPr indent="0" algn="r" defTabSz="914400">
              <a:lnSpc>
                <a:spcPct val="100000"/>
              </a:lnSpc>
              <a:buNone/>
              <a:tabLst>
                <a:tab algn="l" pos="0"/>
              </a:tabLst>
              <a:defRPr lang="en-IN" sz="1700" b="0" u="none" strike="noStrike">
                <a:solidFill>
                  <a:srgbClr val="ffffff"/>
                </a:solidFill>
                <a:effectLst/>
                <a:uFillTx/>
                <a:latin typeface="Arial"/>
              </a:defRPr>
            </a:lvl1pPr>
          </a:lstStyle>
          <a:p>
            <a:pPr indent="0" algn="r" defTabSz="914400">
              <a:lnSpc>
                <a:spcPct val="100000"/>
              </a:lnSpc>
              <a:buNone/>
              <a:tabLst>
                <a:tab algn="l" pos="0"/>
              </a:tabLst>
            </a:pPr>
            <a:fld id="{0D659299-E168-49F6-B722-0950DE7C9E7D}" type="slidenum">
              <a:rPr lang="en-IN" sz="1700" b="0" u="none" strike="noStrike">
                <a:solidFill>
                  <a:srgbClr val="ffffff"/>
                </a:solidFill>
                <a:effectLst/>
                <a:uFillTx/>
                <a:latin typeface="Arial"/>
              </a:rPr>
              <a:t>&lt;number&gt;</a:t>
            </a:fld>
            <a:endParaRPr lang="en-IN" sz="17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98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25" name="PlaceHolder 2"/>
          <p:cNvSpPr>
            <a:spLocks noGrp="1"/>
          </p:cNvSpPr>
          <p:nvPr>
            <p:ph type="body"/>
          </p:nvPr>
        </p:nvSpPr>
        <p:spPr>
          <a:xfrm>
            <a:off x="839880" y="1681200"/>
            <a:ext cx="5156280" cy="82260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6" name="PlaceHolder 3"/>
          <p:cNvSpPr>
            <a:spLocks noGrp="1"/>
          </p:cNvSpPr>
          <p:nvPr>
            <p:ph type="body"/>
          </p:nvPr>
        </p:nvSpPr>
        <p:spPr>
          <a:xfrm>
            <a:off x="839880" y="2505240"/>
            <a:ext cx="5156280" cy="3683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7" name="PlaceHolder 4"/>
          <p:cNvSpPr>
            <a:spLocks noGrp="1"/>
          </p:cNvSpPr>
          <p:nvPr>
            <p:ph type="body"/>
          </p:nvPr>
        </p:nvSpPr>
        <p:spPr>
          <a:xfrm>
            <a:off x="6172200" y="1681200"/>
            <a:ext cx="5181840" cy="82260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8" name="PlaceHolder 5"/>
          <p:cNvSpPr>
            <a:spLocks noGrp="1"/>
          </p:cNvSpPr>
          <p:nvPr>
            <p:ph type="body"/>
          </p:nvPr>
        </p:nvSpPr>
        <p:spPr>
          <a:xfrm>
            <a:off x="6172200" y="2505240"/>
            <a:ext cx="5181840" cy="3683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6"/>
          <p:cNvSpPr>
            <a:spLocks noGrp="1"/>
          </p:cNvSpPr>
          <p:nvPr>
            <p:ph type="dt" idx="13"/>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0" name="PlaceHolder 7"/>
          <p:cNvSpPr>
            <a:spLocks noGrp="1"/>
          </p:cNvSpPr>
          <p:nvPr>
            <p:ph type="ftr" idx="14"/>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8"/>
          <p:cNvSpPr>
            <a:spLocks noGrp="1"/>
          </p:cNvSpPr>
          <p:nvPr>
            <p:ph type="sldNum" idx="15"/>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B74DF381-F8F0-4C97-90ED-090C847D3B4B}"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33" name="PlaceHolder 2"/>
          <p:cNvSpPr>
            <a:spLocks noGrp="1"/>
          </p:cNvSpPr>
          <p:nvPr>
            <p:ph type="dt" idx="16"/>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4" name="PlaceHolder 3"/>
          <p:cNvSpPr>
            <a:spLocks noGrp="1"/>
          </p:cNvSpPr>
          <p:nvPr>
            <p:ph type="ftr" idx="17"/>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5" name="PlaceHolder 4"/>
          <p:cNvSpPr>
            <a:spLocks noGrp="1"/>
          </p:cNvSpPr>
          <p:nvPr>
            <p:ph type="sldNum" idx="18"/>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7DC2A7D1-7640-4F0F-A0AD-F77FC5BDF5EE}"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dt" idx="19"/>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7" name="PlaceHolder 2"/>
          <p:cNvSpPr>
            <a:spLocks noGrp="1"/>
          </p:cNvSpPr>
          <p:nvPr>
            <p:ph type="ftr" idx="20"/>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8" name="PlaceHolder 3"/>
          <p:cNvSpPr>
            <a:spLocks noGrp="1"/>
          </p:cNvSpPr>
          <p:nvPr>
            <p:ph type="sldNum" idx="21"/>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F35B1148-D284-4468-8C95-7CED9AD84AED}"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39"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100000"/>
              </a:lnSpc>
              <a:buNone/>
              <a:tabLst>
                <a:tab algn="l" pos="0"/>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40"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9880" y="457200"/>
            <a:ext cx="3930840" cy="15987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42" name="PlaceHolder 2"/>
          <p:cNvSpPr>
            <a:spLocks noGrp="1"/>
          </p:cNvSpPr>
          <p:nvPr>
            <p:ph type="body"/>
          </p:nvPr>
        </p:nvSpPr>
        <p:spPr>
          <a:xfrm>
            <a:off x="5183280" y="987480"/>
            <a:ext cx="6170760" cy="4872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43" name="PlaceHolder 3"/>
          <p:cNvSpPr>
            <a:spLocks noGrp="1"/>
          </p:cNvSpPr>
          <p:nvPr>
            <p:ph type="body"/>
          </p:nvPr>
        </p:nvSpPr>
        <p:spPr>
          <a:xfrm>
            <a:off x="839880" y="2057400"/>
            <a:ext cx="3930840" cy="381024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44" name="PlaceHolder 4"/>
          <p:cNvSpPr>
            <a:spLocks noGrp="1"/>
          </p:cNvSpPr>
          <p:nvPr>
            <p:ph type="dt" idx="22"/>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5" name="PlaceHolder 5"/>
          <p:cNvSpPr>
            <a:spLocks noGrp="1"/>
          </p:cNvSpPr>
          <p:nvPr>
            <p:ph type="ftr" idx="23"/>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6"/>
          <p:cNvSpPr>
            <a:spLocks noGrp="1"/>
          </p:cNvSpPr>
          <p:nvPr>
            <p:ph type="sldNum" idx="24"/>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8817E833-B1DB-4EBC-986B-8536DE1B84C3}"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0840" cy="15987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48" name="PlaceHolder 2"/>
          <p:cNvSpPr>
            <a:spLocks noGrp="1"/>
          </p:cNvSpPr>
          <p:nvPr>
            <p:ph type="body"/>
          </p:nvPr>
        </p:nvSpPr>
        <p:spPr>
          <a:xfrm>
            <a:off x="5183280" y="987480"/>
            <a:ext cx="6170760" cy="4872240"/>
          </a:xfrm>
          <a:prstGeom prst="rect">
            <a:avLst/>
          </a:prstGeom>
          <a:noFill/>
          <a:ln w="0">
            <a:noFill/>
          </a:ln>
        </p:spPr>
        <p:txBody>
          <a:bodyPr lIns="90000" rIns="90000" tIns="45000" bIns="45000" anchor="t">
            <a:noAutofit/>
          </a:bodyPr>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49" name="PlaceHolder 3"/>
          <p:cNvSpPr>
            <a:spLocks noGrp="1"/>
          </p:cNvSpPr>
          <p:nvPr>
            <p:ph type="body"/>
          </p:nvPr>
        </p:nvSpPr>
        <p:spPr>
          <a:xfrm>
            <a:off x="839880" y="2057400"/>
            <a:ext cx="3930840" cy="381024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0" name="PlaceHolder 4"/>
          <p:cNvSpPr>
            <a:spLocks noGrp="1"/>
          </p:cNvSpPr>
          <p:nvPr>
            <p:ph type="dt" idx="25"/>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1" name="PlaceHolder 5"/>
          <p:cNvSpPr>
            <a:spLocks noGrp="1"/>
          </p:cNvSpPr>
          <p:nvPr>
            <p:ph type="ftr" idx="26"/>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2" name="PlaceHolder 6"/>
          <p:cNvSpPr>
            <a:spLocks noGrp="1"/>
          </p:cNvSpPr>
          <p:nvPr>
            <p:ph type="sldNum" idx="27"/>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0FAFE82A-1A39-4B70-9370-52A7F951A58F}"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42560" cy="238608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54" name="PlaceHolder 2"/>
          <p:cNvSpPr>
            <a:spLocks noGrp="1"/>
          </p:cNvSpPr>
          <p:nvPr>
            <p:ph type="dt" idx="28"/>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5" name="PlaceHolder 3"/>
          <p:cNvSpPr>
            <a:spLocks noGrp="1"/>
          </p:cNvSpPr>
          <p:nvPr>
            <p:ph type="ftr" idx="29"/>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6" name="PlaceHolder 4"/>
          <p:cNvSpPr>
            <a:spLocks noGrp="1"/>
          </p:cNvSpPr>
          <p:nvPr>
            <p:ph type="sldNum" idx="30"/>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649B5B8-8E54-4975-B1D5-9B0B06C04F88}"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57"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59" name="PlaceHolder 2"/>
          <p:cNvSpPr>
            <a:spLocks noGrp="1"/>
          </p:cNvSpPr>
          <p:nvPr>
            <p:ph type="body"/>
          </p:nvPr>
        </p:nvSpPr>
        <p:spPr>
          <a:xfrm>
            <a:off x="838080" y="1825560"/>
            <a:ext cx="10514160" cy="43498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60" name="PlaceHolder 3"/>
          <p:cNvSpPr>
            <a:spLocks noGrp="1"/>
          </p:cNvSpPr>
          <p:nvPr>
            <p:ph type="dt" idx="31"/>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1" name="PlaceHolder 4"/>
          <p:cNvSpPr>
            <a:spLocks noGrp="1"/>
          </p:cNvSpPr>
          <p:nvPr>
            <p:ph type="ftr" idx="32"/>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2" name="PlaceHolder 5"/>
          <p:cNvSpPr>
            <a:spLocks noGrp="1"/>
          </p:cNvSpPr>
          <p:nvPr>
            <p:ph type="sldNum" idx="33"/>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920B643E-479A-410C-B3D7-57B12A37319D}"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724960" y="365040"/>
            <a:ext cx="2627640" cy="581040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64" name="PlaceHolder 2"/>
          <p:cNvSpPr>
            <a:spLocks noGrp="1"/>
          </p:cNvSpPr>
          <p:nvPr>
            <p:ph type="body"/>
          </p:nvPr>
        </p:nvSpPr>
        <p:spPr>
          <a:xfrm>
            <a:off x="838080" y="365040"/>
            <a:ext cx="7732800" cy="58104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65" name="PlaceHolder 3"/>
          <p:cNvSpPr>
            <a:spLocks noGrp="1"/>
          </p:cNvSpPr>
          <p:nvPr>
            <p:ph type="dt" idx="34"/>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6" name="PlaceHolder 4"/>
          <p:cNvSpPr>
            <a:spLocks noGrp="1"/>
          </p:cNvSpPr>
          <p:nvPr>
            <p:ph type="ftr" idx="35"/>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7" name="PlaceHolder 5"/>
          <p:cNvSpPr>
            <a:spLocks noGrp="1"/>
          </p:cNvSpPr>
          <p:nvPr>
            <p:ph type="sldNum" idx="36"/>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AF961A07-F94F-4827-AC64-B14D25E67DB0}"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Box 9"/>
          <p:cNvSpPr/>
          <p:nvPr/>
        </p:nvSpPr>
        <p:spPr>
          <a:xfrm>
            <a:off x="3034800" y="4361760"/>
            <a:ext cx="7185600" cy="1918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en-IN" sz="2400" b="0" u="none" strike="noStrike">
              <a:solidFill>
                <a:srgbClr val="000000"/>
              </a:solidFill>
              <a:effectLst/>
              <a:uFillTx/>
              <a:latin typeface="Arial"/>
            </a:endParaRPr>
          </a:p>
          <a:p>
            <a:pPr defTabSz="914400">
              <a:lnSpc>
                <a:spcPct val="100000"/>
              </a:lnSpc>
            </a:pPr>
            <a:r>
              <a:rPr lang="en-IN" sz="2400" b="1" u="none" strike="noStrike">
                <a:solidFill>
                  <a:schemeClr val="dk1"/>
                </a:solidFill>
                <a:effectLst/>
                <a:uFillTx/>
                <a:latin typeface="Aptos"/>
              </a:rPr>
              <a:t>Team Members:</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422422205007</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NARESH M  </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422422205027</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HARIHARAN S R</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422422205032</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RAKSHAYA S</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p:txBody>
      </p:sp>
      <p:sp>
        <p:nvSpPr>
          <p:cNvPr id="75" name="TextBox 10"/>
          <p:cNvSpPr/>
          <p:nvPr/>
        </p:nvSpPr>
        <p:spPr>
          <a:xfrm>
            <a:off x="3044520" y="3319200"/>
            <a:ext cx="256680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000" b="1" u="none" strike="noStrike">
                <a:solidFill>
                  <a:schemeClr val="dk1"/>
                </a:solidFill>
                <a:effectLst/>
                <a:uFillTx/>
                <a:latin typeface="Aptos"/>
              </a:rPr>
              <a:t>BATCH NO: </a:t>
            </a:r>
            <a:r>
              <a:rPr lang="en-IN" sz="2000" b="0" u="none" strike="noStrike">
                <a:solidFill>
                  <a:schemeClr val="dk1"/>
                </a:solidFill>
                <a:effectLst/>
                <a:uFillTx/>
                <a:latin typeface="Aptos"/>
              </a:rPr>
              <a:t>3</a:t>
            </a:r>
            <a:endParaRPr lang="en-IN" sz="2000" b="0" u="none" strike="noStrike">
              <a:solidFill>
                <a:srgbClr val="000000"/>
              </a:solidFill>
              <a:effectLst/>
              <a:uFillTx/>
              <a:latin typeface="Arial"/>
            </a:endParaRPr>
          </a:p>
        </p:txBody>
      </p:sp>
      <p:sp>
        <p:nvSpPr>
          <p:cNvPr id="76" name="TextBox 11"/>
          <p:cNvSpPr/>
          <p:nvPr/>
        </p:nvSpPr>
        <p:spPr>
          <a:xfrm>
            <a:off x="3034800" y="3840480"/>
            <a:ext cx="68270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000" b="1" u="none" strike="noStrike">
                <a:solidFill>
                  <a:schemeClr val="dk1"/>
                </a:solidFill>
                <a:effectLst/>
                <a:uFillTx/>
                <a:latin typeface="Aptos"/>
              </a:rPr>
              <a:t>SUPERVISOR: Dr. R. Shyamala, M.E.,Ph.D.,AP/IT</a:t>
            </a:r>
            <a:endParaRPr lang="en-IN" sz="2000" b="0" u="none" strike="noStrike">
              <a:solidFill>
                <a:srgbClr val="000000"/>
              </a:solidFill>
              <a:effectLst/>
              <a:uFillTx/>
              <a:latin typeface="Arial"/>
            </a:endParaRPr>
          </a:p>
        </p:txBody>
      </p:sp>
      <p:pic>
        <p:nvPicPr>
          <p:cNvPr id="77" name="Picture 2"/>
          <p:cNvPicPr/>
          <p:nvPr/>
        </p:nvPicPr>
        <p:blipFill>
          <a:blip r:embed="rId1"/>
          <a:srcRect l="0" t="0" r="0" b="35466"/>
          <a:stretch/>
        </p:blipFill>
        <p:spPr>
          <a:xfrm>
            <a:off x="1583640" y="168120"/>
            <a:ext cx="1231560" cy="1214280"/>
          </a:xfrm>
          <a:prstGeom prst="rect">
            <a:avLst/>
          </a:prstGeom>
          <a:noFill/>
          <a:ln w="0">
            <a:noFill/>
          </a:ln>
        </p:spPr>
      </p:pic>
      <p:sp>
        <p:nvSpPr>
          <p:cNvPr id="78" name="TextBox 13"/>
          <p:cNvSpPr/>
          <p:nvPr/>
        </p:nvSpPr>
        <p:spPr>
          <a:xfrm>
            <a:off x="1101240" y="2138400"/>
            <a:ext cx="10312920" cy="1552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IN" sz="2400" b="1" u="none" strike="noStrike">
                <a:solidFill>
                  <a:schemeClr val="dk1"/>
                </a:solidFill>
                <a:effectLst/>
                <a:uFillTx/>
                <a:latin typeface="Aptos"/>
              </a:rPr>
              <a:t>Design and Evaluation of a Sound Static Analyzer for </a:t>
            </a:r>
            <a:endParaRPr lang="en-IN" sz="2400" b="0" u="none" strike="noStrike">
              <a:solidFill>
                <a:srgbClr val="000000"/>
              </a:solidFill>
              <a:effectLst/>
              <a:uFillTx/>
              <a:latin typeface="Arial"/>
            </a:endParaRPr>
          </a:p>
          <a:p>
            <a:pPr algn="ctr" defTabSz="914400">
              <a:lnSpc>
                <a:spcPct val="100000"/>
              </a:lnSpc>
            </a:pPr>
            <a:r>
              <a:rPr lang="en-IN" sz="2400" b="1" u="none" strike="noStrike">
                <a:solidFill>
                  <a:schemeClr val="dk1"/>
                </a:solidFill>
                <a:effectLst/>
                <a:uFillTx/>
                <a:latin typeface="Aptos"/>
              </a:rPr>
              <a:t>High-Level Languages</a:t>
            </a:r>
            <a:endParaRPr lang="en-IN" sz="2400" b="0" u="none" strike="noStrike">
              <a:solidFill>
                <a:srgbClr val="000000"/>
              </a:solidFill>
              <a:effectLst/>
              <a:uFillTx/>
              <a:latin typeface="Arial"/>
            </a:endParaRPr>
          </a:p>
          <a:p>
            <a:pPr algn="ctr" defTabSz="914400">
              <a:lnSpc>
                <a:spcPct val="100000"/>
              </a:lnSpc>
            </a:pPr>
            <a:r>
              <a:rPr lang="en-IN" sz="2400" b="1" u="none" strike="noStrike">
                <a:solidFill>
                  <a:schemeClr val="dk1"/>
                </a:solidFill>
                <a:effectLst/>
                <a:uFillTx/>
                <a:latin typeface="Aptos"/>
              </a:rPr>
              <a:t>(Python-Based Case Study)</a:t>
            </a:r>
            <a:endParaRPr lang="en-IN" sz="2400" b="0" u="none" strike="noStrike">
              <a:solidFill>
                <a:srgbClr val="000000"/>
              </a:solidFill>
              <a:effectLst/>
              <a:uFillTx/>
              <a:latin typeface="Arial"/>
            </a:endParaRPr>
          </a:p>
          <a:p>
            <a:pPr algn="ctr" defTabSz="914400">
              <a:lnSpc>
                <a:spcPct val="100000"/>
              </a:lnSpc>
            </a:pPr>
            <a:endParaRPr lang="en-IN" sz="2400" b="0" u="none" strike="noStrike">
              <a:solidFill>
                <a:srgbClr val="000000"/>
              </a:solidFill>
              <a:effectLst/>
              <a:uFillTx/>
              <a:latin typeface="Arial"/>
            </a:endParaRPr>
          </a:p>
        </p:txBody>
      </p:sp>
      <p:sp>
        <p:nvSpPr>
          <p:cNvPr id="79" name="TextBox 14"/>
          <p:cNvSpPr/>
          <p:nvPr/>
        </p:nvSpPr>
        <p:spPr>
          <a:xfrm>
            <a:off x="5612400" y="1666080"/>
            <a:ext cx="1268640" cy="460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400" b="1" u="sng" strike="noStrike">
                <a:solidFill>
                  <a:schemeClr val="dk1"/>
                </a:solidFill>
                <a:effectLst/>
                <a:uFillTx/>
                <a:latin typeface="Aptos"/>
              </a:rPr>
              <a:t>TITLE</a:t>
            </a:r>
            <a:endParaRPr lang="en-IN" sz="2400" b="0" u="none" strike="noStrike">
              <a:solidFill>
                <a:srgbClr val="000000"/>
              </a:solidFill>
              <a:effectLst/>
              <a:uFillTx/>
              <a:latin typeface="Arial"/>
            </a:endParaRPr>
          </a:p>
        </p:txBody>
      </p:sp>
      <p:sp>
        <p:nvSpPr>
          <p:cNvPr id="80" name="TextBox 16"/>
          <p:cNvSpPr/>
          <p:nvPr/>
        </p:nvSpPr>
        <p:spPr>
          <a:xfrm>
            <a:off x="2815560" y="244800"/>
            <a:ext cx="6903360" cy="13698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400" b="1" u="none" strike="noStrike">
                <a:solidFill>
                  <a:schemeClr val="dk1"/>
                </a:solidFill>
                <a:effectLst/>
                <a:uFillTx/>
                <a:latin typeface="Aptos"/>
              </a:rPr>
              <a:t>University College of Engineering, Tindivanam</a:t>
            </a:r>
            <a:endParaRPr lang="en-IN" sz="24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(A Constituent College of Anna University, Chennai)</a:t>
            </a:r>
            <a:endParaRPr lang="en-IN" sz="1800" b="0" u="none" strike="noStrike">
              <a:solidFill>
                <a:srgbClr val="000000"/>
              </a:solidFill>
              <a:effectLst/>
              <a:uFillTx/>
              <a:latin typeface="Arial"/>
            </a:endParaRPr>
          </a:p>
          <a:p>
            <a:pPr algn="ctr" defTabSz="914400">
              <a:lnSpc>
                <a:spcPct val="100000"/>
              </a:lnSpc>
            </a:pPr>
            <a:r>
              <a:rPr lang="en-IN" sz="1800" b="1" u="none" strike="noStrike">
                <a:solidFill>
                  <a:schemeClr val="dk1"/>
                </a:solidFill>
                <a:effectLst/>
                <a:uFillTx/>
                <a:latin typeface="Aptos"/>
              </a:rPr>
              <a:t>Department of Information Technology</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 name="Table 1"/>
          <p:cNvGraphicFramePr/>
          <p:nvPr/>
        </p:nvGraphicFramePr>
        <p:xfrm>
          <a:off x="-144000" y="14760"/>
          <a:ext cx="12330360" cy="7800480"/>
        </p:xfrm>
        <a:graphic>
          <a:graphicData uri="http://schemas.openxmlformats.org/drawingml/2006/table">
            <a:tbl>
              <a:tblPr/>
              <a:tblGrid>
                <a:gridCol w="779760"/>
                <a:gridCol w="2282040"/>
                <a:gridCol w="2108520"/>
                <a:gridCol w="1807560"/>
                <a:gridCol w="2087280"/>
                <a:gridCol w="1414800"/>
                <a:gridCol w="1850760"/>
              </a:tblGrid>
              <a:tr h="1066680">
                <a:tc>
                  <a:txBody>
                    <a:bodyPr anchor="ctr">
                      <a:noAutofit/>
                    </a:bodyPr>
                    <a:p>
                      <a:pPr defTabSz="914400">
                        <a:lnSpc>
                          <a:spcPct val="100000"/>
                        </a:lnSpc>
                      </a:pPr>
                      <a:r>
                        <a:rPr lang="en-US" sz="1600" b="1" u="none" strike="noStrike">
                          <a:solidFill>
                            <a:schemeClr val="lt1"/>
                          </a:solidFill>
                          <a:effectLst/>
                          <a:uFillTx/>
                          <a:latin typeface="Aptos"/>
                        </a:rPr>
                        <a:t>S.No</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Paper (Author,Title, Journal Name,Year)</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Key Idea / Approach</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Advantages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Disadvantages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Evaluation Metrics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       Data Set</a:t>
                      </a:r>
                      <a:endParaRPr lang="en-IN" sz="1600" b="0" u="none" strike="noStrike">
                        <a:solidFill>
                          <a:srgbClr val="ffffff"/>
                        </a:solidFill>
                        <a:effectLst/>
                        <a:uFillTx/>
                        <a:latin typeface="Arial"/>
                      </a:endParaRPr>
                    </a:p>
                    <a:p>
                      <a:pPr defTabSz="914400">
                        <a:lnSpc>
                          <a:spcPct val="100000"/>
                        </a:lnSpc>
                      </a:pPr>
                      <a:r>
                        <a:rPr lang="en-US" sz="1600" b="1" u="none" strike="noStrike">
                          <a:solidFill>
                            <a:schemeClr val="lt1"/>
                          </a:solidFill>
                          <a:effectLst/>
                          <a:uFillTx/>
                          <a:latin typeface="Aptos"/>
                        </a:rPr>
                        <a:t>   (if required)</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503880">
                <a:tc>
                  <a:txBody>
                    <a:bodyPr anchor="ctr">
                      <a:noAutofit/>
                    </a:bodyPr>
                    <a:p>
                      <a:pPr algn="ctr" defTabSz="914400">
                        <a:lnSpc>
                          <a:spcPct val="100000"/>
                        </a:lnSpc>
                      </a:pPr>
                      <a:r>
                        <a:rPr lang="en-US" sz="1600" b="1" u="none" strike="noStrike">
                          <a:solidFill>
                            <a:schemeClr val="lt1"/>
                          </a:solidFill>
                          <a:effectLst/>
                          <a:uFillTx/>
                          <a:latin typeface="Aptos"/>
                        </a:rPr>
                        <a:t>1  </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600" b="0" u="none" strike="noStrike">
                          <a:solidFill>
                            <a:schemeClr val="dk1"/>
                          </a:solidFill>
                          <a:effectLst/>
                          <a:uFillTx/>
                          <a:latin typeface="Aptos"/>
                        </a:rPr>
                        <a:t>Yama:Precise Opcode-Based Data Flow Analysis for Detecting PHP Applications Vulnerabilities (2025)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r>
                        <a:rPr lang="en-US" sz="1600" b="0" u="none" strike="noStrike">
                          <a:solidFill>
                            <a:schemeClr val="dk1"/>
                          </a:solidFill>
                          <a:effectLst/>
                          <a:uFillTx/>
                          <a:latin typeface="Aptos"/>
                        </a:rPr>
                        <a:t>Performs context-sensitive interprocedural taint analysis on Zend Opcodes rather than source code. Uses a two-step approach: 1) CFG construction from jump instructions; 2) Forward data flow with type inference. </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spcBef>
                          <a:spcPts val="1191"/>
                        </a:spcBef>
                        <a:spcAft>
                          <a:spcPts val="992"/>
                        </a:spcAft>
                      </a:pP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High precision due to clear control flow in opcodes</a:t>
                      </a: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Effective at identifying zero day vulnerabilities (38 found).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Lacks </a:t>
                      </a:r>
                      <a:r>
                        <a:rPr lang="en-US" sz="1500" b="0" u="none" strike="noStrike">
                          <a:solidFill>
                            <a:schemeClr val="dk1"/>
                          </a:solidFill>
                          <a:effectLst/>
                          <a:uFillTx/>
                          <a:latin typeface="Aptos"/>
                        </a:rPr>
                        <a:t>sophisticated</a:t>
                      </a:r>
                      <a:r>
                        <a:rPr lang="en-US" sz="1600" b="0" u="none" strike="noStrike">
                          <a:solidFill>
                            <a:schemeClr val="dk1"/>
                          </a:solidFill>
                          <a:effectLst/>
                          <a:uFillTx/>
                          <a:latin typeface="Aptos"/>
                        </a:rPr>
                        <a:t> constraint-solving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600" b="0" u="none" strike="noStrike">
                          <a:solidFill>
                            <a:schemeClr val="dk1"/>
                          </a:solidFill>
                          <a:effectLst/>
                          <a:uFillTx/>
                          <a:latin typeface="Aptos"/>
                        </a:rPr>
                        <a:t>coarse granularity intaint sanitization.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spcBef>
                          <a:spcPts val="1191"/>
                        </a:spcBef>
                        <a:spcAft>
                          <a:spcPts val="992"/>
                        </a:spcAft>
                      </a:pPr>
                      <a:r>
                        <a:rPr lang="en-IN" sz="1600" b="0" u="none" strike="noStrike">
                          <a:solidFill>
                            <a:schemeClr val="dk1"/>
                          </a:solidFill>
                          <a:effectLst/>
                          <a:uFillTx/>
                          <a:latin typeface="Aptos"/>
                        </a:rPr>
                        <a:t>1.True Positive Rate (99.1%) 2.Number of CVE IDs assigned (34). </a:t>
                      </a: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algn="just" defTabSz="914400">
                        <a:lnSpc>
                          <a:spcPct val="100000"/>
                        </a:lnSpc>
                        <a:spcBef>
                          <a:spcPts val="1191"/>
                        </a:spcBef>
                        <a:spcAft>
                          <a:spcPts val="992"/>
                        </a:spcAft>
                      </a:pPr>
                      <a:r>
                        <a:rPr lang="en-GB" sz="1600" b="0" u="none" strike="noStrike">
                          <a:solidFill>
                            <a:schemeClr val="dk1"/>
                          </a:solidFill>
                          <a:effectLst/>
                          <a:uFillTx/>
                          <a:latin typeface="Aptos"/>
                        </a:rPr>
                        <a:t>24 popular GitHub projects with &gt;1,000 stars (Real-world PHP apps).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r>
              <a:tr h="3229920">
                <a:tc>
                  <a:txBody>
                    <a:bodyPr anchor="ctr">
                      <a:noAutofit/>
                    </a:bodyPr>
                    <a:p>
                      <a:pPr algn="ctr" defTabSz="914400">
                        <a:lnSpc>
                          <a:spcPct val="100000"/>
                        </a:lnSpc>
                      </a:pPr>
                      <a:r>
                        <a:rPr lang="en-US" sz="1600" b="1" u="none" strike="noStrike">
                          <a:solidFill>
                            <a:schemeClr val="lt1"/>
                          </a:solidFill>
                          <a:effectLst/>
                          <a:uFillTx/>
                          <a:latin typeface="Aptos"/>
                        </a:rPr>
                        <a:t>2</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600" b="0" u="none" strike="noStrike">
                          <a:solidFill>
                            <a:schemeClr val="dk1"/>
                          </a:solidFill>
                          <a:effectLst/>
                          <a:uFillTx/>
                          <a:latin typeface="Aptos"/>
                        </a:rPr>
                        <a:t>ForBac: A Static Analysis Approach With Forward and Backward Analysis for Precision in Floating-Point Computations(2025)</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US" sz="1600" b="0" u="none" strike="noStrike">
                          <a:solidFill>
                            <a:schemeClr val="dk1"/>
                          </a:solidFill>
                          <a:effectLst/>
                          <a:uFillTx/>
                          <a:latin typeface="Aptos"/>
                        </a:rPr>
                        <a:t>Combines forward analysis (tracking error propagation) with backward analysis (calculating minimal input precision required) using Abstract Interpretation on Interval domains. </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Aptos"/>
                        </a:rPr>
                        <a:t>Dual   input: Source+</a:t>
                      </a:r>
                      <a:endParaRPr lang="en-IN" sz="1600" b="0" u="none" strike="noStrike">
                        <a:solidFill>
                          <a:srgbClr val="000000"/>
                        </a:solidFill>
                        <a:effectLst/>
                        <a:uFillTx/>
                        <a:latin typeface="Arial"/>
                      </a:endParaRPr>
                    </a:p>
                    <a:p>
                      <a:pPr algn="just" defTabSz="914400">
                        <a:lnSpc>
                          <a:spcPct val="100000"/>
                        </a:lnSpc>
                        <a:tabLst>
                          <a:tab algn="l" pos="0"/>
                        </a:tabLst>
                      </a:pPr>
                      <a:r>
                        <a:rPr lang="en-US" sz="1600" b="0" u="none" strike="noStrike">
                          <a:solidFill>
                            <a:schemeClr val="dk1"/>
                          </a:solidFill>
                          <a:effectLst/>
                          <a:uFillTx/>
                          <a:latin typeface="Aptos"/>
                        </a:rPr>
                        <a:t>    bytecode    </a:t>
                      </a:r>
                      <a:endParaRPr lang="en-IN" sz="1600" b="0" u="none" strike="noStrike">
                        <a:solidFill>
                          <a:srgbClr val="000000"/>
                        </a:solidFill>
                        <a:effectLst/>
                        <a:uFillTx/>
                        <a:latin typeface="Arial"/>
                      </a:endParaRPr>
                    </a:p>
                    <a:p>
                      <a:pPr algn="just" defTabSz="914400">
                        <a:lnSpc>
                          <a:spcPct val="100000"/>
                        </a:lnSpc>
                        <a:tabLst>
                          <a:tab algn="l" pos="0"/>
                        </a:tabLst>
                      </a:pPr>
                      <a:r>
                        <a:rPr lang="en-US" sz="1600" b="0" u="none" strike="noStrike">
                          <a:solidFill>
                            <a:schemeClr val="dk1"/>
                          </a:solidFill>
                          <a:effectLst/>
                          <a:uFillTx/>
                          <a:latin typeface="Aptos"/>
                        </a:rPr>
                        <a:t>    features</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tabLst>
                          <a:tab algn="l" pos="0"/>
                        </a:tabLst>
                      </a:pPr>
                      <a:r>
                        <a:rPr lang="en-US" sz="1600" b="0" u="none" strike="noStrike">
                          <a:solidFill>
                            <a:schemeClr val="dk1"/>
                          </a:solidFill>
                          <a:effectLst/>
                          <a:uFillTx/>
                          <a:latin typeface="Aptos"/>
                        </a:rPr>
                        <a:t>95.78%: Average accuracy</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algn="l" pos="0"/>
                        </a:tabLst>
                      </a:pPr>
                      <a:r>
                        <a:rPr lang="en-US" sz="1600" b="0" u="none" strike="noStrike">
                          <a:solidFill>
                            <a:schemeClr val="dk1"/>
                          </a:solidFill>
                          <a:effectLst/>
                          <a:uFillTx/>
                          <a:latin typeface="Aptos"/>
                        </a:rPr>
                        <a:t>8  types: Common </a:t>
                      </a:r>
                      <a:r>
                        <a:rPr lang="en-US" sz="1400" b="0" u="none" strike="noStrike">
                          <a:solidFill>
                            <a:schemeClr val="dk1"/>
                          </a:solidFill>
                          <a:effectLst/>
                          <a:uFillTx/>
                          <a:latin typeface="Aptos"/>
                        </a:rPr>
                        <a:t>vulnerabilities</a:t>
                      </a:r>
                      <a:endParaRPr lang="en-IN" sz="14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Enhances precision in safety-critical Systems.</a:t>
                      </a: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Provides a scalable solution for numerical inaccuracies.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spcBef>
                          <a:spcPts val="1191"/>
                        </a:spcBef>
                        <a:spcAft>
                          <a:spcPts val="992"/>
                        </a:spcAft>
                      </a:pPr>
                      <a:r>
                        <a:rPr lang="en-IN" sz="1600" b="0" u="none" strike="noStrike">
                          <a:solidFill>
                            <a:schemeClr val="dk1"/>
                          </a:solidFill>
                          <a:effectLst/>
                          <a:uFillTx/>
                          <a:latin typeface="Aptos"/>
                        </a:rPr>
                        <a:t>1.Computational overhead from iterative forward-Backward passes.</a:t>
                      </a:r>
                      <a:br>
                        <a:rPr sz="1600"/>
                      </a:b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GB" sz="1600" b="0" u="none" strike="noStrike">
                          <a:solidFill>
                            <a:schemeClr val="dk1"/>
                          </a:solidFill>
                          <a:effectLst/>
                          <a:uFillTx/>
                          <a:latin typeface="Aptos"/>
                        </a:rPr>
                        <a:t>Standard numerical benchmarks: Newton Raphson, Jacobi Iteration, and PolyBench/C.</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2" name="Table 1"/>
          <p:cNvGraphicFramePr/>
          <p:nvPr/>
        </p:nvGraphicFramePr>
        <p:xfrm>
          <a:off x="0" y="55800"/>
          <a:ext cx="12191760" cy="6732000"/>
        </p:xfrm>
        <a:graphic>
          <a:graphicData uri="http://schemas.openxmlformats.org/drawingml/2006/table">
            <a:tbl>
              <a:tblPr/>
              <a:tblGrid>
                <a:gridCol w="701640"/>
                <a:gridCol w="2512800"/>
                <a:gridCol w="1729440"/>
                <a:gridCol w="1876680"/>
                <a:gridCol w="1705320"/>
                <a:gridCol w="1705320"/>
                <a:gridCol w="1960920"/>
              </a:tblGrid>
              <a:tr h="2235960">
                <a:tc>
                  <a:txBody>
                    <a:bodyPr anchor="ctr">
                      <a:noAutofit/>
                    </a:bodyPr>
                    <a:p>
                      <a:pPr algn="just" defTabSz="914400">
                        <a:lnSpc>
                          <a:spcPct val="100000"/>
                        </a:lnSpc>
                      </a:pPr>
                      <a:r>
                        <a:rPr lang="en-US" sz="1200" b="0" u="none" strike="noStrike">
                          <a:solidFill>
                            <a:schemeClr val="lt1"/>
                          </a:solidFill>
                          <a:effectLst/>
                          <a:uFillTx/>
                          <a:latin typeface="Aptos"/>
                        </a:rPr>
                        <a:t>3</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The Best of Abstract Interpretations (POPL 2025)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Proposes a formal logic to define and prove "Best Correct Approximations" (bca). Focuses on the absolute upper bound of precision for any given abstract domain.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2f2f2"/>
                      </a:solidFill>
                      <a:prstDash val="solid"/>
                    </a:lnT>
                    <a:lnB w="12240">
                      <a:solidFill>
                        <a:srgbClr val="f2f2f2"/>
                      </a:solidFill>
                      <a:prstDash val="solid"/>
                    </a:lnB>
                    <a:solidFill>
                      <a:srgbClr val="e7eaed"/>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Provides an absolute upper bound for Precision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Minimizes false alarms.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Theoretical complexity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The property of being "the best" is not naturally compositional</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1.Proof of validity for abstract triples   </a:t>
                      </a:r>
                      <a:br>
                        <a:rPr sz="1200"/>
                      </a:b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2.Precision gain over non-bca methods.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defTabSz="914400">
                        <a:lnSpc>
                          <a:spcPct val="100000"/>
                        </a:lnSpc>
                      </a:pPr>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rgbClr val="e7eaed"/>
                    </a:solidFill>
                  </a:tcPr>
                </a:tc>
              </a:tr>
              <a:tr h="2283840">
                <a:tc>
                  <a:txBody>
                    <a:bodyPr anchor="ctr">
                      <a:noAutofit/>
                    </a:bodyPr>
                    <a:p>
                      <a:pPr algn="just" defTabSz="914400">
                        <a:lnSpc>
                          <a:spcPct val="100000"/>
                        </a:lnSpc>
                      </a:pPr>
                      <a:r>
                        <a:rPr lang="en-US" sz="1200" b="0" u="none" strike="noStrike">
                          <a:solidFill>
                            <a:schemeClr val="lt1"/>
                          </a:solidFill>
                          <a:effectLst/>
                          <a:uFillTx/>
                          <a:latin typeface="Aptos"/>
                        </a:rPr>
                        <a:t>4</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CoSSJIT: Combining Static Analysis and Speculation in JIT Compilers (2025) </a:t>
                      </a: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r>
                        <a:rPr lang="en-US" sz="1200" b="0" u="none" strike="noStrike">
                          <a:solidFill>
                            <a:schemeClr val="dk1"/>
                          </a:solidFill>
                          <a:effectLst/>
                          <a:uFillTx/>
                          <a:latin typeface="Aptos"/>
                        </a:rPr>
                        <a:t>Integrates expensive static points-to analysis into a JIT compiler. It "speculates" that static results remain valid at runtime, falling back only if checks fail.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2f2f2"/>
                      </a:solidFill>
                      <a:prstDash val="solid"/>
                    </a:lnT>
                    <a:lnB w="12240">
                      <a:noFill/>
                      <a:prstDash val="solid"/>
                    </a:lnB>
                    <a:solidFill>
                      <a:schemeClr val="accent1">
                        <a:tint val="4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Achieves 5.7x improvement in stack allocation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Bridges the gap between static precision and run-time specialization.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.Requires modifications to production JIT compilers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Potential for speculation failure.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1.Performance speedup</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2.Stack allocation efficiency</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3.Functional correctness.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Production Java Virtual Machine and large-scale Java programs.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1">
                        <a:tint val="40000"/>
                      </a:schemeClr>
                    </a:solidFill>
                  </a:tcPr>
                </a:tc>
              </a:tr>
              <a:tr h="2030040">
                <a:tc>
                  <a:txBody>
                    <a:bodyPr anchor="ctr">
                      <a:noAutofit/>
                    </a:bodyPr>
                    <a:p>
                      <a:pPr algn="just" defTabSz="914400">
                        <a:lnSpc>
                          <a:spcPct val="100000"/>
                        </a:lnSpc>
                      </a:pPr>
                      <a:r>
                        <a:rPr lang="en-US" sz="1200" b="0" u="none" strike="noStrike">
                          <a:solidFill>
                            <a:schemeClr val="lt1"/>
                          </a:solidFill>
                          <a:effectLst/>
                          <a:uFillTx/>
                          <a:latin typeface="Aptos"/>
                        </a:rPr>
                        <a:t>5</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PHU+0050Joy: A Novel Extended Graph Based PHP Code Analysis Framework (2025)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US" sz="1200" b="0" u="none" strike="noStrike">
                          <a:solidFill>
                            <a:schemeClr val="dk1"/>
                          </a:solidFill>
                          <a:effectLst/>
                          <a:uFillTx/>
                          <a:latin typeface="Aptos"/>
                        </a:rPr>
                        <a:t>Maps PHP code to an Extended Semantic Graph that merges AST, CFG, and PDG. Uses a specialized graph query framework with a high performance cache.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Reduces runtime analysis overhead by 76.54% </a:t>
                      </a: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Improves semantic edge discovery by 23.76%.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1.Large memory footprint for storing massive semantic graphs (269M+ edges).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1.Runtime overhead reduction </a:t>
                      </a:r>
                      <a:endParaRPr lang="en-IN" sz="1200" b="0" u="none" strike="noStrike">
                        <a:solidFill>
                          <a:srgbClr val="000000"/>
                        </a:solidFill>
                        <a:effectLst/>
                        <a:uFillTx/>
                        <a:latin typeface="Arial"/>
                      </a:endParaRPr>
                    </a:p>
                    <a:p>
                      <a:pPr algn="just" defTabSz="914400">
                        <a:lnSpc>
                          <a:spcPct val="100000"/>
                        </a:lnSpc>
                      </a:pPr>
                      <a:r>
                        <a:rPr lang="en-IN" sz="1200" b="0" u="none" strike="noStrike">
                          <a:solidFill>
                            <a:schemeClr val="dk1"/>
                          </a:solidFill>
                          <a:effectLst/>
                          <a:uFillTx/>
                          <a:latin typeface="Aptos"/>
                        </a:rPr>
                        <a:t>2. Semantic edge discovery rate.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333 popular open-source PHP programs.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TextBox 1"/>
          <p:cNvSpPr/>
          <p:nvPr/>
        </p:nvSpPr>
        <p:spPr>
          <a:xfrm>
            <a:off x="654480" y="421920"/>
            <a:ext cx="5786280" cy="460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2400" b="1" u="none" strike="noStrike">
                <a:solidFill>
                  <a:schemeClr val="dk1"/>
                </a:solidFill>
                <a:effectLst/>
                <a:uFillTx/>
                <a:latin typeface="Aptos"/>
              </a:rPr>
              <a:t>Problems We Analyzed:</a:t>
            </a:r>
            <a:endParaRPr lang="en-IN" sz="2400" b="0" u="none" strike="noStrike">
              <a:solidFill>
                <a:srgbClr val="000000"/>
              </a:solidFill>
              <a:effectLst/>
              <a:uFillTx/>
              <a:latin typeface="Arial"/>
            </a:endParaRPr>
          </a:p>
        </p:txBody>
      </p:sp>
      <p:sp>
        <p:nvSpPr>
          <p:cNvPr id="84" name="TextBox 2"/>
          <p:cNvSpPr/>
          <p:nvPr/>
        </p:nvSpPr>
        <p:spPr>
          <a:xfrm>
            <a:off x="446760" y="1080720"/>
            <a:ext cx="10690920" cy="55846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spcBef>
                <a:spcPts val="1191"/>
              </a:spcBef>
              <a:spcAft>
                <a:spcPts val="992"/>
              </a:spcAft>
              <a:buClr>
                <a:srgbClr val="000000"/>
              </a:buClr>
              <a:buFont typeface="Arial"/>
              <a:buChar char="•"/>
            </a:pPr>
            <a:r>
              <a:rPr lang="en-IN" sz="1800" b="1" u="none" strike="noStrike">
                <a:solidFill>
                  <a:schemeClr val="dk1"/>
                </a:solidFill>
                <a:effectLst/>
                <a:uFillTx/>
                <a:latin typeface="Aptos"/>
              </a:rPr>
              <a:t>The Soundness Gap (The "Missing Bug" Problem):</a:t>
            </a:r>
            <a:r>
              <a:rPr lang="en-IN" sz="1800" b="0" u="none" strike="noStrike">
                <a:solidFill>
                  <a:schemeClr val="dk1"/>
                </a:solidFill>
                <a:effectLst/>
                <a:uFillTx/>
                <a:latin typeface="Aptos"/>
              </a:rPr>
              <a:t> Most current Python analyzers prioritize speed over absolute accuracy. This leads to False Negatives, where the tool says code is safe even if it contains a hidden security vulnerability.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Syntactic Noise &amp; Dynamic Complexity:</a:t>
            </a:r>
            <a:r>
              <a:rPr lang="en-US" sz="1800" b="0" u="none" strike="noStrike">
                <a:solidFill>
                  <a:schemeClr val="dk1"/>
                </a:solidFill>
                <a:effectLst/>
                <a:uFillTx/>
                <a:latin typeface="Aptos"/>
              </a:rPr>
              <a:t> Analyzing Python at the source-code level is difficult because of its dynamic nature (like variables changing types at runtime). This "noise" often results in imprecise reports or an explosion of False Positives that overwhelm developers.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The Undecidability Challenge</a:t>
            </a:r>
            <a:r>
              <a:rPr lang="en-US" sz="1800" b="0" u="none" strike="noStrike">
                <a:solidFill>
                  <a:schemeClr val="dk1"/>
                </a:solidFill>
                <a:effectLst/>
                <a:uFillTx/>
                <a:latin typeface="Aptos"/>
              </a:rPr>
              <a:t>: Recent research confirms it is mathematically impossible for an algorithm to be 100% accurate in all cases. This creates a need for a "Best Correct Approximation"—the most precise version of a sound analysis possible for a specific language.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Performance vs. Precision Trade-off: </a:t>
            </a:r>
            <a:r>
              <a:rPr lang="en-US" sz="1800" b="0" u="none" strike="noStrike">
                <a:solidFill>
                  <a:schemeClr val="dk1"/>
                </a:solidFill>
                <a:effectLst/>
                <a:uFillTx/>
                <a:latin typeface="Aptos"/>
              </a:rPr>
              <a:t>High-precision mathematical models (like Abstract Interpretation) are often too slow for large-scale applications. There is a critical need for an analyzer that can be both Sound (safe) and Scalable (fast).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Box 2"/>
          <p:cNvSpPr/>
          <p:nvPr/>
        </p:nvSpPr>
        <p:spPr>
          <a:xfrm>
            <a:off x="491040" y="1626120"/>
            <a:ext cx="10668240" cy="1475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1800" b="0" u="none" strike="noStrike">
                <a:solidFill>
                  <a:srgbClr val="000000"/>
                </a:solidFill>
                <a:effectLst/>
                <a:uFillTx/>
                <a:latin typeface="Aptos"/>
              </a:rPr>
              <a:t>Python’s dynamic features such as late binding, dynamic typing, and complex control flow make it difficult to analyze all possible runtime behaviors before execution. Existing Python analysis tools often rely on limited or heuristic checks, which may miss errors occurring on specific execution paths. A sound and principled static analysis approach is therefore needed to reason safely about Python programs without executing them.</a:t>
            </a:r>
            <a:endParaRPr lang="en-IN" sz="1800" b="0" u="none" strike="noStrike">
              <a:solidFill>
                <a:srgbClr val="000000"/>
              </a:solidFill>
              <a:effectLst/>
              <a:uFillTx/>
              <a:latin typeface="Arial"/>
            </a:endParaRPr>
          </a:p>
        </p:txBody>
      </p:sp>
      <p:sp>
        <p:nvSpPr>
          <p:cNvPr id="86" name="TextBox 3"/>
          <p:cNvSpPr/>
          <p:nvPr/>
        </p:nvSpPr>
        <p:spPr>
          <a:xfrm>
            <a:off x="3137040" y="282240"/>
            <a:ext cx="5786280" cy="455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2400" b="1" u="none" strike="noStrike">
                <a:solidFill>
                  <a:schemeClr val="dk1"/>
                </a:solidFill>
                <a:effectLst/>
                <a:uFillTx/>
                <a:latin typeface="Aptos"/>
              </a:rPr>
              <a:t>Problem Statement &amp; Objectives:</a:t>
            </a:r>
            <a:endParaRPr lang="en-IN" sz="2400" b="0" u="none" strike="noStrike">
              <a:solidFill>
                <a:srgbClr val="000000"/>
              </a:solidFill>
              <a:effectLst/>
              <a:uFillTx/>
              <a:latin typeface="Arial"/>
            </a:endParaRPr>
          </a:p>
        </p:txBody>
      </p:sp>
      <p:sp>
        <p:nvSpPr>
          <p:cNvPr id="87" name="TextBox 9"/>
          <p:cNvSpPr/>
          <p:nvPr/>
        </p:nvSpPr>
        <p:spPr>
          <a:xfrm>
            <a:off x="491040" y="1179360"/>
            <a:ext cx="6093000" cy="367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1800" b="1" u="none" strike="noStrike">
                <a:solidFill>
                  <a:schemeClr val="dk1"/>
                </a:solidFill>
                <a:effectLst/>
                <a:uFillTx/>
                <a:latin typeface="Aptos"/>
              </a:rPr>
              <a:t>Problem Statement </a:t>
            </a:r>
            <a:endParaRPr lang="en-IN" sz="1800" b="0" u="none" strike="noStrike">
              <a:solidFill>
                <a:srgbClr val="000000"/>
              </a:solidFill>
              <a:effectLst/>
              <a:uFillTx/>
              <a:latin typeface="Arial"/>
            </a:endParaRPr>
          </a:p>
        </p:txBody>
      </p:sp>
      <p:sp>
        <p:nvSpPr>
          <p:cNvPr id="88" name="TextBox 11"/>
          <p:cNvSpPr/>
          <p:nvPr/>
        </p:nvSpPr>
        <p:spPr>
          <a:xfrm>
            <a:off x="560160" y="5366160"/>
            <a:ext cx="11207880" cy="270000"/>
          </a:xfrm>
          <a:prstGeom prst="rect">
            <a:avLst/>
          </a:prstGeom>
          <a:noFill/>
          <a:ln w="0">
            <a:noFill/>
          </a:ln>
        </p:spPr>
        <p:style>
          <a:lnRef idx="0"/>
          <a:fillRef idx="0"/>
          <a:effectRef idx="0"/>
          <a:fontRef idx="minor"/>
        </p:style>
        <p:txBody>
          <a:bodyPr lIns="90000" rIns="90000" tIns="45000" bIns="45000" anchor="ctr">
            <a:spAutoFit/>
          </a:bodyPr>
          <a:p>
            <a:pPr algn="just" defTabSz="914400">
              <a:lnSpc>
                <a:spcPts val="1417"/>
              </a:lnSpc>
              <a:spcBef>
                <a:spcPts val="1191"/>
              </a:spcBef>
              <a:spcAft>
                <a:spcPts val="992"/>
              </a:spcAft>
            </a:pPr>
            <a:endParaRPr lang="en-IN" sz="1400" b="0" u="none" strike="noStrike">
              <a:solidFill>
                <a:srgbClr val="000000"/>
              </a:solidFill>
              <a:effectLst/>
              <a:uFillTx/>
              <a:latin typeface="Arial"/>
            </a:endParaRPr>
          </a:p>
        </p:txBody>
      </p:sp>
      <p:sp>
        <p:nvSpPr>
          <p:cNvPr id="89" name="TextBox 4"/>
          <p:cNvSpPr/>
          <p:nvPr/>
        </p:nvSpPr>
        <p:spPr>
          <a:xfrm>
            <a:off x="491040" y="3127680"/>
            <a:ext cx="25509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1800" b="1" u="none" strike="noStrike">
                <a:solidFill>
                  <a:schemeClr val="dk1"/>
                </a:solidFill>
                <a:effectLst/>
                <a:uFillTx/>
                <a:latin typeface="Aptos"/>
              </a:rPr>
              <a:t>Objectives </a:t>
            </a:r>
            <a:endParaRPr lang="en-IN" sz="1800" b="0" u="none" strike="noStrike">
              <a:solidFill>
                <a:srgbClr val="000000"/>
              </a:solidFill>
              <a:effectLst/>
              <a:uFillTx/>
              <a:latin typeface="Arial"/>
            </a:endParaRPr>
          </a:p>
        </p:txBody>
      </p:sp>
      <p:sp>
        <p:nvSpPr>
          <p:cNvPr id="90" name="Rectangle 7"/>
          <p:cNvSpPr/>
          <p:nvPr/>
        </p:nvSpPr>
        <p:spPr>
          <a:xfrm flipV="1" rot="10800000">
            <a:off x="468360" y="3742200"/>
            <a:ext cx="11424960" cy="230796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lang="en-US" sz="1800" b="0" u="none" strike="noStrike">
                <a:solidFill>
                  <a:schemeClr val="dk1"/>
                </a:solidFill>
                <a:effectLst/>
                <a:uFillTx/>
                <a:latin typeface="Arial"/>
              </a:rPr>
              <a:t>1. To design a sound static analysis framework for Python based on abstract interpretation.</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2. To represent program behavior using abstract states that capture possible variable values and control-flow conditions.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3. To analyze loops and control-flow constructs using fixpoint computation to ensure safe and finite analysis.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4. To improve analysis precision through flow-sensitive and path-sensitive data-flow analysis while preserving soundness.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5. To implement and demonstrate a prototype static analyzer capable of detecting potential runtime errors in Python programs.</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90000"/>
              </a:lnSpc>
              <a:buNone/>
            </a:pPr>
            <a:r>
              <a:rPr lang="en-IN" sz="2800" b="1" u="none" strike="noStrike">
                <a:solidFill>
                  <a:schemeClr val="dk1"/>
                </a:solidFill>
                <a:effectLst/>
                <a:uFillTx/>
                <a:latin typeface="Aptos Display"/>
              </a:rPr>
              <a:t>Example-1</a:t>
            </a:r>
            <a:endParaRPr lang="en-US" sz="2800" b="0" u="none" strike="noStrike">
              <a:solidFill>
                <a:schemeClr val="dk1"/>
              </a:solidFill>
              <a:effectLst/>
              <a:uFillTx/>
              <a:latin typeface="Aptos"/>
            </a:endParaRPr>
          </a:p>
        </p:txBody>
      </p:sp>
      <p:pic>
        <p:nvPicPr>
          <p:cNvPr id="92" name="Picture 4"/>
          <p:cNvPicPr/>
          <p:nvPr/>
        </p:nvPicPr>
        <p:blipFill>
          <a:blip r:embed="rId1"/>
          <a:stretch/>
        </p:blipFill>
        <p:spPr>
          <a:xfrm>
            <a:off x="609480" y="1966680"/>
            <a:ext cx="5006520" cy="4320720"/>
          </a:xfrm>
          <a:prstGeom prst="rect">
            <a:avLst/>
          </a:prstGeom>
          <a:noFill/>
          <a:ln w="0">
            <a:noFill/>
          </a:ln>
        </p:spPr>
      </p:pic>
      <p:pic>
        <p:nvPicPr>
          <p:cNvPr id="93" name="Picture 8"/>
          <p:cNvPicPr/>
          <p:nvPr/>
        </p:nvPicPr>
        <p:blipFill>
          <a:blip r:embed="rId2"/>
          <a:stretch/>
        </p:blipFill>
        <p:spPr>
          <a:xfrm>
            <a:off x="6095520" y="2819880"/>
            <a:ext cx="5254560" cy="2614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90000"/>
              </a:lnSpc>
              <a:buNone/>
            </a:pPr>
            <a:r>
              <a:rPr lang="en-IN" sz="2800" b="1" u="none" strike="noStrike">
                <a:solidFill>
                  <a:schemeClr val="dk1"/>
                </a:solidFill>
                <a:effectLst/>
                <a:uFillTx/>
                <a:latin typeface="Aptos Display"/>
              </a:rPr>
              <a:t>Example 2 </a:t>
            </a:r>
            <a:endParaRPr lang="en-US" sz="2800" b="0" u="none" strike="noStrike">
              <a:solidFill>
                <a:schemeClr val="dk1"/>
              </a:solidFill>
              <a:effectLst/>
              <a:uFillTx/>
              <a:latin typeface="Aptos"/>
            </a:endParaRPr>
          </a:p>
        </p:txBody>
      </p:sp>
      <p:pic>
        <p:nvPicPr>
          <p:cNvPr id="95" name="Picture 4"/>
          <p:cNvPicPr/>
          <p:nvPr/>
        </p:nvPicPr>
        <p:blipFill>
          <a:blip r:embed="rId1"/>
          <a:stretch/>
        </p:blipFill>
        <p:spPr>
          <a:xfrm>
            <a:off x="4399920" y="1604520"/>
            <a:ext cx="6791760" cy="4903920"/>
          </a:xfrm>
          <a:prstGeom prst="rect">
            <a:avLst/>
          </a:prstGeom>
          <a:noFill/>
          <a:ln w="0">
            <a:noFill/>
          </a:ln>
        </p:spPr>
      </p:pic>
      <p:pic>
        <p:nvPicPr>
          <p:cNvPr id="96" name="Picture 6"/>
          <p:cNvPicPr/>
          <p:nvPr/>
        </p:nvPicPr>
        <p:blipFill>
          <a:blip r:embed="rId2"/>
          <a:stretch/>
        </p:blipFill>
        <p:spPr>
          <a:xfrm>
            <a:off x="481680" y="1830600"/>
            <a:ext cx="3754080" cy="44517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TextBox 19"/>
          <p:cNvSpPr/>
          <p:nvPr/>
        </p:nvSpPr>
        <p:spPr>
          <a:xfrm>
            <a:off x="870840" y="128160"/>
            <a:ext cx="10231200" cy="61380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3990" b="0" u="none" strike="noStrike">
                <a:solidFill>
                  <a:srgbClr val="000000"/>
                </a:solidFill>
                <a:effectLst/>
                <a:uFillTx/>
                <a:latin typeface="Arial"/>
              </a:rPr>
              <a:t>Proposed Solution</a:t>
            </a:r>
            <a:endParaRPr lang="en-IN" sz="3990" b="0" u="none" strike="noStrike">
              <a:solidFill>
                <a:srgbClr val="000000"/>
              </a:solidFill>
              <a:effectLst/>
              <a:uFillTx/>
              <a:latin typeface="Arial"/>
            </a:endParaRPr>
          </a:p>
        </p:txBody>
      </p:sp>
      <p:sp>
        <p:nvSpPr>
          <p:cNvPr id="98" name="PlaceHolder 1"/>
          <p:cNvSpPr>
            <a:spLocks noGrp="1"/>
          </p:cNvSpPr>
          <p:nvPr>
            <p:ph type="title"/>
          </p:nvPr>
        </p:nvSpPr>
        <p:spPr>
          <a:xfrm>
            <a:off x="653400" y="1085400"/>
            <a:ext cx="10884240" cy="4272120"/>
          </a:xfrm>
          <a:prstGeom prst="rect">
            <a:avLst/>
          </a:prstGeom>
          <a:noFill/>
          <a:ln w="0">
            <a:noFill/>
          </a:ln>
        </p:spPr>
        <p:txBody>
          <a:bodyPr lIns="0" rIns="0" tIns="0" bIns="0" anchor="ctr">
            <a:spAutoFit/>
          </a:bodyPr>
          <a:p>
            <a:pPr indent="0" algn="ctr" defTabSz="914400">
              <a:lnSpc>
                <a:spcPct val="90000"/>
              </a:lnSpc>
              <a:spcBef>
                <a:spcPts val="1440"/>
              </a:spcBef>
              <a:spcAft>
                <a:spcPts val="1199"/>
              </a:spcAft>
              <a:buNone/>
              <a:tabLst>
                <a:tab algn="l" pos="0"/>
              </a:tabLst>
            </a:pPr>
            <a:r>
              <a:rPr lang="en-IN" sz="1810" b="0" u="none" strike="noStrike">
                <a:solidFill>
                  <a:srgbClr val="00a933"/>
                </a:solidFill>
                <a:effectLst/>
                <a:uFillTx/>
                <a:latin typeface="Arial"/>
              </a:rPr>
              <a:t>The Approach</a:t>
            </a:r>
            <a:r>
              <a:rPr lang="en-IN" sz="1810" b="0" u="none" strike="noStrike">
                <a:solidFill>
                  <a:srgbClr val="dd4100"/>
                </a:solidFill>
                <a:effectLst/>
                <a:uFillTx/>
                <a:latin typeface="Arial"/>
              </a:rPr>
              <a:t>: </a:t>
            </a:r>
            <a:r>
              <a:rPr lang="en-IN" sz="1810" b="0" u="none" strike="noStrike">
                <a:solidFill>
                  <a:srgbClr val="000000"/>
                </a:solidFill>
                <a:effectLst/>
                <a:uFillTx/>
                <a:latin typeface="Arial"/>
              </a:rPr>
              <a:t>Develop a Bytecode-based Static Analysis Framework using Abstract Interpretation. By shifting from raw source code to Python Opcodes, the analyzer bypasses syntactic ambiguity.</a:t>
            </a:r>
            <a:br>
              <a:rPr sz="1810"/>
            </a:br>
            <a:br>
              <a:rPr sz="1810"/>
            </a:br>
            <a:r>
              <a:rPr lang="en-IN" sz="1810" b="0" u="none" strike="noStrike">
                <a:solidFill>
                  <a:srgbClr val="00a933"/>
                </a:solidFill>
                <a:effectLst/>
                <a:uFillTx/>
                <a:latin typeface="Arial"/>
              </a:rPr>
              <a:t>Key Features:</a:t>
            </a:r>
            <a:br>
              <a:rPr sz="1810"/>
            </a:br>
            <a:br>
              <a:rPr sz="1810"/>
            </a:br>
            <a:r>
              <a:rPr lang="en-IN" sz="1810" b="0" u="none" strike="noStrike">
                <a:solidFill>
                  <a:srgbClr val="00a933"/>
                </a:solidFill>
                <a:effectLst/>
                <a:uFillTx/>
                <a:latin typeface="Arial"/>
              </a:rPr>
              <a:t>Mathematical Soundness:</a:t>
            </a:r>
            <a:r>
              <a:rPr lang="en-IN" sz="1810" b="0" u="none" strike="noStrike">
                <a:solidFill>
                  <a:srgbClr val="000000"/>
                </a:solidFill>
                <a:effectLst/>
                <a:uFillTx/>
                <a:latin typeface="Arial"/>
              </a:rPr>
              <a:t> Uses "Best Correct Approximation" (BCA) to ensure no execution path is ignored, eliminating false negatives.</a:t>
            </a:r>
            <a:br>
              <a:rPr sz="1810"/>
            </a:br>
            <a:br>
              <a:rPr sz="1810"/>
            </a:br>
            <a:r>
              <a:rPr lang="en-IN" sz="1810" b="0" u="none" strike="noStrike">
                <a:solidFill>
                  <a:srgbClr val="00a933"/>
                </a:solidFill>
                <a:effectLst/>
                <a:uFillTx/>
                <a:latin typeface="Arial"/>
              </a:rPr>
              <a:t>Opcode-Level Taint Tracking:</a:t>
            </a:r>
            <a:r>
              <a:rPr lang="en-IN" sz="1810" b="0" u="none" strike="noStrike">
                <a:solidFill>
                  <a:srgbClr val="000000"/>
                </a:solidFill>
                <a:effectLst/>
                <a:uFillTx/>
                <a:latin typeface="Arial"/>
              </a:rPr>
              <a:t> Tracks data flow from "Sources" (user input) to "Sinks" (critical functions) at the virtual machine level.</a:t>
            </a:r>
            <a:br>
              <a:rPr sz="1810"/>
            </a:br>
            <a:br>
              <a:rPr sz="1810"/>
            </a:br>
            <a:r>
              <a:rPr lang="en-IN" sz="1810" b="0" u="none" strike="noStrike">
                <a:solidFill>
                  <a:srgbClr val="00a933"/>
                </a:solidFill>
                <a:effectLst/>
                <a:uFillTx/>
                <a:latin typeface="Arial"/>
              </a:rPr>
              <a:t>Context-Sensitive Analysis</a:t>
            </a:r>
            <a:r>
              <a:rPr lang="en-IN" sz="1810" b="0" u="none" strike="noStrike">
                <a:solidFill>
                  <a:srgbClr val="000000"/>
                </a:solidFill>
                <a:effectLst/>
                <a:uFillTx/>
                <a:latin typeface="Arial"/>
              </a:rPr>
              <a:t>: Distinguishes between different calls to the same function to reduce false positives.</a:t>
            </a:r>
            <a:br>
              <a:rPr sz="1810"/>
            </a:br>
            <a:br>
              <a:rPr sz="1810"/>
            </a:br>
            <a:r>
              <a:rPr lang="en-IN" sz="1810" b="0" u="none" strike="noStrike">
                <a:solidFill>
                  <a:srgbClr val="00a933"/>
                </a:solidFill>
                <a:effectLst/>
                <a:uFillTx/>
                <a:latin typeface="Arial"/>
              </a:rPr>
              <a:t>Goal:</a:t>
            </a:r>
            <a:r>
              <a:rPr lang="en-IN" sz="1810" b="0" u="none" strike="noStrike">
                <a:solidFill>
                  <a:srgbClr val="dd4100"/>
                </a:solidFill>
                <a:effectLst/>
                <a:uFillTx/>
                <a:latin typeface="Arial"/>
              </a:rPr>
              <a:t> </a:t>
            </a:r>
            <a:r>
              <a:rPr lang="en-IN" sz="1810" b="0" u="none" strike="noStrike">
                <a:solidFill>
                  <a:srgbClr val="000000"/>
                </a:solidFill>
                <a:effectLst/>
                <a:uFillTx/>
                <a:latin typeface="Arial"/>
              </a:rPr>
              <a:t>To provide a formal security guarantee for Python applications, ensuring they are free from "silent" runtime errors and vulnerabilities like SQL Injection and XSS.</a:t>
            </a:r>
            <a:br>
              <a:rPr sz="1810"/>
            </a:br>
            <a:endParaRPr lang="en-US" sz="181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Box 21"/>
          <p:cNvSpPr/>
          <p:nvPr/>
        </p:nvSpPr>
        <p:spPr>
          <a:xfrm>
            <a:off x="870840" y="219960"/>
            <a:ext cx="10231200" cy="4305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2800" b="0" u="none" strike="noStrike">
                <a:solidFill>
                  <a:srgbClr val="000000"/>
                </a:solidFill>
                <a:effectLst/>
                <a:uFillTx/>
                <a:latin typeface="Arial"/>
              </a:rPr>
              <a:t>Hardware &amp; Software Requirements</a:t>
            </a:r>
            <a:endParaRPr lang="en-IN" sz="2800" b="0" u="none" strike="noStrike">
              <a:solidFill>
                <a:srgbClr val="000000"/>
              </a:solidFill>
              <a:effectLst/>
              <a:uFillTx/>
              <a:latin typeface="Arial"/>
            </a:endParaRPr>
          </a:p>
        </p:txBody>
      </p:sp>
      <p:sp>
        <p:nvSpPr>
          <p:cNvPr id="100" name="PlaceHolder 1"/>
          <p:cNvSpPr>
            <a:spLocks noGrp="1"/>
          </p:cNvSpPr>
          <p:nvPr>
            <p:ph type="title"/>
          </p:nvPr>
        </p:nvSpPr>
        <p:spPr>
          <a:xfrm>
            <a:off x="435600" y="656280"/>
            <a:ext cx="11102040" cy="2345040"/>
          </a:xfrm>
          <a:prstGeom prst="rect">
            <a:avLst/>
          </a:prstGeom>
          <a:noFill/>
          <a:ln w="0">
            <a:noFill/>
          </a:ln>
        </p:spPr>
        <p:txBody>
          <a:bodyPr lIns="0" rIns="0" tIns="0" bIns="0" anchor="ctr">
            <a:spAutoFit/>
          </a:bodyPr>
          <a:p>
            <a:pPr indent="0" defTabSz="914400">
              <a:lnSpc>
                <a:spcPct val="90000"/>
              </a:lnSpc>
              <a:spcBef>
                <a:spcPts val="1440"/>
              </a:spcBef>
              <a:spcAft>
                <a:spcPts val="1199"/>
              </a:spcAft>
              <a:buNone/>
              <a:tabLst>
                <a:tab algn="l" pos="0"/>
              </a:tabLst>
            </a:pPr>
            <a:r>
              <a:rPr lang="en-IN" sz="1700" b="1" u="none" strike="noStrike">
                <a:solidFill>
                  <a:srgbClr val="000000"/>
                </a:solidFill>
                <a:effectLst/>
                <a:uFillTx/>
                <a:latin typeface="Arial"/>
              </a:rPr>
              <a:t>1.Hardware Requirements:</a:t>
            </a:r>
            <a:br>
              <a:rPr sz="1700"/>
            </a:br>
            <a:br>
              <a:rPr sz="1700"/>
            </a:br>
            <a:r>
              <a:rPr lang="en-IN" sz="1700" b="0" u="none" strike="noStrike">
                <a:solidFill>
                  <a:srgbClr val="00a933"/>
                </a:solidFill>
                <a:effectLst/>
                <a:uFillTx/>
                <a:latin typeface="Arial"/>
              </a:rPr>
              <a:t>Processor:</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Intel i5/i7 or AMD Ryzen 5 (Equivalent or higher) for graph processing.</a:t>
            </a:r>
            <a:br>
              <a:rPr sz="1700"/>
            </a:br>
            <a:r>
              <a:rPr lang="en-IN" sz="1700" b="0" u="none" strike="noStrike">
                <a:solidFill>
                  <a:srgbClr val="00a933"/>
                </a:solidFill>
                <a:effectLst/>
                <a:uFillTx/>
                <a:latin typeface="Arial"/>
              </a:rPr>
              <a:t>RAM:</a:t>
            </a:r>
            <a:r>
              <a:rPr lang="en-IN" sz="1700" b="0" u="none" strike="noStrike">
                <a:solidFill>
                  <a:srgbClr val="dd4100"/>
                </a:solidFill>
                <a:effectLst/>
                <a:uFillTx/>
                <a:latin typeface="Arial"/>
              </a:rPr>
              <a:t> </a:t>
            </a:r>
            <a:br>
              <a:rPr sz="1700"/>
            </a:b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Minimum 8 GB (16 GB recommended for analyzing large-scale multi-module projects).</a:t>
            </a:r>
            <a:br>
              <a:rPr sz="1700"/>
            </a:br>
            <a:r>
              <a:rPr lang="en-IN" sz="1700" b="0" u="none" strike="noStrike">
                <a:solidFill>
                  <a:srgbClr val="00a933"/>
                </a:solidFill>
                <a:effectLst/>
                <a:uFillTx/>
                <a:latin typeface="Arial"/>
              </a:rPr>
              <a:t>Storage:</a:t>
            </a:r>
            <a:br>
              <a:rPr sz="1700"/>
            </a:br>
            <a:r>
              <a:rPr lang="en-IN" sz="1700" b="0" u="none" strike="noStrike">
                <a:solidFill>
                  <a:srgbClr val="00a933"/>
                </a:solidFill>
                <a:effectLst/>
                <a:uFillTx/>
                <a:latin typeface="Arial"/>
              </a:rPr>
              <a:t>	</a:t>
            </a: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256 GB SSD (For fast read/write of large semantic graphs).</a:t>
            </a:r>
            <a:br>
              <a:rPr sz="1700"/>
            </a:br>
            <a:br>
              <a:rPr sz="1700"/>
            </a:br>
            <a:endParaRPr lang="en-US" sz="1700" b="0" u="none" strike="noStrike">
              <a:solidFill>
                <a:schemeClr val="dk1"/>
              </a:solidFill>
              <a:effectLst/>
              <a:uFillTx/>
              <a:latin typeface="Aptos"/>
            </a:endParaRPr>
          </a:p>
        </p:txBody>
      </p:sp>
      <p:sp>
        <p:nvSpPr>
          <p:cNvPr id="101" name="TextBox 23"/>
          <p:cNvSpPr/>
          <p:nvPr/>
        </p:nvSpPr>
        <p:spPr>
          <a:xfrm>
            <a:off x="435600" y="2335320"/>
            <a:ext cx="10013400" cy="41680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endParaRPr lang="en-IN" sz="1700" b="0" u="none" strike="noStrike">
              <a:solidFill>
                <a:srgbClr val="000000"/>
              </a:solidFill>
              <a:effectLst/>
              <a:uFillTx/>
              <a:latin typeface="Arial"/>
            </a:endParaRPr>
          </a:p>
          <a:p>
            <a:pPr defTabSz="914400">
              <a:lnSpc>
                <a:spcPct val="100000"/>
              </a:lnSpc>
            </a:pPr>
            <a:r>
              <a:rPr lang="en-IN" sz="1700" b="1" u="none" strike="noStrike">
                <a:solidFill>
                  <a:srgbClr val="000000"/>
                </a:solidFill>
                <a:effectLst/>
                <a:uFillTx/>
                <a:latin typeface="Arial"/>
              </a:rPr>
              <a:t>2.Software Requirements:</a:t>
            </a:r>
            <a:br>
              <a:rPr sz="1700"/>
            </a:br>
            <a:endParaRPr lang="en-IN" sz="1700" b="0" u="none" strike="noStrike">
              <a:solidFill>
                <a:srgbClr val="000000"/>
              </a:solidFill>
              <a:effectLst/>
              <a:uFillTx/>
              <a:latin typeface="Arial"/>
            </a:endParaRPr>
          </a:p>
          <a:p>
            <a:pPr defTabSz="914400">
              <a:lnSpc>
                <a:spcPct val="100000"/>
              </a:lnSpc>
            </a:pPr>
            <a:r>
              <a:rPr lang="en-IN" sz="1700" b="0" u="none" strike="noStrike">
                <a:solidFill>
                  <a:srgbClr val="00a933"/>
                </a:solidFill>
                <a:effectLst/>
                <a:uFillTx/>
                <a:latin typeface="Arial"/>
              </a:rPr>
              <a:t>Programming Language:  </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Python 3.10+ (Utilizing the dis module for disassembling and inspect for runtime metadata). </a:t>
            </a:r>
            <a:br>
              <a:rPr sz="1700"/>
            </a:br>
            <a:r>
              <a:rPr lang="en-IN" sz="1700" b="0" u="none" strike="noStrike">
                <a:solidFill>
                  <a:srgbClr val="000000"/>
                </a:solidFill>
                <a:effectLst/>
                <a:uFillTx/>
                <a:latin typeface="Arial"/>
              </a:rPr>
              <a:t> </a:t>
            </a:r>
            <a:br>
              <a:rPr sz="1700"/>
            </a:br>
            <a:r>
              <a:rPr lang="en-IN" sz="1700" b="0" u="none" strike="noStrike">
                <a:solidFill>
                  <a:srgbClr val="00a933"/>
                </a:solidFill>
                <a:effectLst/>
                <a:uFillTx/>
                <a:latin typeface="Arial"/>
              </a:rPr>
              <a:t>  Libraries &amp; Frameworks:  </a:t>
            </a:r>
            <a:br>
              <a:rPr sz="1700"/>
            </a:b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  1.NetworkX: For constructing and traversing the Control Flow Graph (CFG).</a:t>
            </a:r>
            <a:br>
              <a:rPr sz="1700"/>
            </a:br>
            <a:r>
              <a:rPr lang="en-IN" sz="1700" b="0" u="none" strike="noStrike">
                <a:solidFill>
                  <a:srgbClr val="000000"/>
                </a:solidFill>
                <a:effectLst/>
                <a:uFillTx/>
                <a:latin typeface="Arial"/>
              </a:rPr>
              <a:t>	</a:t>
            </a:r>
            <a:r>
              <a:rPr lang="en-IN" sz="1700" b="0" u="none" strike="noStrike">
                <a:solidFill>
                  <a:srgbClr val="000000"/>
                </a:solidFill>
                <a:effectLst/>
                <a:uFillTx/>
                <a:latin typeface="Arial"/>
              </a:rPr>
              <a:t>  2.Z3 Prover (Optional/Advanced): For constraint solving to prune unreachable paths.</a:t>
            </a:r>
            <a:br>
              <a:rPr sz="1700"/>
            </a:br>
            <a:r>
              <a:rPr lang="en-IN" sz="1700" b="0" u="none" strike="noStrike">
                <a:solidFill>
                  <a:srgbClr val="000000"/>
                </a:solidFill>
                <a:effectLst/>
                <a:uFillTx/>
                <a:latin typeface="Arial"/>
              </a:rPr>
              <a:t>	</a:t>
            </a:r>
            <a:r>
              <a:rPr lang="en-IN" sz="1700" b="0" u="none" strike="noStrike">
                <a:solidFill>
                  <a:srgbClr val="000000"/>
                </a:solidFill>
                <a:effectLst/>
                <a:uFillTx/>
                <a:latin typeface="Arial"/>
              </a:rPr>
              <a:t>  3.Pytest: For automated testing and validation of the analyzer.</a:t>
            </a:r>
            <a:br>
              <a:rPr sz="1700"/>
            </a:br>
            <a:br>
              <a:rPr sz="1700"/>
            </a:br>
            <a:r>
              <a:rPr lang="en-IN" sz="1700" b="0" u="none" strike="noStrike">
                <a:solidFill>
                  <a:srgbClr val="000000"/>
                </a:solidFill>
                <a:effectLst/>
                <a:uFillTx/>
                <a:latin typeface="Arial"/>
              </a:rPr>
              <a:t> </a:t>
            </a:r>
            <a:r>
              <a:rPr lang="en-IN" sz="1700" b="0" u="none" strike="noStrike">
                <a:solidFill>
                  <a:srgbClr val="00a933"/>
                </a:solidFill>
                <a:effectLst/>
                <a:uFillTx/>
                <a:latin typeface="Arial"/>
              </a:rPr>
              <a:t> Operating System:</a:t>
            </a:r>
            <a:r>
              <a:rPr lang="en-IN" sz="1700" b="0" u="none" strike="noStrike">
                <a:solidFill>
                  <a:srgbClr val="000000"/>
                </a:solidFill>
                <a:effectLst/>
                <a:uFillTx/>
                <a:latin typeface="Arial"/>
              </a:rPr>
              <a:t>   </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Linux (Ubuntu/Debian) or macOS (Recommended for stable toolchain management). </a:t>
            </a:r>
            <a:r>
              <a:rPr lang="en-IN" sz="1700" b="0" u="none" strike="noStrike">
                <a:solidFill>
                  <a:srgbClr val="00a933"/>
                </a:solidFill>
                <a:effectLst/>
                <a:uFillTx/>
                <a:latin typeface="Arial"/>
              </a:rPr>
              <a:t> </a:t>
            </a:r>
            <a:br>
              <a:rPr sz="1700"/>
            </a:br>
            <a:br>
              <a:rPr sz="1700"/>
            </a:b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IDE</a:t>
            </a:r>
            <a:r>
              <a:rPr lang="en-IN" sz="1700" b="0" u="none" strike="noStrike">
                <a:solidFill>
                  <a:srgbClr val="00a933"/>
                </a:solidFill>
                <a:effectLst/>
                <a:uFillTx/>
                <a:latin typeface="Arial"/>
              </a:rPr>
              <a:t>:</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VS Code or PyCharm with Debugging support. </a:t>
            </a:r>
            <a:endParaRPr lang="en-IN"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Box 24"/>
          <p:cNvSpPr/>
          <p:nvPr/>
        </p:nvSpPr>
        <p:spPr>
          <a:xfrm>
            <a:off x="870840" y="174960"/>
            <a:ext cx="10231200" cy="5205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3380" b="0" u="none" strike="noStrike">
                <a:solidFill>
                  <a:srgbClr val="000000"/>
                </a:solidFill>
                <a:effectLst/>
                <a:uFillTx/>
                <a:latin typeface="Arial"/>
              </a:rPr>
              <a:t>System Architecture </a:t>
            </a:r>
            <a:endParaRPr lang="en-IN" sz="3380" b="0" u="none" strike="noStrike">
              <a:solidFill>
                <a:srgbClr val="000000"/>
              </a:solidFill>
              <a:effectLst/>
              <a:uFillTx/>
              <a:latin typeface="Arial"/>
            </a:endParaRPr>
          </a:p>
        </p:txBody>
      </p:sp>
      <p:pic>
        <p:nvPicPr>
          <p:cNvPr id="103" name="Picture 2"/>
          <p:cNvPicPr/>
          <p:nvPr/>
        </p:nvPicPr>
        <p:blipFill>
          <a:blip r:embed="rId1"/>
          <a:stretch/>
        </p:blipFill>
        <p:spPr>
          <a:xfrm>
            <a:off x="1746720" y="695880"/>
            <a:ext cx="8479800" cy="6161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Box 2"/>
          <p:cNvSpPr/>
          <p:nvPr/>
        </p:nvSpPr>
        <p:spPr>
          <a:xfrm>
            <a:off x="730080" y="657360"/>
            <a:ext cx="2645640" cy="460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2400" b="1" u="none" strike="noStrike">
                <a:solidFill>
                  <a:schemeClr val="dk1"/>
                </a:solidFill>
                <a:effectLst/>
                <a:uFillTx/>
                <a:latin typeface="Aptos"/>
              </a:rPr>
              <a:t>References:</a:t>
            </a:r>
            <a:endParaRPr lang="en-IN" sz="2400" b="0" u="none" strike="noStrike">
              <a:solidFill>
                <a:srgbClr val="000000"/>
              </a:solidFill>
              <a:effectLst/>
              <a:uFillTx/>
              <a:latin typeface="Arial"/>
            </a:endParaRPr>
          </a:p>
        </p:txBody>
      </p:sp>
      <p:sp>
        <p:nvSpPr>
          <p:cNvPr id="105" name="Rectangle 1"/>
          <p:cNvSpPr/>
          <p:nvPr/>
        </p:nvSpPr>
        <p:spPr>
          <a:xfrm>
            <a:off x="730080" y="1697040"/>
            <a:ext cx="11168640" cy="4314960"/>
          </a:xfrm>
          <a:prstGeom prst="rect">
            <a:avLst/>
          </a:prstGeom>
          <a:noFill/>
          <a:ln w="0">
            <a:noFill/>
          </a:ln>
        </p:spPr>
        <p:style>
          <a:lnRef idx="0"/>
          <a:fillRef idx="0"/>
          <a:effectRef idx="0"/>
          <a:fontRef idx="minor"/>
        </p:style>
        <p:txBody>
          <a:bodyPr numCol="1" spcCol="0" lIns="90000" rIns="90000" tIns="0" bIns="158760" anchor="ctr">
            <a:spAutoFit/>
          </a:bodyPr>
          <a:p>
            <a:pPr marL="343080" indent="-343080" algn="just" defTabSz="914400">
              <a:lnSpc>
                <a:spcPct val="100000"/>
              </a:lnSpc>
              <a:buClr>
                <a:srgbClr val="000000"/>
              </a:buClr>
              <a:buFont typeface="Aptos Display"/>
              <a:buAutoNum type="arabicPeriod"/>
            </a:pPr>
            <a:r>
              <a:rPr lang="en-IN" sz="1800" b="0" u="none" strike="noStrike">
                <a:solidFill>
                  <a:srgbClr val="000000"/>
                </a:solidFill>
                <a:effectLst/>
                <a:uFillTx/>
                <a:latin typeface="Arial"/>
              </a:rPr>
              <a:t>1.Yama: Precise Opcode-Based Data Flow Analysis for Detecting PHP Applications Vulnerabilities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https://ieeexplore.ieee.org/document/11095739/</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2.ForBac: A Static Analysis Approach With Forward and Backward Analysis for Precision in Floating-Point Computations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https://ieeexplore.ieee.org/document/10990216</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3.The Best of Abstract Interpretations </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https://dl.acm.org/doi/epdf/10.1145/3704882</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4.CoSSJIT: Combining Static Analysis and Speculation in JITCompilers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https://dl.acm.org/doi/epdf/10.1145/3763149</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5.PHPJoy: A Novel Extended Graph-Based PHP Code Analysis Framework.</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https://ieeexplore.ieee.org/document/11181216</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TM16401375[[fn=Madison]]</Template>
  <TotalTime>883</TotalTime>
  <Application>LibreOffice/25.8.5.2$Windows_X86_64 LibreOffice_project/9c8b85f387cc00a89945a79c9e6239f32e450ac2</Application>
  <AppVersion>15.0000</AppVersion>
  <Words>1415</Words>
  <Paragraphs>129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2026-01-23T05:42:45Z</dcterms:created>
  <dc:creator>Varun karthikeyan.M</dc:creator>
  <dc:description/>
  <dc:language>en-IN</dc:language>
  <cp:lastModifiedBy/>
  <cp:lastPrinted>2026-01-27T14:08:20Z</cp:lastPrinted>
  <dcterms:modified xsi:type="dcterms:W3CDTF">2026-03-15T13:04:39Z</dcterms:modified>
  <cp:revision>64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11</vt:i4>
  </property>
</Properties>
</file>