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2" r:id="rId7"/>
    <p:sldId id="263" r:id="rId8"/>
    <p:sldId id="264" r:id="rId9"/>
    <p:sldId id="265" r:id="rId10"/>
    <p:sldId id="266" r:id="rId11"/>
    <p:sldId id="26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AED"/>
    <a:srgbClr val="CCD2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17308F-71B0-4BAA-BCCF-0295810F187F}" v="22" dt="2026-02-08T02:01:21.7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5745" autoAdjust="0"/>
    <p:restoredTop sz="94660"/>
  </p:normalViewPr>
  <p:slideViewPr>
    <p:cSldViewPr snapToGrid="0">
      <p:cViewPr varScale="1">
        <p:scale>
          <a:sx n="38" d="100"/>
          <a:sy n="38" d="100"/>
        </p:scale>
        <p:origin x="56" y="50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gu Raman" userId="1d8dfad7935295b9" providerId="LiveId" clId="{965F8897-4BCD-46C9-8C13-DC26F4A35D36}"/>
    <pc:docChg chg="undo custSel addSld delSld modSld">
      <pc:chgData name="Ragu Raman" userId="1d8dfad7935295b9" providerId="LiveId" clId="{965F8897-4BCD-46C9-8C13-DC26F4A35D36}" dt="2026-02-08T02:02:26.249" v="81" actId="14100"/>
      <pc:docMkLst>
        <pc:docMk/>
      </pc:docMkLst>
      <pc:sldChg chg="addSp delSp modSp new mod">
        <pc:chgData name="Ragu Raman" userId="1d8dfad7935295b9" providerId="LiveId" clId="{965F8897-4BCD-46C9-8C13-DC26F4A35D36}" dt="2026-02-08T01:49:31.607" v="20" actId="255"/>
        <pc:sldMkLst>
          <pc:docMk/>
          <pc:sldMk cId="1418559535" sldId="262"/>
        </pc:sldMkLst>
        <pc:spChg chg="add del">
          <ac:chgData name="Ragu Raman" userId="1d8dfad7935295b9" providerId="LiveId" clId="{965F8897-4BCD-46C9-8C13-DC26F4A35D36}" dt="2026-02-08T01:46:29.748" v="4" actId="22"/>
          <ac:spMkLst>
            <pc:docMk/>
            <pc:sldMk cId="1418559535" sldId="262"/>
            <ac:spMk id="3" creationId="{4DDFCFE2-09C0-789C-1786-7949601C09C3}"/>
          </ac:spMkLst>
        </pc:spChg>
        <pc:spChg chg="add mod">
          <ac:chgData name="Ragu Raman" userId="1d8dfad7935295b9" providerId="LiveId" clId="{965F8897-4BCD-46C9-8C13-DC26F4A35D36}" dt="2026-02-08T01:49:31.607" v="20" actId="255"/>
          <ac:spMkLst>
            <pc:docMk/>
            <pc:sldMk cId="1418559535" sldId="262"/>
            <ac:spMk id="4" creationId="{7C08FD8A-53BC-BFB2-CD48-1438F6887149}"/>
          </ac:spMkLst>
        </pc:spChg>
      </pc:sldChg>
      <pc:sldChg chg="addSp modSp new mod">
        <pc:chgData name="Ragu Raman" userId="1d8dfad7935295b9" providerId="LiveId" clId="{965F8897-4BCD-46C9-8C13-DC26F4A35D36}" dt="2026-02-08T01:49:43.313" v="23" actId="20577"/>
        <pc:sldMkLst>
          <pc:docMk/>
          <pc:sldMk cId="3264881875" sldId="263"/>
        </pc:sldMkLst>
        <pc:spChg chg="add mod">
          <ac:chgData name="Ragu Raman" userId="1d8dfad7935295b9" providerId="LiveId" clId="{965F8897-4BCD-46C9-8C13-DC26F4A35D36}" dt="2026-02-08T01:49:43.313" v="23" actId="20577"/>
          <ac:spMkLst>
            <pc:docMk/>
            <pc:sldMk cId="3264881875" sldId="263"/>
            <ac:spMk id="2" creationId="{365D51F6-B8A8-6E80-915E-134439B5D956}"/>
          </ac:spMkLst>
        </pc:spChg>
      </pc:sldChg>
      <pc:sldChg chg="addSp delSp modSp new mod">
        <pc:chgData name="Ragu Raman" userId="1d8dfad7935295b9" providerId="LiveId" clId="{965F8897-4BCD-46C9-8C13-DC26F4A35D36}" dt="2026-02-08T01:58:25.172" v="68" actId="12385"/>
        <pc:sldMkLst>
          <pc:docMk/>
          <pc:sldMk cId="2546971707" sldId="264"/>
        </pc:sldMkLst>
        <pc:spChg chg="add del mod">
          <ac:chgData name="Ragu Raman" userId="1d8dfad7935295b9" providerId="LiveId" clId="{965F8897-4BCD-46C9-8C13-DC26F4A35D36}" dt="2026-02-08T01:50:55.689" v="36"/>
          <ac:spMkLst>
            <pc:docMk/>
            <pc:sldMk cId="2546971707" sldId="264"/>
            <ac:spMk id="2" creationId="{360CDE0B-EB26-E456-710A-62846E7DDA12}"/>
          </ac:spMkLst>
        </pc:spChg>
        <pc:spChg chg="add mod">
          <ac:chgData name="Ragu Raman" userId="1d8dfad7935295b9" providerId="LiveId" clId="{965F8897-4BCD-46C9-8C13-DC26F4A35D36}" dt="2026-02-08T01:50:55.679" v="34"/>
          <ac:spMkLst>
            <pc:docMk/>
            <pc:sldMk cId="2546971707" sldId="264"/>
            <ac:spMk id="4" creationId="{B54FE0C4-2750-2F9B-E35C-EB1AF256A985}"/>
          </ac:spMkLst>
        </pc:spChg>
        <pc:spChg chg="add mod">
          <ac:chgData name="Ragu Raman" userId="1d8dfad7935295b9" providerId="LiveId" clId="{965F8897-4BCD-46C9-8C13-DC26F4A35D36}" dt="2026-02-08T01:55:44.285" v="53" actId="20577"/>
          <ac:spMkLst>
            <pc:docMk/>
            <pc:sldMk cId="2546971707" sldId="264"/>
            <ac:spMk id="6" creationId="{20521B74-51E9-4A0F-FE62-2CA74CFE722E}"/>
          </ac:spMkLst>
        </pc:spChg>
        <pc:spChg chg="add del mod">
          <ac:chgData name="Ragu Raman" userId="1d8dfad7935295b9" providerId="LiveId" clId="{965F8897-4BCD-46C9-8C13-DC26F4A35D36}" dt="2026-02-08T01:55:50.375" v="56" actId="47"/>
          <ac:spMkLst>
            <pc:docMk/>
            <pc:sldMk cId="2546971707" sldId="264"/>
            <ac:spMk id="7" creationId="{D92E9185-0D95-3BD3-CACD-6FCF65935713}"/>
          </ac:spMkLst>
        </pc:spChg>
        <pc:graphicFrameChg chg="add mod">
          <ac:chgData name="Ragu Raman" userId="1d8dfad7935295b9" providerId="LiveId" clId="{965F8897-4BCD-46C9-8C13-DC26F4A35D36}" dt="2026-02-08T01:50:55.337" v="33" actId="14100"/>
          <ac:graphicFrameMkLst>
            <pc:docMk/>
            <pc:sldMk cId="2546971707" sldId="264"/>
            <ac:graphicFrameMk id="3" creationId="{A1FFFE48-1B5E-A30D-FDB5-A3F12770B946}"/>
          </ac:graphicFrameMkLst>
        </pc:graphicFrameChg>
        <pc:graphicFrameChg chg="add mod modGraphic">
          <ac:chgData name="Ragu Raman" userId="1d8dfad7935295b9" providerId="LiveId" clId="{965F8897-4BCD-46C9-8C13-DC26F4A35D36}" dt="2026-02-08T01:55:53.734" v="60" actId="255"/>
          <ac:graphicFrameMkLst>
            <pc:docMk/>
            <pc:sldMk cId="2546971707" sldId="264"/>
            <ac:graphicFrameMk id="8" creationId="{8FB77BA2-D3A5-B10A-194E-297BEF71AA04}"/>
          </ac:graphicFrameMkLst>
        </pc:graphicFrameChg>
        <pc:graphicFrameChg chg="add mod modGraphic">
          <ac:chgData name="Ragu Raman" userId="1d8dfad7935295b9" providerId="LiveId" clId="{965F8897-4BCD-46C9-8C13-DC26F4A35D36}" dt="2026-02-08T01:58:25.172" v="68" actId="12385"/>
          <ac:graphicFrameMkLst>
            <pc:docMk/>
            <pc:sldMk cId="2546971707" sldId="264"/>
            <ac:graphicFrameMk id="9" creationId="{C3B79EC8-039F-03EF-9B56-5A6BF11FD4BA}"/>
          </ac:graphicFrameMkLst>
        </pc:graphicFrameChg>
      </pc:sldChg>
      <pc:sldChg chg="addSp delSp modSp new mod">
        <pc:chgData name="Ragu Raman" userId="1d8dfad7935295b9" providerId="LiveId" clId="{965F8897-4BCD-46C9-8C13-DC26F4A35D36}" dt="2026-02-08T01:59:28.795" v="77" actId="12385"/>
        <pc:sldMkLst>
          <pc:docMk/>
          <pc:sldMk cId="1007547768" sldId="265"/>
        </pc:sldMkLst>
        <pc:spChg chg="add del mod">
          <ac:chgData name="Ragu Raman" userId="1d8dfad7935295b9" providerId="LiveId" clId="{965F8897-4BCD-46C9-8C13-DC26F4A35D36}" dt="2026-02-08T01:59:15.168" v="76"/>
          <ac:spMkLst>
            <pc:docMk/>
            <pc:sldMk cId="1007547768" sldId="265"/>
            <ac:spMk id="2" creationId="{7BED2F0D-99D1-F1AC-2EA4-36AB01D85BCB}"/>
          </ac:spMkLst>
        </pc:spChg>
        <pc:graphicFrameChg chg="add mod modGraphic">
          <ac:chgData name="Ragu Raman" userId="1d8dfad7935295b9" providerId="LiveId" clId="{965F8897-4BCD-46C9-8C13-DC26F4A35D36}" dt="2026-02-08T01:59:28.795" v="77" actId="12385"/>
          <ac:graphicFrameMkLst>
            <pc:docMk/>
            <pc:sldMk cId="1007547768" sldId="265"/>
            <ac:graphicFrameMk id="3" creationId="{6942EC0C-DFA5-1D20-5968-C3197D10CB4C}"/>
          </ac:graphicFrameMkLst>
        </pc:graphicFrameChg>
      </pc:sldChg>
      <pc:sldChg chg="addSp delSp new del mod">
        <pc:chgData name="Ragu Raman" userId="1d8dfad7935295b9" providerId="LiveId" clId="{965F8897-4BCD-46C9-8C13-DC26F4A35D36}" dt="2026-02-08T01:55:49.440" v="55" actId="680"/>
        <pc:sldMkLst>
          <pc:docMk/>
          <pc:sldMk cId="1813695536" sldId="265"/>
        </pc:sldMkLst>
        <pc:picChg chg="add del">
          <ac:chgData name="Ragu Raman" userId="1d8dfad7935295b9" providerId="LiveId" clId="{965F8897-4BCD-46C9-8C13-DC26F4A35D36}" dt="2026-02-08T01:55:44.745" v="54" actId="22"/>
          <ac:picMkLst>
            <pc:docMk/>
            <pc:sldMk cId="1813695536" sldId="265"/>
            <ac:picMk id="3" creationId="{6AF1E696-271C-CEAD-C52A-921287C1C6A7}"/>
          </ac:picMkLst>
        </pc:picChg>
      </pc:sldChg>
      <pc:sldChg chg="addSp modSp new mod">
        <pc:chgData name="Ragu Raman" userId="1d8dfad7935295b9" providerId="LiveId" clId="{965F8897-4BCD-46C9-8C13-DC26F4A35D36}" dt="2026-02-08T02:02:26.249" v="81" actId="14100"/>
        <pc:sldMkLst>
          <pc:docMk/>
          <pc:sldMk cId="2722694723" sldId="266"/>
        </pc:sldMkLst>
        <pc:picChg chg="add mod">
          <ac:chgData name="Ragu Raman" userId="1d8dfad7935295b9" providerId="LiveId" clId="{965F8897-4BCD-46C9-8C13-DC26F4A35D36}" dt="2026-02-08T02:02:26.249" v="81" actId="14100"/>
          <ac:picMkLst>
            <pc:docMk/>
            <pc:sldMk cId="2722694723" sldId="266"/>
            <ac:picMk id="3" creationId="{87E1F8FC-442B-F0F7-8005-E2FD8CADFD3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513A34-264F-4891-ACA7-37B27D61782F}" type="datetimeFigureOut">
              <a:rPr lang="en-IN" smtClean="0"/>
              <a:t>08-02-2026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4C5F1C-FBFE-40B8-BF56-7CA90452BF76}" type="slidenum">
              <a:rPr lang="en-IN" smtClean="0"/>
              <a:t>‹#›</a:t>
            </a:fld>
            <a:endParaRPr lang="en-IN" dirty="0"/>
          </a:p>
        </p:txBody>
      </p:sp>
    </p:spTree>
    <p:extLst>
      <p:ext uri="{BB962C8B-B14F-4D97-AF65-F5344CB8AC3E}">
        <p14:creationId xmlns:p14="http://schemas.microsoft.com/office/powerpoint/2010/main" val="594766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34C5F1C-FBFE-40B8-BF56-7CA90452BF76}" type="slidenum">
              <a:rPr lang="en-IN" smtClean="0"/>
              <a:t>2</a:t>
            </a:fld>
            <a:endParaRPr lang="en-IN" dirty="0"/>
          </a:p>
        </p:txBody>
      </p:sp>
    </p:spTree>
    <p:extLst>
      <p:ext uri="{BB962C8B-B14F-4D97-AF65-F5344CB8AC3E}">
        <p14:creationId xmlns:p14="http://schemas.microsoft.com/office/powerpoint/2010/main" val="5634463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34C5F1C-FBFE-40B8-BF56-7CA90452BF76}" type="slidenum">
              <a:rPr lang="en-IN" smtClean="0"/>
              <a:t>5</a:t>
            </a:fld>
            <a:endParaRPr lang="en-IN" dirty="0"/>
          </a:p>
        </p:txBody>
      </p:sp>
    </p:spTree>
    <p:extLst>
      <p:ext uri="{BB962C8B-B14F-4D97-AF65-F5344CB8AC3E}">
        <p14:creationId xmlns:p14="http://schemas.microsoft.com/office/powerpoint/2010/main" val="1432853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27DB3-0F2F-7CD9-F6ED-19982C01544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3B298DD-B066-CF18-0591-A65C0AA67B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781EEA1-7733-B0E7-A58B-EE77D941D79A}"/>
              </a:ext>
            </a:extLst>
          </p:cNvPr>
          <p:cNvSpPr>
            <a:spLocks noGrp="1"/>
          </p:cNvSpPr>
          <p:nvPr>
            <p:ph type="dt" sz="half" idx="10"/>
          </p:nvPr>
        </p:nvSpPr>
        <p:spPr/>
        <p:txBody>
          <a:bodyPr/>
          <a:lstStyle/>
          <a:p>
            <a:fld id="{EC15FADC-EF53-44CC-96A3-3DDCB505AF8D}" type="datetimeFigureOut">
              <a:rPr lang="en-IN" smtClean="0"/>
              <a:t>08-02-2026</a:t>
            </a:fld>
            <a:endParaRPr lang="en-IN" dirty="0"/>
          </a:p>
        </p:txBody>
      </p:sp>
      <p:sp>
        <p:nvSpPr>
          <p:cNvPr id="5" name="Footer Placeholder 4">
            <a:extLst>
              <a:ext uri="{FF2B5EF4-FFF2-40B4-BE49-F238E27FC236}">
                <a16:creationId xmlns:a16="http://schemas.microsoft.com/office/drawing/2014/main" id="{503F73F5-8DCF-D906-6A26-72DA029092FF}"/>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2E3DF28C-72C2-8D29-1A7D-78E8C807332D}"/>
              </a:ext>
            </a:extLst>
          </p:cNvPr>
          <p:cNvSpPr>
            <a:spLocks noGrp="1"/>
          </p:cNvSpPr>
          <p:nvPr>
            <p:ph type="sldNum" sz="quarter" idx="12"/>
          </p:nvPr>
        </p:nvSpPr>
        <p:spPr/>
        <p:txBody>
          <a:bodyPr/>
          <a:lstStyle/>
          <a:p>
            <a:fld id="{B3CA0866-52D2-451D-9DF6-7E829D4DF45C}" type="slidenum">
              <a:rPr lang="en-IN" smtClean="0"/>
              <a:t>‹#›</a:t>
            </a:fld>
            <a:endParaRPr lang="en-IN" dirty="0"/>
          </a:p>
        </p:txBody>
      </p:sp>
    </p:spTree>
    <p:extLst>
      <p:ext uri="{BB962C8B-B14F-4D97-AF65-F5344CB8AC3E}">
        <p14:creationId xmlns:p14="http://schemas.microsoft.com/office/powerpoint/2010/main" val="36479207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D190F-DE0F-81EE-9DF3-ACECDD18BD2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3D922D5-0292-E142-75BF-FE27E03B50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8BA1B8-C20C-9B38-FE89-AB0F0161009B}"/>
              </a:ext>
            </a:extLst>
          </p:cNvPr>
          <p:cNvSpPr>
            <a:spLocks noGrp="1"/>
          </p:cNvSpPr>
          <p:nvPr>
            <p:ph type="dt" sz="half" idx="10"/>
          </p:nvPr>
        </p:nvSpPr>
        <p:spPr/>
        <p:txBody>
          <a:bodyPr/>
          <a:lstStyle/>
          <a:p>
            <a:fld id="{EC15FADC-EF53-44CC-96A3-3DDCB505AF8D}" type="datetimeFigureOut">
              <a:rPr lang="en-IN" smtClean="0"/>
              <a:t>08-02-2026</a:t>
            </a:fld>
            <a:endParaRPr lang="en-IN" dirty="0"/>
          </a:p>
        </p:txBody>
      </p:sp>
      <p:sp>
        <p:nvSpPr>
          <p:cNvPr id="5" name="Footer Placeholder 4">
            <a:extLst>
              <a:ext uri="{FF2B5EF4-FFF2-40B4-BE49-F238E27FC236}">
                <a16:creationId xmlns:a16="http://schemas.microsoft.com/office/drawing/2014/main" id="{3ABB8106-E5A2-A4EA-6ABF-9E806151E011}"/>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30068A41-B4A1-DDFD-4A9E-43C553EF8699}"/>
              </a:ext>
            </a:extLst>
          </p:cNvPr>
          <p:cNvSpPr>
            <a:spLocks noGrp="1"/>
          </p:cNvSpPr>
          <p:nvPr>
            <p:ph type="sldNum" sz="quarter" idx="12"/>
          </p:nvPr>
        </p:nvSpPr>
        <p:spPr/>
        <p:txBody>
          <a:bodyPr/>
          <a:lstStyle/>
          <a:p>
            <a:fld id="{B3CA0866-52D2-451D-9DF6-7E829D4DF45C}" type="slidenum">
              <a:rPr lang="en-IN" smtClean="0"/>
              <a:t>‹#›</a:t>
            </a:fld>
            <a:endParaRPr lang="en-IN" dirty="0"/>
          </a:p>
        </p:txBody>
      </p:sp>
    </p:spTree>
    <p:extLst>
      <p:ext uri="{BB962C8B-B14F-4D97-AF65-F5344CB8AC3E}">
        <p14:creationId xmlns:p14="http://schemas.microsoft.com/office/powerpoint/2010/main" val="2523080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171EE-49F1-C518-26EC-8E43BBF21A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6697837-526F-D8B3-8972-BAD4D5FFAE0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C75DE6-AC6C-F40F-E08B-B06E5AE80F2B}"/>
              </a:ext>
            </a:extLst>
          </p:cNvPr>
          <p:cNvSpPr>
            <a:spLocks noGrp="1"/>
          </p:cNvSpPr>
          <p:nvPr>
            <p:ph type="dt" sz="half" idx="10"/>
          </p:nvPr>
        </p:nvSpPr>
        <p:spPr/>
        <p:txBody>
          <a:bodyPr/>
          <a:lstStyle/>
          <a:p>
            <a:fld id="{EC15FADC-EF53-44CC-96A3-3DDCB505AF8D}" type="datetimeFigureOut">
              <a:rPr lang="en-IN" smtClean="0"/>
              <a:t>08-02-2026</a:t>
            </a:fld>
            <a:endParaRPr lang="en-IN" dirty="0"/>
          </a:p>
        </p:txBody>
      </p:sp>
      <p:sp>
        <p:nvSpPr>
          <p:cNvPr id="5" name="Footer Placeholder 4">
            <a:extLst>
              <a:ext uri="{FF2B5EF4-FFF2-40B4-BE49-F238E27FC236}">
                <a16:creationId xmlns:a16="http://schemas.microsoft.com/office/drawing/2014/main" id="{56BE9C73-A83A-3D72-5AA3-258110517BAB}"/>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3DBEBEB3-05C9-E0D4-7BF9-5E20939B27A3}"/>
              </a:ext>
            </a:extLst>
          </p:cNvPr>
          <p:cNvSpPr>
            <a:spLocks noGrp="1"/>
          </p:cNvSpPr>
          <p:nvPr>
            <p:ph type="sldNum" sz="quarter" idx="12"/>
          </p:nvPr>
        </p:nvSpPr>
        <p:spPr/>
        <p:txBody>
          <a:bodyPr/>
          <a:lstStyle/>
          <a:p>
            <a:fld id="{B3CA0866-52D2-451D-9DF6-7E829D4DF45C}" type="slidenum">
              <a:rPr lang="en-IN" smtClean="0"/>
              <a:t>‹#›</a:t>
            </a:fld>
            <a:endParaRPr lang="en-IN" dirty="0"/>
          </a:p>
        </p:txBody>
      </p:sp>
    </p:spTree>
    <p:extLst>
      <p:ext uri="{BB962C8B-B14F-4D97-AF65-F5344CB8AC3E}">
        <p14:creationId xmlns:p14="http://schemas.microsoft.com/office/powerpoint/2010/main" val="841615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7E203-EEC2-3F64-4EE9-841CA1753F4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6DF1492-A166-D46A-EF2C-5992E20779E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E9FEF29-ED53-8BFC-B2D4-6EC1B02E5E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395B2AF-7F1B-8E52-1C2D-F74B6C3249CF}"/>
              </a:ext>
            </a:extLst>
          </p:cNvPr>
          <p:cNvSpPr>
            <a:spLocks noGrp="1"/>
          </p:cNvSpPr>
          <p:nvPr>
            <p:ph type="dt" sz="half" idx="10"/>
          </p:nvPr>
        </p:nvSpPr>
        <p:spPr/>
        <p:txBody>
          <a:bodyPr/>
          <a:lstStyle/>
          <a:p>
            <a:fld id="{EC15FADC-EF53-44CC-96A3-3DDCB505AF8D}" type="datetimeFigureOut">
              <a:rPr lang="en-IN" smtClean="0"/>
              <a:t>08-02-2026</a:t>
            </a:fld>
            <a:endParaRPr lang="en-IN" dirty="0"/>
          </a:p>
        </p:txBody>
      </p:sp>
      <p:sp>
        <p:nvSpPr>
          <p:cNvPr id="6" name="Footer Placeholder 5">
            <a:extLst>
              <a:ext uri="{FF2B5EF4-FFF2-40B4-BE49-F238E27FC236}">
                <a16:creationId xmlns:a16="http://schemas.microsoft.com/office/drawing/2014/main" id="{1B2AE9C0-C3D4-4F14-E4DB-040BBC82CA1F}"/>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A028F120-5560-1EB6-8AB3-6799C37366F0}"/>
              </a:ext>
            </a:extLst>
          </p:cNvPr>
          <p:cNvSpPr>
            <a:spLocks noGrp="1"/>
          </p:cNvSpPr>
          <p:nvPr>
            <p:ph type="sldNum" sz="quarter" idx="12"/>
          </p:nvPr>
        </p:nvSpPr>
        <p:spPr/>
        <p:txBody>
          <a:bodyPr/>
          <a:lstStyle/>
          <a:p>
            <a:fld id="{B3CA0866-52D2-451D-9DF6-7E829D4DF45C}" type="slidenum">
              <a:rPr lang="en-IN" smtClean="0"/>
              <a:t>‹#›</a:t>
            </a:fld>
            <a:endParaRPr lang="en-IN" dirty="0"/>
          </a:p>
        </p:txBody>
      </p:sp>
    </p:spTree>
    <p:extLst>
      <p:ext uri="{BB962C8B-B14F-4D97-AF65-F5344CB8AC3E}">
        <p14:creationId xmlns:p14="http://schemas.microsoft.com/office/powerpoint/2010/main" val="29976229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51312-2529-1E83-57A3-E68734337AC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336C470-B092-0890-BCE9-DEB385E3EE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A3D358-A64D-6533-EEDC-9FC091219A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DF37FD6-62B1-19AC-C28A-646805808F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E342D6-613E-3D49-94C9-27450A3FCC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3C19E06-75B9-C1A5-7360-4D2D29C58C25}"/>
              </a:ext>
            </a:extLst>
          </p:cNvPr>
          <p:cNvSpPr>
            <a:spLocks noGrp="1"/>
          </p:cNvSpPr>
          <p:nvPr>
            <p:ph type="dt" sz="half" idx="10"/>
          </p:nvPr>
        </p:nvSpPr>
        <p:spPr/>
        <p:txBody>
          <a:bodyPr/>
          <a:lstStyle/>
          <a:p>
            <a:fld id="{EC15FADC-EF53-44CC-96A3-3DDCB505AF8D}" type="datetimeFigureOut">
              <a:rPr lang="en-IN" smtClean="0"/>
              <a:t>08-02-2026</a:t>
            </a:fld>
            <a:endParaRPr lang="en-IN" dirty="0"/>
          </a:p>
        </p:txBody>
      </p:sp>
      <p:sp>
        <p:nvSpPr>
          <p:cNvPr id="8" name="Footer Placeholder 7">
            <a:extLst>
              <a:ext uri="{FF2B5EF4-FFF2-40B4-BE49-F238E27FC236}">
                <a16:creationId xmlns:a16="http://schemas.microsoft.com/office/drawing/2014/main" id="{EAE35F74-8E0B-14B4-5C5F-33961F5A09EE}"/>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60D33D0D-AE16-30F3-40B8-0D1582C42FA1}"/>
              </a:ext>
            </a:extLst>
          </p:cNvPr>
          <p:cNvSpPr>
            <a:spLocks noGrp="1"/>
          </p:cNvSpPr>
          <p:nvPr>
            <p:ph type="sldNum" sz="quarter" idx="12"/>
          </p:nvPr>
        </p:nvSpPr>
        <p:spPr/>
        <p:txBody>
          <a:bodyPr/>
          <a:lstStyle/>
          <a:p>
            <a:fld id="{B3CA0866-52D2-451D-9DF6-7E829D4DF45C}" type="slidenum">
              <a:rPr lang="en-IN" smtClean="0"/>
              <a:t>‹#›</a:t>
            </a:fld>
            <a:endParaRPr lang="en-IN" dirty="0"/>
          </a:p>
        </p:txBody>
      </p:sp>
    </p:spTree>
    <p:extLst>
      <p:ext uri="{BB962C8B-B14F-4D97-AF65-F5344CB8AC3E}">
        <p14:creationId xmlns:p14="http://schemas.microsoft.com/office/powerpoint/2010/main" val="3251054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54281-651C-03AD-6F44-01A978AF668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AE1AA3C-EED4-A6A4-4B9D-AF18AE0811F3}"/>
              </a:ext>
            </a:extLst>
          </p:cNvPr>
          <p:cNvSpPr>
            <a:spLocks noGrp="1"/>
          </p:cNvSpPr>
          <p:nvPr>
            <p:ph type="dt" sz="half" idx="10"/>
          </p:nvPr>
        </p:nvSpPr>
        <p:spPr/>
        <p:txBody>
          <a:bodyPr/>
          <a:lstStyle/>
          <a:p>
            <a:fld id="{EC15FADC-EF53-44CC-96A3-3DDCB505AF8D}" type="datetimeFigureOut">
              <a:rPr lang="en-IN" smtClean="0"/>
              <a:t>08-02-2026</a:t>
            </a:fld>
            <a:endParaRPr lang="en-IN" dirty="0"/>
          </a:p>
        </p:txBody>
      </p:sp>
      <p:sp>
        <p:nvSpPr>
          <p:cNvPr id="4" name="Footer Placeholder 3">
            <a:extLst>
              <a:ext uri="{FF2B5EF4-FFF2-40B4-BE49-F238E27FC236}">
                <a16:creationId xmlns:a16="http://schemas.microsoft.com/office/drawing/2014/main" id="{A18B353B-17F8-A0C9-138B-25E8A4AD8256}"/>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DF2D6467-8652-0FEB-9735-AEA5CAD6CB52}"/>
              </a:ext>
            </a:extLst>
          </p:cNvPr>
          <p:cNvSpPr>
            <a:spLocks noGrp="1"/>
          </p:cNvSpPr>
          <p:nvPr>
            <p:ph type="sldNum" sz="quarter" idx="12"/>
          </p:nvPr>
        </p:nvSpPr>
        <p:spPr/>
        <p:txBody>
          <a:bodyPr/>
          <a:lstStyle/>
          <a:p>
            <a:fld id="{B3CA0866-52D2-451D-9DF6-7E829D4DF45C}" type="slidenum">
              <a:rPr lang="en-IN" smtClean="0"/>
              <a:t>‹#›</a:t>
            </a:fld>
            <a:endParaRPr lang="en-IN" dirty="0"/>
          </a:p>
        </p:txBody>
      </p:sp>
    </p:spTree>
    <p:extLst>
      <p:ext uri="{BB962C8B-B14F-4D97-AF65-F5344CB8AC3E}">
        <p14:creationId xmlns:p14="http://schemas.microsoft.com/office/powerpoint/2010/main" val="3755264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58C1DA-5389-B5E5-ADDF-3D3FB0AB7DBC}"/>
              </a:ext>
            </a:extLst>
          </p:cNvPr>
          <p:cNvSpPr>
            <a:spLocks noGrp="1"/>
          </p:cNvSpPr>
          <p:nvPr>
            <p:ph type="dt" sz="half" idx="10"/>
          </p:nvPr>
        </p:nvSpPr>
        <p:spPr/>
        <p:txBody>
          <a:bodyPr/>
          <a:lstStyle/>
          <a:p>
            <a:fld id="{EC15FADC-EF53-44CC-96A3-3DDCB505AF8D}" type="datetimeFigureOut">
              <a:rPr lang="en-IN" smtClean="0"/>
              <a:t>08-02-2026</a:t>
            </a:fld>
            <a:endParaRPr lang="en-IN" dirty="0"/>
          </a:p>
        </p:txBody>
      </p:sp>
      <p:sp>
        <p:nvSpPr>
          <p:cNvPr id="3" name="Footer Placeholder 2">
            <a:extLst>
              <a:ext uri="{FF2B5EF4-FFF2-40B4-BE49-F238E27FC236}">
                <a16:creationId xmlns:a16="http://schemas.microsoft.com/office/drawing/2014/main" id="{DDF464B6-5434-4275-4471-60275DCC4B36}"/>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E49A6B16-1F65-066F-DDD1-225396A3AB7A}"/>
              </a:ext>
            </a:extLst>
          </p:cNvPr>
          <p:cNvSpPr>
            <a:spLocks noGrp="1"/>
          </p:cNvSpPr>
          <p:nvPr>
            <p:ph type="sldNum" sz="quarter" idx="12"/>
          </p:nvPr>
        </p:nvSpPr>
        <p:spPr/>
        <p:txBody>
          <a:bodyPr/>
          <a:lstStyle/>
          <a:p>
            <a:fld id="{B3CA0866-52D2-451D-9DF6-7E829D4DF45C}" type="slidenum">
              <a:rPr lang="en-IN" smtClean="0"/>
              <a:t>‹#›</a:t>
            </a:fld>
            <a:endParaRPr lang="en-IN" dirty="0"/>
          </a:p>
        </p:txBody>
      </p:sp>
    </p:spTree>
    <p:extLst>
      <p:ext uri="{BB962C8B-B14F-4D97-AF65-F5344CB8AC3E}">
        <p14:creationId xmlns:p14="http://schemas.microsoft.com/office/powerpoint/2010/main" val="20985059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5B7CD-3193-93E8-CF17-B8E5C863EA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3B0A8E1-4745-5DB8-D8EE-73ECD3DA11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BBD605D-0D4B-5E81-4A1A-2A2BEEE8F9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63ABC6-F9C7-F727-FED4-23D93C862399}"/>
              </a:ext>
            </a:extLst>
          </p:cNvPr>
          <p:cNvSpPr>
            <a:spLocks noGrp="1"/>
          </p:cNvSpPr>
          <p:nvPr>
            <p:ph type="dt" sz="half" idx="10"/>
          </p:nvPr>
        </p:nvSpPr>
        <p:spPr/>
        <p:txBody>
          <a:bodyPr/>
          <a:lstStyle/>
          <a:p>
            <a:fld id="{EC15FADC-EF53-44CC-96A3-3DDCB505AF8D}" type="datetimeFigureOut">
              <a:rPr lang="en-IN" smtClean="0"/>
              <a:t>08-02-2026</a:t>
            </a:fld>
            <a:endParaRPr lang="en-IN" dirty="0"/>
          </a:p>
        </p:txBody>
      </p:sp>
      <p:sp>
        <p:nvSpPr>
          <p:cNvPr id="6" name="Footer Placeholder 5">
            <a:extLst>
              <a:ext uri="{FF2B5EF4-FFF2-40B4-BE49-F238E27FC236}">
                <a16:creationId xmlns:a16="http://schemas.microsoft.com/office/drawing/2014/main" id="{73FDC65D-EB2B-F13F-619C-BE7DCE49487F}"/>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7DB22FF5-CF5F-7EA2-E53D-CBEF8212E962}"/>
              </a:ext>
            </a:extLst>
          </p:cNvPr>
          <p:cNvSpPr>
            <a:spLocks noGrp="1"/>
          </p:cNvSpPr>
          <p:nvPr>
            <p:ph type="sldNum" sz="quarter" idx="12"/>
          </p:nvPr>
        </p:nvSpPr>
        <p:spPr/>
        <p:txBody>
          <a:bodyPr/>
          <a:lstStyle/>
          <a:p>
            <a:fld id="{B3CA0866-52D2-451D-9DF6-7E829D4DF45C}" type="slidenum">
              <a:rPr lang="en-IN" smtClean="0"/>
              <a:t>‹#›</a:t>
            </a:fld>
            <a:endParaRPr lang="en-IN" dirty="0"/>
          </a:p>
        </p:txBody>
      </p:sp>
    </p:spTree>
    <p:extLst>
      <p:ext uri="{BB962C8B-B14F-4D97-AF65-F5344CB8AC3E}">
        <p14:creationId xmlns:p14="http://schemas.microsoft.com/office/powerpoint/2010/main" val="2505527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519D8-6A33-2DAE-8A78-0233D67F61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C49A978-76CF-3779-1717-530C8DCA07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A8C6E2C7-440E-F8D3-1FCC-F0C7B19869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B5C8C5-0D51-FF51-AC6C-0EA8549612BD}"/>
              </a:ext>
            </a:extLst>
          </p:cNvPr>
          <p:cNvSpPr>
            <a:spLocks noGrp="1"/>
          </p:cNvSpPr>
          <p:nvPr>
            <p:ph type="dt" sz="half" idx="10"/>
          </p:nvPr>
        </p:nvSpPr>
        <p:spPr/>
        <p:txBody>
          <a:bodyPr/>
          <a:lstStyle/>
          <a:p>
            <a:fld id="{EC15FADC-EF53-44CC-96A3-3DDCB505AF8D}" type="datetimeFigureOut">
              <a:rPr lang="en-IN" smtClean="0"/>
              <a:t>08-02-2026</a:t>
            </a:fld>
            <a:endParaRPr lang="en-IN" dirty="0"/>
          </a:p>
        </p:txBody>
      </p:sp>
      <p:sp>
        <p:nvSpPr>
          <p:cNvPr id="6" name="Footer Placeholder 5">
            <a:extLst>
              <a:ext uri="{FF2B5EF4-FFF2-40B4-BE49-F238E27FC236}">
                <a16:creationId xmlns:a16="http://schemas.microsoft.com/office/drawing/2014/main" id="{F498C0B8-7BA3-3992-41C7-B97C6979319F}"/>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1FD35EC7-6643-EA22-46A2-0C5D8CA5F8E3}"/>
              </a:ext>
            </a:extLst>
          </p:cNvPr>
          <p:cNvSpPr>
            <a:spLocks noGrp="1"/>
          </p:cNvSpPr>
          <p:nvPr>
            <p:ph type="sldNum" sz="quarter" idx="12"/>
          </p:nvPr>
        </p:nvSpPr>
        <p:spPr/>
        <p:txBody>
          <a:bodyPr/>
          <a:lstStyle/>
          <a:p>
            <a:fld id="{B3CA0866-52D2-451D-9DF6-7E829D4DF45C}" type="slidenum">
              <a:rPr lang="en-IN" smtClean="0"/>
              <a:t>‹#›</a:t>
            </a:fld>
            <a:endParaRPr lang="en-IN" dirty="0"/>
          </a:p>
        </p:txBody>
      </p:sp>
    </p:spTree>
    <p:extLst>
      <p:ext uri="{BB962C8B-B14F-4D97-AF65-F5344CB8AC3E}">
        <p14:creationId xmlns:p14="http://schemas.microsoft.com/office/powerpoint/2010/main" val="1453445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41201-28B4-3929-6A95-3C1D20B422F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4681DC3-33A6-52C2-08DB-A080D679DE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8929A4-D0B0-BCCE-96F8-063139B54667}"/>
              </a:ext>
            </a:extLst>
          </p:cNvPr>
          <p:cNvSpPr>
            <a:spLocks noGrp="1"/>
          </p:cNvSpPr>
          <p:nvPr>
            <p:ph type="dt" sz="half" idx="10"/>
          </p:nvPr>
        </p:nvSpPr>
        <p:spPr/>
        <p:txBody>
          <a:bodyPr/>
          <a:lstStyle/>
          <a:p>
            <a:fld id="{EC15FADC-EF53-44CC-96A3-3DDCB505AF8D}" type="datetimeFigureOut">
              <a:rPr lang="en-IN" smtClean="0"/>
              <a:t>08-02-2026</a:t>
            </a:fld>
            <a:endParaRPr lang="en-IN" dirty="0"/>
          </a:p>
        </p:txBody>
      </p:sp>
      <p:sp>
        <p:nvSpPr>
          <p:cNvPr id="5" name="Footer Placeholder 4">
            <a:extLst>
              <a:ext uri="{FF2B5EF4-FFF2-40B4-BE49-F238E27FC236}">
                <a16:creationId xmlns:a16="http://schemas.microsoft.com/office/drawing/2014/main" id="{EAE3252F-7D2C-5C4F-60A9-3722D4182F7D}"/>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8B653AD1-497F-61B0-BCB5-9F3D5BDE858F}"/>
              </a:ext>
            </a:extLst>
          </p:cNvPr>
          <p:cNvSpPr>
            <a:spLocks noGrp="1"/>
          </p:cNvSpPr>
          <p:nvPr>
            <p:ph type="sldNum" sz="quarter" idx="12"/>
          </p:nvPr>
        </p:nvSpPr>
        <p:spPr/>
        <p:txBody>
          <a:bodyPr/>
          <a:lstStyle/>
          <a:p>
            <a:fld id="{B3CA0866-52D2-451D-9DF6-7E829D4DF45C}" type="slidenum">
              <a:rPr lang="en-IN" smtClean="0"/>
              <a:t>‹#›</a:t>
            </a:fld>
            <a:endParaRPr lang="en-IN" dirty="0"/>
          </a:p>
        </p:txBody>
      </p:sp>
    </p:spTree>
    <p:extLst>
      <p:ext uri="{BB962C8B-B14F-4D97-AF65-F5344CB8AC3E}">
        <p14:creationId xmlns:p14="http://schemas.microsoft.com/office/powerpoint/2010/main" val="25428168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72C0F2-F226-A500-124B-326E916A174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6F78794-82CF-C13C-4CF7-823AC8DC6E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7B1CAF-DB7A-95E2-E613-F4038388477E}"/>
              </a:ext>
            </a:extLst>
          </p:cNvPr>
          <p:cNvSpPr>
            <a:spLocks noGrp="1"/>
          </p:cNvSpPr>
          <p:nvPr>
            <p:ph type="dt" sz="half" idx="10"/>
          </p:nvPr>
        </p:nvSpPr>
        <p:spPr/>
        <p:txBody>
          <a:bodyPr/>
          <a:lstStyle/>
          <a:p>
            <a:fld id="{EC15FADC-EF53-44CC-96A3-3DDCB505AF8D}" type="datetimeFigureOut">
              <a:rPr lang="en-IN" smtClean="0"/>
              <a:t>08-02-2026</a:t>
            </a:fld>
            <a:endParaRPr lang="en-IN" dirty="0"/>
          </a:p>
        </p:txBody>
      </p:sp>
      <p:sp>
        <p:nvSpPr>
          <p:cNvPr id="5" name="Footer Placeholder 4">
            <a:extLst>
              <a:ext uri="{FF2B5EF4-FFF2-40B4-BE49-F238E27FC236}">
                <a16:creationId xmlns:a16="http://schemas.microsoft.com/office/drawing/2014/main" id="{1D68B8FD-9330-1242-213C-3B9E054ADAA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83B29585-55BD-ADD9-DCE6-E6C0C77D24B2}"/>
              </a:ext>
            </a:extLst>
          </p:cNvPr>
          <p:cNvSpPr>
            <a:spLocks noGrp="1"/>
          </p:cNvSpPr>
          <p:nvPr>
            <p:ph type="sldNum" sz="quarter" idx="12"/>
          </p:nvPr>
        </p:nvSpPr>
        <p:spPr/>
        <p:txBody>
          <a:bodyPr/>
          <a:lstStyle/>
          <a:p>
            <a:fld id="{B3CA0866-52D2-451D-9DF6-7E829D4DF45C}" type="slidenum">
              <a:rPr lang="en-IN" smtClean="0"/>
              <a:t>‹#›</a:t>
            </a:fld>
            <a:endParaRPr lang="en-IN" dirty="0"/>
          </a:p>
        </p:txBody>
      </p:sp>
    </p:spTree>
    <p:extLst>
      <p:ext uri="{BB962C8B-B14F-4D97-AF65-F5344CB8AC3E}">
        <p14:creationId xmlns:p14="http://schemas.microsoft.com/office/powerpoint/2010/main" val="17015509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F407B6-A4B0-0844-D477-A7D75DDC10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CFAF3B0-65D1-3215-9E87-0D80E68892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737CC8-0EF2-EDE5-2704-0844CB4F34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C15FADC-EF53-44CC-96A3-3DDCB505AF8D}" type="datetimeFigureOut">
              <a:rPr lang="en-IN" smtClean="0"/>
              <a:t>08-02-2026</a:t>
            </a:fld>
            <a:endParaRPr lang="en-IN" dirty="0"/>
          </a:p>
        </p:txBody>
      </p:sp>
      <p:sp>
        <p:nvSpPr>
          <p:cNvPr id="5" name="Footer Placeholder 4">
            <a:extLst>
              <a:ext uri="{FF2B5EF4-FFF2-40B4-BE49-F238E27FC236}">
                <a16:creationId xmlns:a16="http://schemas.microsoft.com/office/drawing/2014/main" id="{080AAB41-3E10-0372-2B4F-A6235DC2DE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dirty="0"/>
          </a:p>
        </p:txBody>
      </p:sp>
      <p:sp>
        <p:nvSpPr>
          <p:cNvPr id="6" name="Slide Number Placeholder 5">
            <a:extLst>
              <a:ext uri="{FF2B5EF4-FFF2-40B4-BE49-F238E27FC236}">
                <a16:creationId xmlns:a16="http://schemas.microsoft.com/office/drawing/2014/main" id="{22600779-4AEC-09B4-41F4-40C0CAF868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CA0866-52D2-451D-9DF6-7E829D4DF45C}" type="slidenum">
              <a:rPr lang="en-IN" smtClean="0"/>
              <a:t>‹#›</a:t>
            </a:fld>
            <a:endParaRPr lang="en-IN" dirty="0"/>
          </a:p>
        </p:txBody>
      </p:sp>
    </p:spTree>
    <p:extLst>
      <p:ext uri="{BB962C8B-B14F-4D97-AF65-F5344CB8AC3E}">
        <p14:creationId xmlns:p14="http://schemas.microsoft.com/office/powerpoint/2010/main" val="3879900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hyperlink" Target="https://ieeexplore.ieee.org/document/10535206"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2B52CDC5-3DC9-EBDF-5A74-532D8591ADC4}"/>
              </a:ext>
            </a:extLst>
          </p:cNvPr>
          <p:cNvSpPr txBox="1"/>
          <p:nvPr/>
        </p:nvSpPr>
        <p:spPr>
          <a:xfrm>
            <a:off x="3044353" y="4438095"/>
            <a:ext cx="7187184" cy="2308324"/>
          </a:xfrm>
          <a:prstGeom prst="rect">
            <a:avLst/>
          </a:prstGeom>
          <a:noFill/>
        </p:spPr>
        <p:txBody>
          <a:bodyPr wrap="square" rtlCol="0">
            <a:spAutoFit/>
          </a:bodyPr>
          <a:lstStyle/>
          <a:p>
            <a:r>
              <a:rPr lang="en-IN" sz="2400" b="1" dirty="0"/>
              <a:t>Team Members:</a:t>
            </a:r>
          </a:p>
          <a:p>
            <a:endParaRPr lang="en-IN" sz="2400" dirty="0"/>
          </a:p>
          <a:p>
            <a:r>
              <a:rPr lang="en-IN" sz="2400" dirty="0"/>
              <a:t>422422205003	</a:t>
            </a:r>
            <a:r>
              <a:rPr lang="en-IN" sz="2400" b="1" dirty="0"/>
              <a:t>RAGURAMAN M</a:t>
            </a:r>
          </a:p>
          <a:p>
            <a:r>
              <a:rPr lang="en-IN" sz="2400" dirty="0"/>
              <a:t>422422205018	</a:t>
            </a:r>
            <a:r>
              <a:rPr lang="en-IN" sz="2400" b="1" dirty="0"/>
              <a:t>DHINESH KUMAR V</a:t>
            </a:r>
          </a:p>
          <a:p>
            <a:r>
              <a:rPr lang="en-IN" sz="2400" dirty="0"/>
              <a:t>422422205052	</a:t>
            </a:r>
            <a:r>
              <a:rPr lang="en-IN" sz="2400" b="1" dirty="0"/>
              <a:t>SELVA KUMAR K</a:t>
            </a:r>
          </a:p>
          <a:p>
            <a:r>
              <a:rPr lang="en-IN" sz="2400" dirty="0"/>
              <a:t>422422205055 	</a:t>
            </a:r>
            <a:r>
              <a:rPr lang="en-IN" sz="2400" b="1" dirty="0"/>
              <a:t>RABINSON R</a:t>
            </a:r>
          </a:p>
        </p:txBody>
      </p:sp>
      <p:sp>
        <p:nvSpPr>
          <p:cNvPr id="11" name="TextBox 10">
            <a:extLst>
              <a:ext uri="{FF2B5EF4-FFF2-40B4-BE49-F238E27FC236}">
                <a16:creationId xmlns:a16="http://schemas.microsoft.com/office/drawing/2014/main" id="{E7B1B76F-A102-FC4B-00F1-C870350EB8C9}"/>
              </a:ext>
            </a:extLst>
          </p:cNvPr>
          <p:cNvSpPr txBox="1"/>
          <p:nvPr/>
        </p:nvSpPr>
        <p:spPr>
          <a:xfrm>
            <a:off x="3044353" y="3319089"/>
            <a:ext cx="2568158" cy="400110"/>
          </a:xfrm>
          <a:prstGeom prst="rect">
            <a:avLst/>
          </a:prstGeom>
          <a:noFill/>
        </p:spPr>
        <p:txBody>
          <a:bodyPr wrap="square" rtlCol="0">
            <a:spAutoFit/>
          </a:bodyPr>
          <a:lstStyle/>
          <a:p>
            <a:r>
              <a:rPr lang="en-IN" sz="2000" b="1" dirty="0"/>
              <a:t>BATCH NO: 02</a:t>
            </a:r>
            <a:endParaRPr lang="en-IN" sz="2000" dirty="0"/>
          </a:p>
        </p:txBody>
      </p:sp>
      <p:sp>
        <p:nvSpPr>
          <p:cNvPr id="12" name="TextBox 11">
            <a:extLst>
              <a:ext uri="{FF2B5EF4-FFF2-40B4-BE49-F238E27FC236}">
                <a16:creationId xmlns:a16="http://schemas.microsoft.com/office/drawing/2014/main" id="{56B91D65-D8A1-14C6-53FE-2993C5291966}"/>
              </a:ext>
            </a:extLst>
          </p:cNvPr>
          <p:cNvSpPr txBox="1"/>
          <p:nvPr/>
        </p:nvSpPr>
        <p:spPr>
          <a:xfrm>
            <a:off x="3034825" y="3840367"/>
            <a:ext cx="6828659" cy="400110"/>
          </a:xfrm>
          <a:prstGeom prst="rect">
            <a:avLst/>
          </a:prstGeom>
          <a:noFill/>
        </p:spPr>
        <p:txBody>
          <a:bodyPr wrap="square" rtlCol="0">
            <a:spAutoFit/>
          </a:bodyPr>
          <a:lstStyle/>
          <a:p>
            <a:r>
              <a:rPr lang="en-IN" sz="2000" b="1" dirty="0"/>
              <a:t>SUPERVISOR: Dr. R. Shyamala, M.E., Ph.D., AP/IT</a:t>
            </a:r>
          </a:p>
        </p:txBody>
      </p:sp>
      <p:pic>
        <p:nvPicPr>
          <p:cNvPr id="13" name="Picture 2">
            <a:extLst>
              <a:ext uri="{FF2B5EF4-FFF2-40B4-BE49-F238E27FC236}">
                <a16:creationId xmlns:a16="http://schemas.microsoft.com/office/drawing/2014/main" id="{D3B53134-A1AE-9A0E-BF88-34DED15F753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5466"/>
          <a:stretch>
            <a:fillRect/>
          </a:stretch>
        </p:blipFill>
        <p:spPr bwMode="auto">
          <a:xfrm>
            <a:off x="1583819" y="497713"/>
            <a:ext cx="898647" cy="88588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51B83B2D-6D39-2273-ABC5-CE8F68E05587}"/>
              </a:ext>
            </a:extLst>
          </p:cNvPr>
          <p:cNvSpPr txBox="1"/>
          <p:nvPr/>
        </p:nvSpPr>
        <p:spPr>
          <a:xfrm>
            <a:off x="2033142" y="2647092"/>
            <a:ext cx="10314432" cy="461665"/>
          </a:xfrm>
          <a:prstGeom prst="rect">
            <a:avLst/>
          </a:prstGeom>
          <a:noFill/>
        </p:spPr>
        <p:txBody>
          <a:bodyPr wrap="square" rtlCol="0">
            <a:spAutoFit/>
          </a:bodyPr>
          <a:lstStyle/>
          <a:p>
            <a:r>
              <a:rPr lang="en-US" sz="2400" b="1" dirty="0"/>
              <a:t>Multi-Modal Smart Contract Vulnerability Detection Using Big Data</a:t>
            </a:r>
            <a:endParaRPr lang="en-IN" sz="2400" b="1" dirty="0"/>
          </a:p>
        </p:txBody>
      </p:sp>
      <p:sp>
        <p:nvSpPr>
          <p:cNvPr id="15" name="TextBox 14">
            <a:extLst>
              <a:ext uri="{FF2B5EF4-FFF2-40B4-BE49-F238E27FC236}">
                <a16:creationId xmlns:a16="http://schemas.microsoft.com/office/drawing/2014/main" id="{9DD0F15A-AC20-D3DC-3830-BEBCC66E380E}"/>
              </a:ext>
            </a:extLst>
          </p:cNvPr>
          <p:cNvSpPr txBox="1"/>
          <p:nvPr/>
        </p:nvSpPr>
        <p:spPr>
          <a:xfrm>
            <a:off x="5612511" y="2205582"/>
            <a:ext cx="1270070" cy="461665"/>
          </a:xfrm>
          <a:prstGeom prst="rect">
            <a:avLst/>
          </a:prstGeom>
          <a:noFill/>
        </p:spPr>
        <p:txBody>
          <a:bodyPr wrap="square">
            <a:spAutoFit/>
          </a:bodyPr>
          <a:lstStyle/>
          <a:p>
            <a:pPr>
              <a:buNone/>
            </a:pPr>
            <a:r>
              <a:rPr lang="en-IN" sz="2400" b="1" u="sng" dirty="0"/>
              <a:t>TITLE</a:t>
            </a:r>
            <a:endParaRPr lang="en-IN" sz="2800" b="1" u="sng" dirty="0"/>
          </a:p>
        </p:txBody>
      </p:sp>
      <p:sp>
        <p:nvSpPr>
          <p:cNvPr id="17" name="TextBox 16">
            <a:extLst>
              <a:ext uri="{FF2B5EF4-FFF2-40B4-BE49-F238E27FC236}">
                <a16:creationId xmlns:a16="http://schemas.microsoft.com/office/drawing/2014/main" id="{DE4F3877-B450-568F-E708-AD41320AEFB5}"/>
              </a:ext>
            </a:extLst>
          </p:cNvPr>
          <p:cNvSpPr txBox="1"/>
          <p:nvPr/>
        </p:nvSpPr>
        <p:spPr>
          <a:xfrm>
            <a:off x="2795140" y="458309"/>
            <a:ext cx="6904811" cy="1015663"/>
          </a:xfrm>
          <a:prstGeom prst="rect">
            <a:avLst/>
          </a:prstGeom>
          <a:noFill/>
        </p:spPr>
        <p:txBody>
          <a:bodyPr wrap="square">
            <a:spAutoFit/>
          </a:bodyPr>
          <a:lstStyle/>
          <a:p>
            <a:pPr algn="ctr"/>
            <a:r>
              <a:rPr lang="en-US" sz="2400" b="1" dirty="0"/>
              <a:t>University College of Engineering, Tindivanam</a:t>
            </a:r>
          </a:p>
          <a:p>
            <a:pPr algn="ctr"/>
            <a:r>
              <a:rPr lang="en-US" sz="1800" dirty="0"/>
              <a:t>(A Constituent College of Anna University, Chennai)</a:t>
            </a:r>
          </a:p>
          <a:p>
            <a:pPr algn="ctr"/>
            <a:r>
              <a:rPr lang="en-IN" sz="1800" b="1" dirty="0"/>
              <a:t>Department of Information Technology</a:t>
            </a:r>
          </a:p>
        </p:txBody>
      </p:sp>
    </p:spTree>
    <p:extLst>
      <p:ext uri="{BB962C8B-B14F-4D97-AF65-F5344CB8AC3E}">
        <p14:creationId xmlns:p14="http://schemas.microsoft.com/office/powerpoint/2010/main" val="16323561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1069B32-0B8E-80FA-4B69-805017B49C93}"/>
              </a:ext>
            </a:extLst>
          </p:cNvPr>
          <p:cNvGraphicFramePr>
            <a:graphicFrameLocks noGrp="1"/>
          </p:cNvGraphicFramePr>
          <p:nvPr>
            <p:extLst>
              <p:ext uri="{D42A27DB-BD31-4B8C-83A1-F6EECF244321}">
                <p14:modId xmlns:p14="http://schemas.microsoft.com/office/powerpoint/2010/main" val="1300134934"/>
              </p:ext>
            </p:extLst>
          </p:nvPr>
        </p:nvGraphicFramePr>
        <p:xfrm>
          <a:off x="-118" y="-1"/>
          <a:ext cx="12954118" cy="6858001"/>
        </p:xfrm>
        <a:graphic>
          <a:graphicData uri="http://schemas.openxmlformats.org/drawingml/2006/table">
            <a:tbl>
              <a:tblPr firstRow="1" firstCol="1" bandRow="1">
                <a:tableStyleId>{5C22544A-7EE6-4342-B048-85BDC9FD1C3A}</a:tableStyleId>
              </a:tblPr>
              <a:tblGrid>
                <a:gridCol w="798947">
                  <a:extLst>
                    <a:ext uri="{9D8B030D-6E8A-4147-A177-3AD203B41FA5}">
                      <a16:colId xmlns:a16="http://schemas.microsoft.com/office/drawing/2014/main" val="1604045408"/>
                    </a:ext>
                  </a:extLst>
                </a:gridCol>
                <a:gridCol w="2338943">
                  <a:extLst>
                    <a:ext uri="{9D8B030D-6E8A-4147-A177-3AD203B41FA5}">
                      <a16:colId xmlns:a16="http://schemas.microsoft.com/office/drawing/2014/main" val="3140278023"/>
                    </a:ext>
                  </a:extLst>
                </a:gridCol>
                <a:gridCol w="2160792">
                  <a:extLst>
                    <a:ext uri="{9D8B030D-6E8A-4147-A177-3AD203B41FA5}">
                      <a16:colId xmlns:a16="http://schemas.microsoft.com/office/drawing/2014/main" val="903329714"/>
                    </a:ext>
                  </a:extLst>
                </a:gridCol>
                <a:gridCol w="1852627">
                  <a:extLst>
                    <a:ext uri="{9D8B030D-6E8A-4147-A177-3AD203B41FA5}">
                      <a16:colId xmlns:a16="http://schemas.microsoft.com/office/drawing/2014/main" val="2657687268"/>
                    </a:ext>
                  </a:extLst>
                </a:gridCol>
                <a:gridCol w="1570778">
                  <a:extLst>
                    <a:ext uri="{9D8B030D-6E8A-4147-A177-3AD203B41FA5}">
                      <a16:colId xmlns:a16="http://schemas.microsoft.com/office/drawing/2014/main" val="3942841394"/>
                    </a:ext>
                  </a:extLst>
                </a:gridCol>
                <a:gridCol w="1875693">
                  <a:extLst>
                    <a:ext uri="{9D8B030D-6E8A-4147-A177-3AD203B41FA5}">
                      <a16:colId xmlns:a16="http://schemas.microsoft.com/office/drawing/2014/main" val="3722859582"/>
                    </a:ext>
                  </a:extLst>
                </a:gridCol>
                <a:gridCol w="2356338">
                  <a:extLst>
                    <a:ext uri="{9D8B030D-6E8A-4147-A177-3AD203B41FA5}">
                      <a16:colId xmlns:a16="http://schemas.microsoft.com/office/drawing/2014/main" val="3067950471"/>
                    </a:ext>
                  </a:extLst>
                </a:gridCol>
              </a:tblGrid>
              <a:tr h="617438">
                <a:tc>
                  <a:txBody>
                    <a:bodyPr/>
                    <a:lstStyle/>
                    <a:p>
                      <a:pPr algn="l"/>
                      <a:r>
                        <a:rPr lang="en-US" sz="1600" dirty="0"/>
                        <a:t>S.No</a:t>
                      </a:r>
                      <a:endParaRPr lang="en-IN" sz="1600" dirty="0"/>
                    </a:p>
                  </a:txBody>
                  <a:tcPr anchor="ctr"/>
                </a:tc>
                <a:tc>
                  <a:txBody>
                    <a:bodyPr/>
                    <a:lstStyle/>
                    <a:p>
                      <a:pPr algn="l"/>
                      <a:r>
                        <a:rPr lang="en-US" sz="1600" b="1" kern="1200" dirty="0">
                          <a:solidFill>
                            <a:schemeClr val="lt1"/>
                          </a:solidFill>
                          <a:effectLst/>
                          <a:latin typeface="+mn-lt"/>
                          <a:ea typeface="+mn-ea"/>
                          <a:cs typeface="+mn-cs"/>
                        </a:rPr>
                        <a:t>Paper (Author,Title, Journal Name,Year)</a:t>
                      </a:r>
                      <a:endParaRPr lang="en-IN" sz="1600" dirty="0"/>
                    </a:p>
                  </a:txBody>
                  <a:tcPr anchor="ctr"/>
                </a:tc>
                <a:tc>
                  <a:txBody>
                    <a:bodyPr/>
                    <a:lstStyle/>
                    <a:p>
                      <a:pPr algn="l"/>
                      <a:r>
                        <a:rPr lang="en-US" sz="1600" b="1" kern="1200" dirty="0">
                          <a:solidFill>
                            <a:schemeClr val="lt1"/>
                          </a:solidFill>
                          <a:effectLst/>
                          <a:latin typeface="+mn-lt"/>
                          <a:ea typeface="+mn-ea"/>
                          <a:cs typeface="+mn-cs"/>
                        </a:rPr>
                        <a:t>Key Idea / Approach</a:t>
                      </a:r>
                      <a:endParaRPr lang="en-IN" sz="1600" dirty="0"/>
                    </a:p>
                  </a:txBody>
                  <a:tcPr anchor="ctr"/>
                </a:tc>
                <a:tc>
                  <a:txBody>
                    <a:bodyPr/>
                    <a:lstStyle/>
                    <a:p>
                      <a:pPr algn="l"/>
                      <a:r>
                        <a:rPr lang="en-US" sz="1600" b="1" kern="1200" dirty="0">
                          <a:solidFill>
                            <a:schemeClr val="lt1"/>
                          </a:solidFill>
                          <a:effectLst/>
                          <a:latin typeface="+mn-lt"/>
                          <a:ea typeface="+mn-ea"/>
                          <a:cs typeface="+mn-cs"/>
                        </a:rPr>
                        <a:t>Advantages</a:t>
                      </a:r>
                      <a:endParaRPr lang="en-IN" sz="1600" dirty="0"/>
                    </a:p>
                  </a:txBody>
                  <a:tcPr anchor="ctr"/>
                </a:tc>
                <a:tc>
                  <a:txBody>
                    <a:bodyPr/>
                    <a:lstStyle/>
                    <a:p>
                      <a:pPr algn="l"/>
                      <a:r>
                        <a:rPr lang="en-US" sz="1600" b="1" kern="1200" dirty="0">
                          <a:solidFill>
                            <a:schemeClr val="lt1"/>
                          </a:solidFill>
                          <a:effectLst/>
                          <a:latin typeface="+mn-lt"/>
                          <a:ea typeface="+mn-ea"/>
                          <a:cs typeface="+mn-cs"/>
                        </a:rPr>
                        <a:t>Disadvantages</a:t>
                      </a:r>
                      <a:endParaRPr lang="en-IN" sz="1600" dirty="0"/>
                    </a:p>
                  </a:txBody>
                  <a:tcPr anchor="ctr"/>
                </a:tc>
                <a:tc>
                  <a:txBody>
                    <a:bodyPr/>
                    <a:lstStyle/>
                    <a:p>
                      <a:pPr algn="l"/>
                      <a:r>
                        <a:rPr lang="en-US" sz="1600" b="1" kern="1200" dirty="0">
                          <a:solidFill>
                            <a:schemeClr val="lt1"/>
                          </a:solidFill>
                          <a:effectLst/>
                          <a:latin typeface="+mn-lt"/>
                          <a:ea typeface="+mn-ea"/>
                          <a:cs typeface="+mn-cs"/>
                        </a:rPr>
                        <a:t>Evaluation Metrics</a:t>
                      </a:r>
                      <a:endParaRPr lang="en-IN" sz="1600" dirty="0"/>
                    </a:p>
                  </a:txBody>
                  <a:tcPr anchor="ctr"/>
                </a:tc>
                <a:tc>
                  <a:txBody>
                    <a:bodyPr/>
                    <a:lstStyle/>
                    <a:p>
                      <a:pPr algn="l" fontAlgn="base"/>
                      <a:r>
                        <a:rPr lang="en-US" sz="1600" b="1" kern="1200" dirty="0">
                          <a:solidFill>
                            <a:schemeClr val="lt1"/>
                          </a:solidFill>
                          <a:effectLst/>
                          <a:latin typeface="+mn-lt"/>
                          <a:ea typeface="+mn-ea"/>
                          <a:cs typeface="+mn-cs"/>
                        </a:rPr>
                        <a:t>       Data Set</a:t>
                      </a:r>
                      <a:endParaRPr lang="en-IN" sz="1600" b="1" kern="1200" dirty="0">
                        <a:solidFill>
                          <a:schemeClr val="lt1"/>
                        </a:solidFill>
                        <a:effectLst/>
                        <a:latin typeface="+mn-lt"/>
                        <a:ea typeface="+mn-ea"/>
                        <a:cs typeface="+mn-cs"/>
                      </a:endParaRPr>
                    </a:p>
                    <a:p>
                      <a:pPr algn="l"/>
                      <a:r>
                        <a:rPr lang="en-US" sz="1600" b="1" kern="1200" dirty="0">
                          <a:solidFill>
                            <a:schemeClr val="lt1"/>
                          </a:solidFill>
                          <a:effectLst/>
                          <a:latin typeface="+mn-lt"/>
                          <a:ea typeface="+mn-ea"/>
                          <a:cs typeface="+mn-cs"/>
                        </a:rPr>
                        <a:t>   (if required)</a:t>
                      </a:r>
                      <a:endParaRPr lang="en-IN" sz="1600" dirty="0"/>
                    </a:p>
                  </a:txBody>
                  <a:tcPr anchor="ctr"/>
                </a:tc>
                <a:extLst>
                  <a:ext uri="{0D108BD9-81ED-4DB2-BD59-A6C34878D82A}">
                    <a16:rowId xmlns:a16="http://schemas.microsoft.com/office/drawing/2014/main" val="4222695692"/>
                  </a:ext>
                </a:extLst>
              </a:tr>
              <a:tr h="3133439">
                <a:tc>
                  <a:txBody>
                    <a:bodyPr/>
                    <a:lstStyle/>
                    <a:p>
                      <a:pPr algn="ctr"/>
                      <a:r>
                        <a:rPr lang="en-US" sz="1600" dirty="0"/>
                        <a:t>1  </a:t>
                      </a:r>
                      <a:endParaRPr lang="en-IN" sz="1600" dirty="0"/>
                    </a:p>
                  </a:txBody>
                  <a:tcPr anchor="ctr"/>
                </a:tc>
                <a:tc>
                  <a:txBody>
                    <a:bodyPr/>
                    <a:lstStyle/>
                    <a:p>
                      <a:pPr rtl="0"/>
                      <a:r>
                        <a:rPr lang="en-US" sz="1600" b="0" i="0" u="none" strike="noStrike" kern="1200" dirty="0">
                          <a:solidFill>
                            <a:schemeClr val="dk1"/>
                          </a:solidFill>
                          <a:effectLst/>
                          <a:latin typeface="+mj-lt"/>
                          <a:ea typeface="+mn-ea"/>
                          <a:cs typeface="+mn-cs"/>
                        </a:rPr>
                        <a:t>Lian et al., "A Universal and Efficient Multi-Modal Smart Contract Vulnerability Detection Framework for Big Data," </a:t>
                      </a:r>
                      <a:r>
                        <a:rPr lang="en-US" sz="1600" b="0" i="1" u="none" strike="noStrike" kern="1200" dirty="0">
                          <a:solidFill>
                            <a:schemeClr val="dk1"/>
                          </a:solidFill>
                          <a:effectLst/>
                          <a:latin typeface="+mj-lt"/>
                          <a:ea typeface="+mn-ea"/>
                          <a:cs typeface="+mn-cs"/>
                        </a:rPr>
                        <a:t>IEEE Trans. on Big Data</a:t>
                      </a:r>
                      <a:r>
                        <a:rPr lang="en-US" sz="1600" b="0" i="0" u="none" strike="noStrike" kern="1200" dirty="0">
                          <a:solidFill>
                            <a:schemeClr val="dk1"/>
                          </a:solidFill>
                          <a:effectLst/>
                          <a:latin typeface="+mj-lt"/>
                          <a:ea typeface="+mn-ea"/>
                          <a:cs typeface="+mn-cs"/>
                        </a:rPr>
                        <a:t>, 2025.</a:t>
                      </a:r>
                      <a:endParaRPr lang="en-US" sz="1600" b="0" dirty="0">
                        <a:effectLst/>
                        <a:latin typeface="+mj-lt"/>
                      </a:endParaRPr>
                    </a:p>
                    <a:p>
                      <a:br>
                        <a:rPr lang="en-US" sz="1600" b="0" dirty="0">
                          <a:latin typeface="+mj-lt"/>
                        </a:rPr>
                      </a:br>
                      <a:endParaRPr lang="en-GB" sz="1600" b="0" kern="1200" dirty="0">
                        <a:solidFill>
                          <a:schemeClr val="dk1"/>
                        </a:solidFill>
                        <a:effectLst/>
                        <a:latin typeface="+mj-lt"/>
                        <a:ea typeface="+mn-ea"/>
                        <a:cs typeface="+mn-cs"/>
                      </a:endParaRPr>
                    </a:p>
                  </a:txBody>
                  <a:tcPr/>
                </a:tc>
                <a:tc>
                  <a:txBody>
                    <a:bodyPr/>
                    <a:lstStyle/>
                    <a:p>
                      <a:pPr rtl="0" fontAlgn="t">
                        <a:buNone/>
                      </a:pPr>
                      <a:r>
                        <a:rPr lang="en-US" sz="1600" b="0" i="0" u="none" strike="noStrike" dirty="0">
                          <a:solidFill>
                            <a:srgbClr val="1F1F1F"/>
                          </a:solidFill>
                          <a:effectLst/>
                          <a:latin typeface="+mj-lt"/>
                        </a:rPr>
                        <a:t>A dual-stream framework fusing code text (Word2Vec) and logic flow (Joint Feature Graphs) using a Hybrid GNN.</a:t>
                      </a:r>
                      <a:endParaRPr lang="en-US" sz="1600" b="0" dirty="0">
                        <a:effectLst/>
                        <a:latin typeface="+mj-lt"/>
                      </a:endParaRPr>
                    </a:p>
                    <a:p>
                      <a:pPr fontAlgn="t">
                        <a:buNone/>
                      </a:pPr>
                      <a:br>
                        <a:rPr lang="en-US" sz="1600" b="0" dirty="0">
                          <a:effectLst/>
                          <a:latin typeface="+mj-lt"/>
                        </a:rPr>
                      </a:br>
                      <a:endParaRPr lang="en-US" sz="1600" b="0" dirty="0">
                        <a:effectLst/>
                        <a:latin typeface="+mj-lt"/>
                      </a:endParaRPr>
                    </a:p>
                  </a:txBody>
                  <a:tcPr marL="114300" marR="114300" marT="76200" marB="76200"/>
                </a:tc>
                <a:tc>
                  <a:txBody>
                    <a:bodyPr/>
                    <a:lstStyle/>
                    <a:p>
                      <a:pPr marL="285750" indent="-285750">
                        <a:lnSpc>
                          <a:spcPct val="150000"/>
                        </a:lnSpc>
                        <a:buFont typeface="Arial" panose="020B0604020202020204" pitchFamily="34" charset="0"/>
                        <a:buChar char="•"/>
                      </a:pPr>
                      <a:r>
                        <a:rPr lang="en-US" sz="1600" dirty="0">
                          <a:latin typeface="+mj-lt"/>
                        </a:rPr>
                        <a:t>High Precision</a:t>
                      </a:r>
                    </a:p>
                    <a:p>
                      <a:pPr marL="285750" indent="-285750">
                        <a:lnSpc>
                          <a:spcPct val="150000"/>
                        </a:lnSpc>
                        <a:buFont typeface="Arial" panose="020B0604020202020204" pitchFamily="34" charset="0"/>
                        <a:buChar char="•"/>
                      </a:pPr>
                      <a:r>
                        <a:rPr lang="en-US" sz="1600" dirty="0">
                          <a:latin typeface="+mj-lt"/>
                        </a:rPr>
                        <a:t>Scalability</a:t>
                      </a:r>
                    </a:p>
                    <a:p>
                      <a:pPr marL="285750" indent="-285750">
                        <a:lnSpc>
                          <a:spcPct val="150000"/>
                        </a:lnSpc>
                        <a:buFont typeface="Arial" panose="020B0604020202020204" pitchFamily="34" charset="0"/>
                        <a:buChar char="•"/>
                      </a:pPr>
                      <a:r>
                        <a:rPr lang="en-US" sz="1600" dirty="0">
                          <a:latin typeface="+mj-lt"/>
                        </a:rPr>
                        <a:t>Comprehensive Analysis</a:t>
                      </a:r>
                      <a:br>
                        <a:rPr lang="en-US" sz="1600" b="0" dirty="0">
                          <a:latin typeface="+mj-lt"/>
                        </a:rPr>
                      </a:br>
                      <a:endParaRPr lang="en-US" sz="1600" b="0" dirty="0">
                        <a:latin typeface="+mj-lt"/>
                      </a:endParaRPr>
                    </a:p>
                    <a:p>
                      <a:pPr marL="285750" indent="-285750">
                        <a:lnSpc>
                          <a:spcPct val="150000"/>
                        </a:lnSpc>
                        <a:buFont typeface="Arial" panose="020B0604020202020204" pitchFamily="34" charset="0"/>
                        <a:buChar char="•"/>
                      </a:pPr>
                      <a:endParaRPr lang="en-US" sz="1600" b="0" i="0" kern="1200" dirty="0">
                        <a:solidFill>
                          <a:schemeClr val="dk1"/>
                        </a:solidFill>
                        <a:effectLst/>
                        <a:latin typeface="+mj-lt"/>
                        <a:ea typeface="+mn-ea"/>
                        <a:cs typeface="+mn-cs"/>
                      </a:endParaRPr>
                    </a:p>
                    <a:p>
                      <a:pPr marL="285750" indent="-285750">
                        <a:lnSpc>
                          <a:spcPct val="150000"/>
                        </a:lnSpc>
                        <a:buFont typeface="Arial" panose="020B0604020202020204" pitchFamily="34" charset="0"/>
                        <a:buChar char="•"/>
                      </a:pPr>
                      <a:endParaRPr lang="en-US" sz="1600" b="0" i="0" kern="1200" dirty="0">
                        <a:solidFill>
                          <a:schemeClr val="dk1"/>
                        </a:solidFill>
                        <a:effectLst/>
                        <a:latin typeface="+mj-lt"/>
                        <a:ea typeface="+mn-ea"/>
                        <a:cs typeface="+mn-cs"/>
                      </a:endParaRPr>
                    </a:p>
                    <a:p>
                      <a:pPr marL="285750" indent="-285750">
                        <a:lnSpc>
                          <a:spcPct val="150000"/>
                        </a:lnSpc>
                        <a:buFont typeface="Arial" panose="020B0604020202020204" pitchFamily="34" charset="0"/>
                        <a:buChar char="•"/>
                      </a:pPr>
                      <a:endParaRPr lang="en-US" sz="1600" b="0" i="0" kern="1200" dirty="0">
                        <a:solidFill>
                          <a:schemeClr val="dk1"/>
                        </a:solidFill>
                        <a:effectLst/>
                        <a:latin typeface="+mj-lt"/>
                        <a:ea typeface="+mn-ea"/>
                        <a:cs typeface="+mn-cs"/>
                      </a:endParaRPr>
                    </a:p>
                  </a:txBody>
                  <a:tcPr anchor="ctr"/>
                </a:tc>
                <a:tc>
                  <a:txBody>
                    <a:bodyPr/>
                    <a:lstStyle/>
                    <a:p>
                      <a:pPr marL="285750" indent="-285750">
                        <a:buFont typeface="Arial" panose="020B0604020202020204" pitchFamily="34" charset="0"/>
                        <a:buChar char="•"/>
                      </a:pPr>
                      <a:r>
                        <a:rPr lang="en-US" sz="1600" dirty="0">
                          <a:latin typeface="+mj-lt"/>
                        </a:rPr>
                        <a:t>Resource Intensive</a:t>
                      </a:r>
                    </a:p>
                    <a:p>
                      <a:pPr marL="285750" indent="-285750">
                        <a:buFont typeface="Arial" panose="020B0604020202020204" pitchFamily="34" charset="0"/>
                        <a:buChar char="•"/>
                      </a:pPr>
                      <a:endParaRPr lang="en-US" sz="1600" b="0" dirty="0">
                        <a:latin typeface="+mj-lt"/>
                      </a:endParaRPr>
                    </a:p>
                    <a:p>
                      <a:pPr marL="285750" indent="-285750">
                        <a:buFont typeface="Arial" panose="020B0604020202020204" pitchFamily="34" charset="0"/>
                        <a:buChar char="•"/>
                      </a:pPr>
                      <a:r>
                        <a:rPr lang="en-US" sz="1600" dirty="0">
                          <a:latin typeface="+mj-lt"/>
                        </a:rPr>
                        <a:t>Context Loss</a:t>
                      </a:r>
                    </a:p>
                    <a:p>
                      <a:endParaRPr lang="en-US" sz="1600" b="0" dirty="0">
                        <a:latin typeface="+mj-lt"/>
                      </a:endParaRPr>
                    </a:p>
                    <a:p>
                      <a:endParaRPr lang="en-US" sz="1600" b="0" dirty="0">
                        <a:latin typeface="+mj-lt"/>
                      </a:endParaRPr>
                    </a:p>
                    <a:p>
                      <a:endParaRPr lang="en-US" sz="1600" b="0" dirty="0">
                        <a:latin typeface="+mj-lt"/>
                      </a:endParaRPr>
                    </a:p>
                    <a:p>
                      <a:endParaRPr lang="en-US" sz="1600" b="0" dirty="0">
                        <a:latin typeface="+mj-lt"/>
                      </a:endParaRPr>
                    </a:p>
                    <a:p>
                      <a:endParaRPr lang="en-US" sz="1600" b="0" dirty="0">
                        <a:latin typeface="+mj-lt"/>
                      </a:endParaRPr>
                    </a:p>
                    <a:p>
                      <a:br>
                        <a:rPr lang="en-US" sz="1600" b="0" dirty="0">
                          <a:latin typeface="+mj-lt"/>
                        </a:rPr>
                      </a:br>
                      <a:endParaRPr lang="en-IN" sz="1600" b="0" dirty="0">
                        <a:latin typeface="+mj-lt"/>
                      </a:endParaRPr>
                    </a:p>
                  </a:txBody>
                  <a:tcPr anchor="ctr"/>
                </a:tc>
                <a:tc>
                  <a:txBody>
                    <a:bodyPr/>
                    <a:lstStyle/>
                    <a:p>
                      <a:pPr marL="0" indent="0" algn="l">
                        <a:buNone/>
                      </a:pPr>
                      <a:endParaRPr lang="en-US" sz="1600" dirty="0">
                        <a:latin typeface="+mj-lt"/>
                      </a:endParaRPr>
                    </a:p>
                    <a:p>
                      <a:pPr marL="0" indent="0" algn="l">
                        <a:buNone/>
                      </a:pPr>
                      <a:r>
                        <a:rPr lang="en-US" sz="1600" dirty="0">
                          <a:latin typeface="+mj-lt"/>
                        </a:rPr>
                        <a:t>2. False Alarm Rate (FAR): 0.63% </a:t>
                      </a:r>
                      <a:endParaRPr lang="en-IN" sz="1600" b="0" dirty="0">
                        <a:latin typeface="+mj-lt"/>
                      </a:endParaRPr>
                    </a:p>
                  </a:txBody>
                  <a:tcPr anchor="ctr"/>
                </a:tc>
                <a:tc>
                  <a:txBody>
                    <a:bodyPr/>
                    <a:lstStyle/>
                    <a:p>
                      <a:pPr algn="just"/>
                      <a:r>
                        <a:rPr lang="en-GB" sz="1600" b="0" kern="1200" dirty="0">
                          <a:solidFill>
                            <a:schemeClr val="dk1"/>
                          </a:solidFill>
                          <a:effectLst/>
                          <a:latin typeface="+mj-lt"/>
                          <a:ea typeface="+mn-ea"/>
                          <a:cs typeface="+mn-cs"/>
                        </a:rPr>
                        <a:t>.               </a:t>
                      </a:r>
                      <a:endParaRPr lang="en-IN" sz="1600" b="0" dirty="0">
                        <a:latin typeface="+mj-lt"/>
                      </a:endParaRPr>
                    </a:p>
                  </a:txBody>
                  <a:tcPr anchor="ctr"/>
                </a:tc>
                <a:extLst>
                  <a:ext uri="{0D108BD9-81ED-4DB2-BD59-A6C34878D82A}">
                    <a16:rowId xmlns:a16="http://schemas.microsoft.com/office/drawing/2014/main" val="1429471464"/>
                  </a:ext>
                </a:extLst>
              </a:tr>
              <a:tr h="3107124">
                <a:tc>
                  <a:txBody>
                    <a:bodyPr/>
                    <a:lstStyle/>
                    <a:p>
                      <a:pPr algn="ctr"/>
                      <a:r>
                        <a:rPr lang="en-US" sz="1600" dirty="0"/>
                        <a:t>2</a:t>
                      </a:r>
                      <a:endParaRPr lang="en-IN" sz="1600" dirty="0"/>
                    </a:p>
                  </a:txBody>
                  <a:tcPr anchor="ctr"/>
                </a:tc>
                <a:tc>
                  <a:txBody>
                    <a:bodyPr/>
                    <a:lstStyle/>
                    <a:p>
                      <a:pPr rtl="0"/>
                      <a:r>
                        <a:rPr lang="en-US" sz="1600" b="0" i="0" u="none" strike="noStrike" kern="1200" dirty="0">
                          <a:solidFill>
                            <a:schemeClr val="dk1"/>
                          </a:solidFill>
                          <a:effectLst/>
                          <a:latin typeface="+mj-lt"/>
                          <a:ea typeface="+mn-ea"/>
                          <a:cs typeface="+mn-cs"/>
                        </a:rPr>
                        <a:t>Lin et al., "A Lightweight vulnerability detection method for long smart contracts based on bimodal feature fusion," </a:t>
                      </a:r>
                      <a:r>
                        <a:rPr lang="en-US" sz="1600" b="0" i="1" u="none" strike="noStrike" kern="1200" dirty="0">
                          <a:solidFill>
                            <a:schemeClr val="dk1"/>
                          </a:solidFill>
                          <a:effectLst/>
                          <a:latin typeface="+mj-lt"/>
                          <a:ea typeface="+mn-ea"/>
                          <a:cs typeface="+mn-cs"/>
                        </a:rPr>
                        <a:t>Cybersecurity</a:t>
                      </a:r>
                      <a:r>
                        <a:rPr lang="en-US" sz="1600" b="0" i="0" u="none" strike="noStrike" kern="1200" dirty="0">
                          <a:solidFill>
                            <a:schemeClr val="dk1"/>
                          </a:solidFill>
                          <a:effectLst/>
                          <a:latin typeface="+mj-lt"/>
                          <a:ea typeface="+mn-ea"/>
                          <a:cs typeface="+mn-cs"/>
                        </a:rPr>
                        <a:t>, 2025.</a:t>
                      </a:r>
                      <a:endParaRPr lang="en-US" sz="1600" b="0" dirty="0">
                        <a:effectLst/>
                        <a:latin typeface="+mj-lt"/>
                      </a:endParaRPr>
                    </a:p>
                    <a:p>
                      <a:br>
                        <a:rPr lang="en-US" sz="1600" b="0" dirty="0">
                          <a:latin typeface="+mj-lt"/>
                        </a:rPr>
                      </a:br>
                      <a:endParaRPr lang="en-IN" sz="1600" b="0" dirty="0">
                        <a:latin typeface="+mj-lt"/>
                      </a:endParaRPr>
                    </a:p>
                  </a:txBody>
                  <a:tcPr/>
                </a:tc>
                <a:tc>
                  <a:txBody>
                    <a:bodyPr/>
                    <a:lstStyle/>
                    <a:p>
                      <a:pPr rtl="0"/>
                      <a:r>
                        <a:rPr lang="en-US" sz="1600" b="0" i="0" u="none" strike="noStrike" kern="1200" dirty="0">
                          <a:solidFill>
                            <a:schemeClr val="dk1"/>
                          </a:solidFill>
                          <a:effectLst/>
                          <a:latin typeface="+mj-lt"/>
                          <a:ea typeface="+mn-ea"/>
                          <a:cs typeface="+mn-cs"/>
                        </a:rPr>
                        <a:t>Bimodal fusion of Source Code and Opcode using a Hierarchical Attention Network (HAN) with Bi-GRU for long contracts.</a:t>
                      </a:r>
                      <a:endParaRPr lang="en-US" sz="1600" b="0" dirty="0">
                        <a:effectLst/>
                        <a:latin typeface="+mj-lt"/>
                      </a:endParaRPr>
                    </a:p>
                    <a:p>
                      <a:br>
                        <a:rPr lang="en-US" sz="1600" b="0" dirty="0">
                          <a:latin typeface="+mj-lt"/>
                        </a:rPr>
                      </a:br>
                      <a:endParaRPr lang="en-IN" sz="1600" b="0" dirty="0">
                        <a:latin typeface="+mj-lt"/>
                      </a:endParaRPr>
                    </a:p>
                  </a:txBody>
                  <a:tcPr/>
                </a:tc>
                <a:tc>
                  <a:txBody>
                    <a:bodyPr/>
                    <a:lstStyle/>
                    <a:p>
                      <a:pPr marL="285750" indent="-285750" algn="l">
                        <a:buFont typeface="Arial" panose="020B0604020202020204" pitchFamily="34" charset="0"/>
                        <a:buChar char="•"/>
                      </a:pPr>
                      <a:r>
                        <a:rPr lang="en-US" sz="1600" dirty="0">
                          <a:latin typeface="+mj-lt"/>
                        </a:rPr>
                        <a:t>Handles Long Contracts</a:t>
                      </a:r>
                    </a:p>
                    <a:p>
                      <a:pPr marL="285750" indent="-285750" algn="l">
                        <a:buFont typeface="Arial" panose="020B0604020202020204" pitchFamily="34" charset="0"/>
                        <a:buChar char="•"/>
                      </a:pPr>
                      <a:endParaRPr lang="en-US" sz="1600" dirty="0">
                        <a:latin typeface="+mj-lt"/>
                      </a:endParaRPr>
                    </a:p>
                    <a:p>
                      <a:pPr marL="285750" indent="-285750" algn="l">
                        <a:buFont typeface="Arial" panose="020B0604020202020204" pitchFamily="34" charset="0"/>
                        <a:buChar char="•"/>
                      </a:pPr>
                      <a:r>
                        <a:rPr lang="en-US" sz="1600" dirty="0">
                          <a:latin typeface="+mj-lt"/>
                        </a:rPr>
                        <a:t>High Efficiency</a:t>
                      </a:r>
                    </a:p>
                    <a:p>
                      <a:pPr marL="285750" indent="-285750" algn="l">
                        <a:buFont typeface="Arial" panose="020B0604020202020204" pitchFamily="34" charset="0"/>
                        <a:buChar char="•"/>
                      </a:pPr>
                      <a:endParaRPr lang="en-US" sz="1600" dirty="0">
                        <a:latin typeface="+mj-lt"/>
                      </a:endParaRPr>
                    </a:p>
                    <a:p>
                      <a:pPr marL="285750" indent="-285750" algn="l">
                        <a:buFont typeface="Arial" panose="020B0604020202020204" pitchFamily="34" charset="0"/>
                        <a:buChar char="•"/>
                      </a:pPr>
                      <a:r>
                        <a:rPr lang="en-US" sz="1600" dirty="0">
                          <a:latin typeface="+mj-lt"/>
                        </a:rPr>
                        <a:t>Complex Feature Fusion</a:t>
                      </a:r>
                    </a:p>
                  </a:txBody>
                  <a:tcPr/>
                </a:tc>
                <a:tc>
                  <a:txBody>
                    <a:bodyPr/>
                    <a:lstStyle/>
                    <a:p>
                      <a:pPr marL="285750" indent="-285750" algn="just">
                        <a:buFont typeface="Arial" panose="020B0604020202020204" pitchFamily="34" charset="0"/>
                        <a:buChar char="•"/>
                      </a:pPr>
                      <a:r>
                        <a:rPr lang="en-US" sz="1600" dirty="0">
                          <a:latin typeface="+mj-lt"/>
                        </a:rPr>
                        <a:t>Data Dependency</a:t>
                      </a:r>
                    </a:p>
                    <a:p>
                      <a:pPr marL="285750" indent="-285750" algn="just">
                        <a:buFont typeface="Arial" panose="020B0604020202020204" pitchFamily="34" charset="0"/>
                        <a:buChar char="•"/>
                      </a:pPr>
                      <a:endParaRPr lang="en-US" sz="1600" b="0" i="0" kern="1200" dirty="0">
                        <a:solidFill>
                          <a:schemeClr val="dk1"/>
                        </a:solidFill>
                        <a:effectLst/>
                        <a:latin typeface="+mj-lt"/>
                        <a:ea typeface="+mn-ea"/>
                        <a:cs typeface="+mn-cs"/>
                      </a:endParaRPr>
                    </a:p>
                    <a:p>
                      <a:pPr marL="285750" indent="-285750" algn="just">
                        <a:buFont typeface="Arial" panose="020B0604020202020204" pitchFamily="34" charset="0"/>
                        <a:buChar char="•"/>
                      </a:pPr>
                      <a:r>
                        <a:rPr lang="en-US" sz="1600" dirty="0">
                          <a:latin typeface="+mj-lt"/>
                        </a:rPr>
                        <a:t>Preprocessing Overhead</a:t>
                      </a:r>
                      <a:endParaRPr lang="en-US" sz="1600" b="0" i="0" kern="1200" dirty="0">
                        <a:solidFill>
                          <a:schemeClr val="dk1"/>
                        </a:solidFill>
                        <a:effectLst/>
                        <a:latin typeface="+mj-lt"/>
                        <a:ea typeface="+mn-ea"/>
                        <a:cs typeface="+mn-cs"/>
                      </a:endParaRPr>
                    </a:p>
                  </a:txBody>
                  <a:tcPr/>
                </a:tc>
                <a:tc>
                  <a:txBody>
                    <a:bodyPr/>
                    <a:lstStyle/>
                    <a:p>
                      <a:pPr marL="0" indent="0" algn="l">
                        <a:buNone/>
                      </a:pPr>
                      <a:endParaRPr lang="en-US" sz="1600" dirty="0">
                        <a:latin typeface="+mj-lt"/>
                      </a:endParaRPr>
                    </a:p>
                  </a:txBody>
                  <a:tcPr anchor="ctr"/>
                </a:tc>
                <a:tc>
                  <a:txBody>
                    <a:bodyPr/>
                    <a:lstStyle/>
                    <a:p>
                      <a:pPr algn="just"/>
                      <a:endParaRPr lang="en-IN" sz="1600" b="0" dirty="0">
                        <a:latin typeface="+mj-lt"/>
                      </a:endParaRPr>
                    </a:p>
                  </a:txBody>
                  <a:tcPr anchor="ctr"/>
                </a:tc>
                <a:extLst>
                  <a:ext uri="{0D108BD9-81ED-4DB2-BD59-A6C34878D82A}">
                    <a16:rowId xmlns:a16="http://schemas.microsoft.com/office/drawing/2014/main" val="972276849"/>
                  </a:ext>
                </a:extLst>
              </a:tr>
            </a:tbl>
          </a:graphicData>
        </a:graphic>
      </p:graphicFrame>
      <p:sp>
        <p:nvSpPr>
          <p:cNvPr id="3" name="TextBox 2">
            <a:extLst>
              <a:ext uri="{FF2B5EF4-FFF2-40B4-BE49-F238E27FC236}">
                <a16:creationId xmlns:a16="http://schemas.microsoft.com/office/drawing/2014/main" id="{AFB68C0E-1F9D-AD37-0C58-3B0B49EDFFCE}"/>
              </a:ext>
            </a:extLst>
          </p:cNvPr>
          <p:cNvSpPr txBox="1"/>
          <p:nvPr/>
        </p:nvSpPr>
        <p:spPr>
          <a:xfrm>
            <a:off x="8818880" y="804599"/>
            <a:ext cx="1828800" cy="1107996"/>
          </a:xfrm>
          <a:prstGeom prst="rect">
            <a:avLst/>
          </a:prstGeom>
          <a:noFill/>
        </p:spPr>
        <p:txBody>
          <a:bodyPr wrap="square" rtlCol="0">
            <a:spAutoFit/>
          </a:bodyPr>
          <a:lstStyle/>
          <a:p>
            <a:r>
              <a:rPr lang="en-US" sz="1600" dirty="0"/>
              <a:t>1.Detection Rate (Accuracy): 97.01%  </a:t>
            </a:r>
          </a:p>
          <a:p>
            <a:endParaRPr lang="en-IN" dirty="0"/>
          </a:p>
        </p:txBody>
      </p:sp>
      <p:sp>
        <p:nvSpPr>
          <p:cNvPr id="4" name="TextBox 3">
            <a:extLst>
              <a:ext uri="{FF2B5EF4-FFF2-40B4-BE49-F238E27FC236}">
                <a16:creationId xmlns:a16="http://schemas.microsoft.com/office/drawing/2014/main" id="{0833A0C3-B556-0D95-F576-DAB8D3F47B2C}"/>
              </a:ext>
            </a:extLst>
          </p:cNvPr>
          <p:cNvSpPr txBox="1"/>
          <p:nvPr/>
        </p:nvSpPr>
        <p:spPr>
          <a:xfrm>
            <a:off x="10647680" y="549106"/>
            <a:ext cx="1305832" cy="2369880"/>
          </a:xfrm>
          <a:prstGeom prst="rect">
            <a:avLst/>
          </a:prstGeom>
          <a:noFill/>
        </p:spPr>
        <p:txBody>
          <a:bodyPr wrap="square" rtlCol="0">
            <a:spAutoFit/>
          </a:bodyPr>
          <a:lstStyle/>
          <a:p>
            <a:r>
              <a:rPr lang="en-US" b="1" dirty="0">
                <a:solidFill>
                  <a:schemeClr val="dk1"/>
                </a:solidFill>
              </a:rPr>
              <a:t> </a:t>
            </a:r>
            <a:r>
              <a:rPr lang="en-US" sz="1600" b="1" dirty="0">
                <a:solidFill>
                  <a:schemeClr val="dk1"/>
                </a:solidFill>
              </a:rPr>
              <a:t>SmartBugs-Wild</a:t>
            </a:r>
            <a:r>
              <a:rPr lang="en-US" sz="1600" dirty="0">
                <a:solidFill>
                  <a:schemeClr val="dk1"/>
                </a:solidFill>
              </a:rPr>
              <a:t>: 47,000+ unique real-world contracts from Ethereum</a:t>
            </a:r>
            <a:r>
              <a:rPr lang="en-US" dirty="0">
                <a:solidFill>
                  <a:schemeClr val="dk1"/>
                </a:solidFill>
              </a:rPr>
              <a:t>.</a:t>
            </a:r>
            <a:endParaRPr lang="en-IN" dirty="0"/>
          </a:p>
        </p:txBody>
      </p:sp>
      <p:sp>
        <p:nvSpPr>
          <p:cNvPr id="5" name="TextBox 4">
            <a:extLst>
              <a:ext uri="{FF2B5EF4-FFF2-40B4-BE49-F238E27FC236}">
                <a16:creationId xmlns:a16="http://schemas.microsoft.com/office/drawing/2014/main" id="{C6183D8E-EB16-639B-81C1-DA32431F26F0}"/>
              </a:ext>
            </a:extLst>
          </p:cNvPr>
          <p:cNvSpPr txBox="1"/>
          <p:nvPr/>
        </p:nvSpPr>
        <p:spPr>
          <a:xfrm>
            <a:off x="8818880" y="3825191"/>
            <a:ext cx="1524000" cy="1354217"/>
          </a:xfrm>
          <a:prstGeom prst="rect">
            <a:avLst/>
          </a:prstGeom>
          <a:noFill/>
        </p:spPr>
        <p:txBody>
          <a:bodyPr wrap="square" rtlCol="0">
            <a:spAutoFit/>
          </a:bodyPr>
          <a:lstStyle/>
          <a:p>
            <a:r>
              <a:rPr lang="en-US" dirty="0"/>
              <a:t>1.</a:t>
            </a:r>
            <a:r>
              <a:rPr lang="en-US" sz="1600" dirty="0"/>
              <a:t>Accuracy: High performance in long contract classification</a:t>
            </a:r>
          </a:p>
        </p:txBody>
      </p:sp>
      <p:sp>
        <p:nvSpPr>
          <p:cNvPr id="6" name="TextBox 5">
            <a:extLst>
              <a:ext uri="{FF2B5EF4-FFF2-40B4-BE49-F238E27FC236}">
                <a16:creationId xmlns:a16="http://schemas.microsoft.com/office/drawing/2014/main" id="{58E126AA-58BA-805C-DB7E-A1AE4D240F03}"/>
              </a:ext>
            </a:extLst>
          </p:cNvPr>
          <p:cNvSpPr txBox="1"/>
          <p:nvPr/>
        </p:nvSpPr>
        <p:spPr>
          <a:xfrm>
            <a:off x="8818880" y="5499403"/>
            <a:ext cx="1828800" cy="1107996"/>
          </a:xfrm>
          <a:prstGeom prst="rect">
            <a:avLst/>
          </a:prstGeom>
          <a:noFill/>
        </p:spPr>
        <p:txBody>
          <a:bodyPr wrap="square" rtlCol="0">
            <a:spAutoFit/>
          </a:bodyPr>
          <a:lstStyle/>
          <a:p>
            <a:r>
              <a:rPr lang="en-US" sz="1600" dirty="0"/>
              <a:t>2.Detection Time: ~0.99s (Efficiency metric). </a:t>
            </a:r>
            <a:endParaRPr lang="en-IN" sz="1600" dirty="0"/>
          </a:p>
          <a:p>
            <a:endParaRPr lang="en-IN" dirty="0"/>
          </a:p>
        </p:txBody>
      </p:sp>
      <p:sp>
        <p:nvSpPr>
          <p:cNvPr id="7" name="TextBox 6">
            <a:extLst>
              <a:ext uri="{FF2B5EF4-FFF2-40B4-BE49-F238E27FC236}">
                <a16:creationId xmlns:a16="http://schemas.microsoft.com/office/drawing/2014/main" id="{BD999690-1590-0D0C-06C9-363FB0FA460E}"/>
              </a:ext>
            </a:extLst>
          </p:cNvPr>
          <p:cNvSpPr txBox="1"/>
          <p:nvPr/>
        </p:nvSpPr>
        <p:spPr>
          <a:xfrm>
            <a:off x="10647680" y="3825191"/>
            <a:ext cx="1524001" cy="2585323"/>
          </a:xfrm>
          <a:prstGeom prst="rect">
            <a:avLst/>
          </a:prstGeom>
          <a:noFill/>
        </p:spPr>
        <p:txBody>
          <a:bodyPr wrap="square" rtlCol="0">
            <a:spAutoFit/>
          </a:bodyPr>
          <a:lstStyle/>
          <a:p>
            <a:r>
              <a:rPr lang="en-US" sz="1600" b="1" dirty="0">
                <a:solidFill>
                  <a:schemeClr val="dk1"/>
                </a:solidFill>
              </a:rPr>
              <a:t>Ethereum Dataset</a:t>
            </a:r>
            <a:r>
              <a:rPr lang="en-US" sz="1600" dirty="0">
                <a:solidFill>
                  <a:schemeClr val="dk1"/>
                </a:solidFill>
              </a:rPr>
              <a:t>: Real-world samples from SmartBugs-Wild and labeled vulnerability types.</a:t>
            </a:r>
            <a:endParaRPr lang="en-IN" sz="1600" dirty="0"/>
          </a:p>
          <a:p>
            <a:endParaRPr lang="en-IN" dirty="0"/>
          </a:p>
        </p:txBody>
      </p:sp>
    </p:spTree>
    <p:extLst>
      <p:ext uri="{BB962C8B-B14F-4D97-AF65-F5344CB8AC3E}">
        <p14:creationId xmlns:p14="http://schemas.microsoft.com/office/powerpoint/2010/main" val="313833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BBC863E-9744-0210-18D2-D2E36AB64619}"/>
              </a:ext>
            </a:extLst>
          </p:cNvPr>
          <p:cNvGraphicFramePr>
            <a:graphicFrameLocks noGrp="1"/>
          </p:cNvGraphicFramePr>
          <p:nvPr>
            <p:extLst>
              <p:ext uri="{D42A27DB-BD31-4B8C-83A1-F6EECF244321}">
                <p14:modId xmlns:p14="http://schemas.microsoft.com/office/powerpoint/2010/main" val="2712511081"/>
              </p:ext>
            </p:extLst>
          </p:nvPr>
        </p:nvGraphicFramePr>
        <p:xfrm>
          <a:off x="0" y="0"/>
          <a:ext cx="12191995" cy="7339843"/>
        </p:xfrm>
        <a:graphic>
          <a:graphicData uri="http://schemas.openxmlformats.org/drawingml/2006/table">
            <a:tbl>
              <a:tblPr firstRow="1" firstCol="1" bandRow="1">
                <a:tableStyleId>{5C22544A-7EE6-4342-B048-85BDC9FD1C3A}</a:tableStyleId>
              </a:tblPr>
              <a:tblGrid>
                <a:gridCol w="716973">
                  <a:extLst>
                    <a:ext uri="{9D8B030D-6E8A-4147-A177-3AD203B41FA5}">
                      <a16:colId xmlns:a16="http://schemas.microsoft.com/office/drawing/2014/main" val="850779925"/>
                    </a:ext>
                  </a:extLst>
                </a:gridCol>
                <a:gridCol w="2111287">
                  <a:extLst>
                    <a:ext uri="{9D8B030D-6E8A-4147-A177-3AD203B41FA5}">
                      <a16:colId xmlns:a16="http://schemas.microsoft.com/office/drawing/2014/main" val="198362701"/>
                    </a:ext>
                  </a:extLst>
                </a:gridCol>
                <a:gridCol w="2221721">
                  <a:extLst>
                    <a:ext uri="{9D8B030D-6E8A-4147-A177-3AD203B41FA5}">
                      <a16:colId xmlns:a16="http://schemas.microsoft.com/office/drawing/2014/main" val="3192176299"/>
                    </a:ext>
                  </a:extLst>
                </a:gridCol>
                <a:gridCol w="1708006">
                  <a:extLst>
                    <a:ext uri="{9D8B030D-6E8A-4147-A177-3AD203B41FA5}">
                      <a16:colId xmlns:a16="http://schemas.microsoft.com/office/drawing/2014/main" val="4090607170"/>
                    </a:ext>
                  </a:extLst>
                </a:gridCol>
                <a:gridCol w="1632857">
                  <a:extLst>
                    <a:ext uri="{9D8B030D-6E8A-4147-A177-3AD203B41FA5}">
                      <a16:colId xmlns:a16="http://schemas.microsoft.com/office/drawing/2014/main" val="480414224"/>
                    </a:ext>
                  </a:extLst>
                </a:gridCol>
                <a:gridCol w="2059438">
                  <a:extLst>
                    <a:ext uri="{9D8B030D-6E8A-4147-A177-3AD203B41FA5}">
                      <a16:colId xmlns:a16="http://schemas.microsoft.com/office/drawing/2014/main" val="2864560483"/>
                    </a:ext>
                  </a:extLst>
                </a:gridCol>
                <a:gridCol w="1741713">
                  <a:extLst>
                    <a:ext uri="{9D8B030D-6E8A-4147-A177-3AD203B41FA5}">
                      <a16:colId xmlns:a16="http://schemas.microsoft.com/office/drawing/2014/main" val="2487150543"/>
                    </a:ext>
                  </a:extLst>
                </a:gridCol>
              </a:tblGrid>
              <a:tr h="2633840">
                <a:tc>
                  <a:txBody>
                    <a:bodyPr/>
                    <a:lstStyle/>
                    <a:p>
                      <a:pPr algn="just"/>
                      <a:r>
                        <a:rPr lang="en-US" sz="1600" b="0" dirty="0">
                          <a:solidFill>
                            <a:schemeClr val="bg1"/>
                          </a:solidFill>
                        </a:rPr>
                        <a:t>3</a:t>
                      </a:r>
                      <a:endParaRPr lang="en-IN" sz="1600" b="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r>
                        <a:rPr lang="en-US" sz="1600" b="0" i="0" u="none" strike="noStrike" kern="1200" dirty="0">
                          <a:solidFill>
                            <a:schemeClr val="tx1"/>
                          </a:solidFill>
                          <a:effectLst/>
                          <a:latin typeface="Aptos Display" panose="020B0004020202020204" pitchFamily="34" charset="0"/>
                          <a:ea typeface="+mn-ea"/>
                          <a:cs typeface="+mn-cs"/>
                        </a:rPr>
                        <a:t>Bresil et al., "Deep Learning-Based Vulnerability Detection Solutions in Smart Contracts: A Comparative and Meta-Analysis," </a:t>
                      </a:r>
                      <a:r>
                        <a:rPr lang="en-US" sz="1600" b="0" i="1" u="none" strike="noStrike" kern="1200" dirty="0">
                          <a:solidFill>
                            <a:schemeClr val="tx1"/>
                          </a:solidFill>
                          <a:effectLst/>
                          <a:latin typeface="Aptos Display" panose="020B0004020202020204" pitchFamily="34" charset="0"/>
                          <a:ea typeface="+mn-ea"/>
                          <a:cs typeface="+mn-cs"/>
                        </a:rPr>
                        <a:t>IEEE Access</a:t>
                      </a:r>
                      <a:r>
                        <a:rPr lang="en-US" sz="1600" b="0" i="0" u="none" strike="noStrike" kern="1200" dirty="0">
                          <a:solidFill>
                            <a:schemeClr val="tx1"/>
                          </a:solidFill>
                          <a:effectLst/>
                          <a:latin typeface="Aptos Display" panose="020B0004020202020204" pitchFamily="34" charset="0"/>
                          <a:ea typeface="+mn-ea"/>
                          <a:cs typeface="+mn-cs"/>
                        </a:rPr>
                        <a:t>, 2025.</a:t>
                      </a:r>
                      <a:endParaRPr lang="en-IN" sz="1600" b="0" dirty="0">
                        <a:solidFill>
                          <a:schemeClr val="tx1"/>
                        </a:solidFill>
                        <a:latin typeface="Aptos Display" panose="020B0004020202020204" pitchFamily="34" charset="0"/>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AED"/>
                    </a:solidFill>
                  </a:tcPr>
                </a:tc>
                <a:tc>
                  <a:txBody>
                    <a:bodyPr/>
                    <a:lstStyle/>
                    <a:p>
                      <a:pPr lvl="0" algn="just">
                        <a:buNone/>
                      </a:pPr>
                      <a:r>
                        <a:rPr lang="en-US" sz="1600" b="0" i="0" u="none" strike="noStrike" kern="1200" noProof="0" dirty="0">
                          <a:solidFill>
                            <a:schemeClr val="tx1"/>
                          </a:solidFill>
                          <a:effectLst/>
                          <a:latin typeface="Aptos Display" panose="020B0004020202020204" pitchFamily="34" charset="0"/>
                        </a:rPr>
                        <a:t>Meta-analysis of serial and parallel CNN-BiLSTM architectures.</a:t>
                      </a:r>
                      <a:endParaRPr lang="en-US" sz="1600" dirty="0">
                        <a:latin typeface="Aptos Display" panose="020B00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7EAED"/>
                    </a:solidFill>
                  </a:tcPr>
                </a:tc>
                <a:tc>
                  <a:txBody>
                    <a:bodyPr/>
                    <a:lstStyle/>
                    <a:p>
                      <a:pPr marL="285750" indent="-285750" algn="just">
                        <a:buFont typeface="Arial" panose="020B0604020202020204" pitchFamily="34" charset="0"/>
                        <a:buChar char="•"/>
                      </a:pPr>
                      <a:r>
                        <a:rPr lang="en-US" sz="1600" b="0" dirty="0">
                          <a:solidFill>
                            <a:schemeClr val="tx1"/>
                          </a:solidFill>
                          <a:latin typeface="Aptos Display" panose="020B0004020202020204" pitchFamily="34" charset="0"/>
                        </a:rPr>
                        <a:t>Superior Generalization</a:t>
                      </a:r>
                      <a:endParaRPr lang="en-US" sz="1600" b="0" i="0" u="none" strike="noStrike" kern="1200" dirty="0">
                        <a:solidFill>
                          <a:schemeClr val="tx1"/>
                        </a:solidFill>
                        <a:effectLst/>
                        <a:latin typeface="Aptos Display" panose="020B0004020202020204" pitchFamily="34" charset="0"/>
                        <a:ea typeface="+mn-ea"/>
                        <a:cs typeface="+mn-cs"/>
                      </a:endParaRPr>
                    </a:p>
                    <a:p>
                      <a:pPr marL="285750" indent="-285750" algn="just">
                        <a:buFont typeface="Arial" panose="020B0604020202020204" pitchFamily="34" charset="0"/>
                        <a:buChar char="•"/>
                      </a:pPr>
                      <a:r>
                        <a:rPr lang="en-US" sz="1600" b="0" dirty="0">
                          <a:solidFill>
                            <a:schemeClr val="tx1"/>
                          </a:solidFill>
                          <a:latin typeface="Aptos Display" panose="020B0004020202020204" pitchFamily="34" charset="0"/>
                        </a:rPr>
                        <a:t>Balanced Performance</a:t>
                      </a:r>
                      <a:endParaRPr lang="en-US" sz="1600" b="0" i="0" u="none" strike="noStrike" kern="1200" dirty="0">
                        <a:solidFill>
                          <a:schemeClr val="tx1"/>
                        </a:solidFill>
                        <a:effectLst/>
                        <a:latin typeface="Aptos Display" panose="020B0004020202020204" pitchFamily="34" charset="0"/>
                        <a:ea typeface="+mn-ea"/>
                        <a:cs typeface="+mn-cs"/>
                      </a:endParaRPr>
                    </a:p>
                    <a:p>
                      <a:pPr marL="285750" indent="-285750" algn="just">
                        <a:buFont typeface="Arial" panose="020B0604020202020204" pitchFamily="34" charset="0"/>
                        <a:buChar char="•"/>
                      </a:pPr>
                      <a:r>
                        <a:rPr lang="en-US" sz="1600" b="0" dirty="0">
                          <a:solidFill>
                            <a:schemeClr val="tx1"/>
                          </a:solidFill>
                          <a:latin typeface="Aptos Display" panose="020B0004020202020204" pitchFamily="34" charset="0"/>
                        </a:rPr>
                        <a:t>Robust Dataset</a:t>
                      </a:r>
                      <a:r>
                        <a:rPr lang="en-US" sz="1600" b="0" i="0" u="none" strike="noStrike" kern="1200" dirty="0">
                          <a:solidFill>
                            <a:schemeClr val="tx1"/>
                          </a:solidFill>
                          <a:effectLst/>
                          <a:latin typeface="Aptos Display" panose="020B0004020202020204" pitchFamily="34" charset="0"/>
                          <a:ea typeface="+mn-ea"/>
                          <a:cs typeface="+mn-cs"/>
                        </a:rPr>
                        <a:t>.</a:t>
                      </a:r>
                      <a:endParaRPr lang="en-US" sz="1600" b="0" i="0" kern="1200" dirty="0">
                        <a:solidFill>
                          <a:schemeClr val="tx1"/>
                        </a:solidFill>
                        <a:effectLst/>
                        <a:latin typeface="Aptos Display" panose="020B0004020202020204" pitchFamily="34" charset="0"/>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AED"/>
                    </a:solidFill>
                  </a:tcPr>
                </a:tc>
                <a:tc>
                  <a:txBody>
                    <a:bodyPr/>
                    <a:lstStyle/>
                    <a:p>
                      <a:pPr marL="285750" indent="-285750">
                        <a:buFont typeface="Arial" panose="020B0604020202020204" pitchFamily="34" charset="0"/>
                        <a:buChar char="•"/>
                      </a:pPr>
                      <a:r>
                        <a:rPr lang="en-US" sz="1600" b="0" dirty="0">
                          <a:solidFill>
                            <a:schemeClr val="tx1"/>
                          </a:solidFill>
                          <a:latin typeface="Aptos Display" panose="020B0004020202020204" pitchFamily="34" charset="0"/>
                        </a:rPr>
                        <a:t>Source Code Dependency</a:t>
                      </a:r>
                    </a:p>
                    <a:p>
                      <a:pPr marL="285750" indent="-285750">
                        <a:buFont typeface="Arial" panose="020B0604020202020204" pitchFamily="34" charset="0"/>
                        <a:buChar char="•"/>
                      </a:pPr>
                      <a:endParaRPr lang="en-US" sz="1600" b="0" dirty="0">
                        <a:solidFill>
                          <a:schemeClr val="tx1"/>
                        </a:solidFill>
                        <a:latin typeface="Aptos Display" panose="020B0004020202020204" pitchFamily="34" charset="0"/>
                      </a:endParaRPr>
                    </a:p>
                    <a:p>
                      <a:pPr marL="285750" indent="-285750">
                        <a:buFont typeface="Arial" panose="020B0604020202020204" pitchFamily="34" charset="0"/>
                        <a:buChar char="•"/>
                      </a:pPr>
                      <a:r>
                        <a:rPr lang="en-US" sz="1600" b="0" dirty="0">
                          <a:solidFill>
                            <a:schemeClr val="tx1"/>
                          </a:solidFill>
                          <a:latin typeface="Aptos Display" panose="020B0004020202020204" pitchFamily="34" charset="0"/>
                        </a:rPr>
                        <a:t>Lower Binary Performance</a:t>
                      </a:r>
                      <a:br>
                        <a:rPr lang="en-US" sz="1600" b="0" dirty="0">
                          <a:latin typeface="Aptos Display" panose="020B0004020202020204" pitchFamily="34" charset="0"/>
                        </a:rPr>
                      </a:br>
                      <a:endParaRPr lang="en-IN" sz="1600" b="0" dirty="0">
                        <a:solidFill>
                          <a:schemeClr val="tx1"/>
                        </a:solidFill>
                        <a:latin typeface="Aptos Display" panose="020B00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AED"/>
                    </a:solidFill>
                  </a:tcPr>
                </a:tc>
                <a:tc>
                  <a:txBody>
                    <a:bodyPr/>
                    <a:lstStyle/>
                    <a:p>
                      <a:r>
                        <a:rPr lang="en-US" sz="1600" b="0" dirty="0">
                          <a:solidFill>
                            <a:schemeClr val="tx1"/>
                          </a:solidFill>
                          <a:latin typeface="Aptos Display" panose="020B0004020202020204" pitchFamily="34" charset="0"/>
                        </a:rPr>
                        <a:t>1.F1-Score: Balances Precision and Recall.</a:t>
                      </a:r>
                    </a:p>
                    <a:p>
                      <a:r>
                        <a:rPr lang="en-US" sz="1600" b="0" dirty="0">
                          <a:solidFill>
                            <a:schemeClr val="tx1"/>
                          </a:solidFill>
                          <a:latin typeface="Aptos Display" panose="020B0004020202020204" pitchFamily="34" charset="0"/>
                        </a:rPr>
                        <a:t>2.Precision: Minimizes false alarms (False Positives).</a:t>
                      </a:r>
                    </a:p>
                    <a:p>
                      <a:pPr algn="just"/>
                      <a:endParaRPr lang="en-IN" sz="1600" b="0" dirty="0">
                        <a:solidFill>
                          <a:schemeClr val="tx1"/>
                        </a:solidFill>
                        <a:latin typeface="Aptos Display" panose="020B00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AED"/>
                    </a:solidFill>
                  </a:tcPr>
                </a:tc>
                <a:tc>
                  <a:txBody>
                    <a:bodyPr/>
                    <a:lstStyle/>
                    <a:p>
                      <a:pPr rtl="0"/>
                      <a:r>
                        <a:rPr lang="en-US" sz="1600" b="1" i="0" u="none" strike="noStrike" kern="1200" dirty="0">
                          <a:solidFill>
                            <a:schemeClr val="tx1"/>
                          </a:solidFill>
                          <a:effectLst/>
                          <a:latin typeface="Aptos Display" panose="020B0004020202020204" pitchFamily="34" charset="0"/>
                          <a:ea typeface="+mn-ea"/>
                          <a:cs typeface="+mn-cs"/>
                        </a:rPr>
                        <a:t>SolidiFI-benchmark &amp; SmartBugs Curated</a:t>
                      </a:r>
                      <a:r>
                        <a:rPr lang="en-US" sz="1600" b="0" i="0" u="none" strike="noStrike" kern="1200" dirty="0">
                          <a:solidFill>
                            <a:schemeClr val="tx1"/>
                          </a:solidFill>
                          <a:effectLst/>
                          <a:latin typeface="Aptos Display" panose="020B0004020202020204" pitchFamily="34" charset="0"/>
                          <a:ea typeface="+mn-ea"/>
                          <a:cs typeface="+mn-cs"/>
                        </a:rPr>
                        <a:t>: Diverse datasets with systematically injected bugs.</a:t>
                      </a:r>
                      <a:endParaRPr lang="en-US" sz="1600" b="0" dirty="0">
                        <a:solidFill>
                          <a:schemeClr val="tx1"/>
                        </a:solidFill>
                        <a:effectLst/>
                        <a:latin typeface="Aptos Display" panose="020B0004020202020204" pitchFamily="34" charset="0"/>
                      </a:endParaRPr>
                    </a:p>
                    <a:p>
                      <a:br>
                        <a:rPr lang="en-US" sz="1600" b="0" dirty="0">
                          <a:latin typeface="Aptos Display" panose="020B0004020202020204" pitchFamily="34" charset="0"/>
                        </a:rPr>
                      </a:br>
                      <a:endParaRPr lang="en-IN" sz="1600" b="0" dirty="0">
                        <a:solidFill>
                          <a:schemeClr val="tx1"/>
                        </a:solidFill>
                        <a:latin typeface="Aptos Display" panose="020B0004020202020204" pitchFamily="34" charset="0"/>
                      </a:endParaRPr>
                    </a:p>
                  </a:txBody>
                  <a:tcP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AED"/>
                    </a:solidFill>
                  </a:tcPr>
                </a:tc>
                <a:extLst>
                  <a:ext uri="{0D108BD9-81ED-4DB2-BD59-A6C34878D82A}">
                    <a16:rowId xmlns:a16="http://schemas.microsoft.com/office/drawing/2014/main" val="118673711"/>
                  </a:ext>
                </a:extLst>
              </a:tr>
              <a:tr h="2215048">
                <a:tc>
                  <a:txBody>
                    <a:bodyPr/>
                    <a:lstStyle/>
                    <a:p>
                      <a:pPr algn="just"/>
                      <a:r>
                        <a:rPr lang="en-US" sz="1600" b="0" dirty="0">
                          <a:solidFill>
                            <a:schemeClr val="bg1"/>
                          </a:solidFill>
                        </a:rPr>
                        <a:t>4</a:t>
                      </a:r>
                      <a:endParaRPr lang="en-IN" sz="1600" b="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just" rtl="0" eaLnBrk="1" fontAlgn="auto" latinLnBrk="0" hangingPunct="1">
                        <a:lnSpc>
                          <a:spcPct val="100000"/>
                        </a:lnSpc>
                        <a:spcBef>
                          <a:spcPts val="0"/>
                        </a:spcBef>
                        <a:spcAft>
                          <a:spcPts val="0"/>
                        </a:spcAft>
                        <a:buClrTx/>
                        <a:buSzTx/>
                        <a:buFontTx/>
                        <a:buNone/>
                      </a:pPr>
                      <a:r>
                        <a:rPr lang="en-US" sz="1600" b="0" i="0" u="none" strike="noStrike" kern="1200" dirty="0">
                          <a:solidFill>
                            <a:schemeClr val="dk1"/>
                          </a:solidFill>
                          <a:effectLst/>
                          <a:latin typeface="Aptos Display" panose="020B0004020202020204" pitchFamily="34" charset="0"/>
                          <a:ea typeface="+mn-ea"/>
                          <a:cs typeface="+mn-cs"/>
                        </a:rPr>
                        <a:t>Raju et al., "AI in Blockchain Security: Detecting Anomalies in Smart Contracts," </a:t>
                      </a:r>
                      <a:r>
                        <a:rPr lang="en-US" sz="1600" b="0" i="1" u="none" strike="noStrike" kern="1200" dirty="0">
                          <a:solidFill>
                            <a:schemeClr val="dk1"/>
                          </a:solidFill>
                          <a:effectLst/>
                          <a:latin typeface="Aptos Display" panose="020B0004020202020204" pitchFamily="34" charset="0"/>
                          <a:ea typeface="+mn-ea"/>
                          <a:cs typeface="+mn-cs"/>
                        </a:rPr>
                        <a:t>ICoICI</a:t>
                      </a:r>
                      <a:r>
                        <a:rPr lang="en-US" sz="1600" b="0" i="0" u="none" strike="noStrike" kern="1200" dirty="0">
                          <a:solidFill>
                            <a:schemeClr val="dk1"/>
                          </a:solidFill>
                          <a:effectLst/>
                          <a:latin typeface="Aptos Display" panose="020B0004020202020204" pitchFamily="34" charset="0"/>
                          <a:ea typeface="+mn-ea"/>
                          <a:cs typeface="+mn-cs"/>
                        </a:rPr>
                        <a:t>, 2025.</a:t>
                      </a:r>
                      <a:endParaRPr lang="en-IN" sz="1600" b="0" dirty="0">
                        <a:solidFill>
                          <a:schemeClr val="tx1"/>
                        </a:solidFill>
                        <a:latin typeface="Aptos Display" panose="020B0004020202020204" pitchFamily="34" charset="0"/>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lvl="0">
                        <a:buNone/>
                      </a:pPr>
                      <a:r>
                        <a:rPr lang="en-US" sz="1600" b="0" i="0" u="none" strike="noStrike" noProof="0" dirty="0">
                          <a:solidFill>
                            <a:srgbClr val="1F1F1F"/>
                          </a:solidFill>
                          <a:effectLst/>
                          <a:latin typeface="Aptos Display" panose="020B0004020202020204" pitchFamily="34" charset="0"/>
                        </a:rPr>
                        <a:t>GBC-driven framework for real-time contract execution anomaly detection.</a:t>
                      </a:r>
                      <a:endParaRPr lang="en-US" sz="1600" dirty="0">
                        <a:latin typeface="Aptos Display" panose="020B0004020202020204" pitchFamily="34" charset="0"/>
                      </a:endParaRPr>
                    </a:p>
                    <a:p>
                      <a:pPr fontAlgn="t">
                        <a:buNone/>
                      </a:pPr>
                      <a:br>
                        <a:rPr lang="en-US" sz="1600" b="0" dirty="0">
                          <a:effectLst/>
                          <a:latin typeface="Aptos Display" panose="020B0004020202020204" pitchFamily="34" charset="0"/>
                        </a:rPr>
                      </a:br>
                      <a:endParaRPr lang="en-US" sz="1600" b="0" dirty="0">
                        <a:effectLst/>
                        <a:latin typeface="Aptos Display" panose="020B0004020202020204" pitchFamily="34" charset="0"/>
                      </a:endParaRPr>
                    </a:p>
                  </a:txBody>
                  <a:tcPr marL="114300" marR="114300" marT="76200" marB="762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Arial" panose="020B0604020202020204" pitchFamily="34" charset="0"/>
                        <a:buChar char="•"/>
                      </a:pPr>
                      <a:r>
                        <a:rPr lang="en-US" sz="1600" dirty="0">
                          <a:latin typeface="Aptos Display" panose="020B0004020202020204" pitchFamily="34" charset="0"/>
                        </a:rPr>
                        <a:t>Proactive Security</a:t>
                      </a:r>
                      <a:endParaRPr lang="en-US" sz="1600" b="0" dirty="0">
                        <a:latin typeface="Aptos Display" panose="020B0004020202020204" pitchFamily="34" charset="0"/>
                      </a:endParaRPr>
                    </a:p>
                    <a:p>
                      <a:pPr marL="285750" indent="-285750">
                        <a:buFont typeface="Arial" panose="020B0604020202020204" pitchFamily="34" charset="0"/>
                        <a:buChar char="•"/>
                      </a:pPr>
                      <a:r>
                        <a:rPr lang="en-US" sz="1600" dirty="0">
                          <a:latin typeface="Aptos Display" panose="020B0004020202020204" pitchFamily="34" charset="0"/>
                        </a:rPr>
                        <a:t>Strong Detection</a:t>
                      </a:r>
                      <a:endParaRPr lang="en-US" sz="1600" b="0" dirty="0">
                        <a:latin typeface="Aptos Display" panose="020B0004020202020204" pitchFamily="34" charset="0"/>
                      </a:endParaRPr>
                    </a:p>
                    <a:p>
                      <a:pPr marL="285750" indent="-285750">
                        <a:buFont typeface="Arial" panose="020B0604020202020204" pitchFamily="34" charset="0"/>
                        <a:buChar char="•"/>
                      </a:pPr>
                      <a:r>
                        <a:rPr lang="en-US" sz="1600" dirty="0">
                          <a:latin typeface="Aptos Display" panose="020B0004020202020204" pitchFamily="34" charset="0"/>
                        </a:rPr>
                        <a:t>Minimized False Positives</a:t>
                      </a:r>
                      <a:br>
                        <a:rPr lang="en-US" sz="1600" b="0" dirty="0">
                          <a:latin typeface="Aptos Display" panose="020B0004020202020204" pitchFamily="34" charset="0"/>
                        </a:rPr>
                      </a:br>
                      <a:endParaRPr lang="en-US" sz="1600" b="0" i="0" kern="1200" dirty="0">
                        <a:solidFill>
                          <a:schemeClr val="dk1"/>
                        </a:solidFill>
                        <a:effectLst/>
                        <a:latin typeface="Aptos Display" panose="020B0004020202020204" pitchFamily="34" charset="0"/>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lgn="just">
                        <a:buFont typeface="Arial" panose="020B0604020202020204" pitchFamily="34" charset="0"/>
                        <a:buChar char="•"/>
                      </a:pPr>
                      <a:r>
                        <a:rPr lang="en-US" sz="1600" dirty="0">
                          <a:latin typeface="Aptos Display" panose="020B0004020202020204" pitchFamily="34" charset="0"/>
                        </a:rPr>
                        <a:t>Feature Dependency</a:t>
                      </a:r>
                    </a:p>
                    <a:p>
                      <a:pPr marL="285750" indent="-285750" algn="just">
                        <a:buFont typeface="Arial" panose="020B0604020202020204" pitchFamily="34" charset="0"/>
                        <a:buChar char="•"/>
                      </a:pPr>
                      <a:endParaRPr lang="en-US" sz="1600" b="0" dirty="0">
                        <a:solidFill>
                          <a:schemeClr val="tx1"/>
                        </a:solidFill>
                        <a:latin typeface="Aptos Display" panose="020B0004020202020204" pitchFamily="34" charset="0"/>
                      </a:endParaRPr>
                    </a:p>
                    <a:p>
                      <a:pPr marL="285750" indent="-285750" algn="just">
                        <a:buFont typeface="Arial" panose="020B0604020202020204" pitchFamily="34" charset="0"/>
                        <a:buChar char="•"/>
                      </a:pPr>
                      <a:r>
                        <a:rPr lang="en-US" sz="1600" dirty="0">
                          <a:latin typeface="Aptos Display" panose="020B0004020202020204" pitchFamily="34" charset="0"/>
                        </a:rPr>
                        <a:t>Lack    of Explainability     </a:t>
                      </a:r>
                      <a:endParaRPr lang="en-IN" sz="1600" b="0" dirty="0">
                        <a:solidFill>
                          <a:schemeClr val="tx1"/>
                        </a:solidFill>
                        <a:latin typeface="Aptos Display" panose="020B00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just">
                        <a:buNone/>
                      </a:pPr>
                      <a:r>
                        <a:rPr lang="en-IN" sz="1600" dirty="0">
                          <a:latin typeface="Aptos Display" panose="020B0004020202020204" pitchFamily="34" charset="0"/>
                        </a:rPr>
                        <a:t>1.Detection Rate: 92.99%. </a:t>
                      </a:r>
                    </a:p>
                    <a:p>
                      <a:pPr marL="0" indent="0" algn="just">
                        <a:buNone/>
                      </a:pPr>
                      <a:endParaRPr lang="en-IN" sz="1600" b="0" dirty="0">
                        <a:solidFill>
                          <a:schemeClr val="tx1"/>
                        </a:solidFill>
                        <a:latin typeface="Aptos Display" panose="020B0004020202020204" pitchFamily="34" charset="0"/>
                      </a:endParaRPr>
                    </a:p>
                    <a:p>
                      <a:pPr marL="0" indent="0" algn="just">
                        <a:buNone/>
                      </a:pPr>
                      <a:r>
                        <a:rPr lang="en-US" sz="1600" dirty="0">
                          <a:latin typeface="Aptos Display" panose="020B0004020202020204" pitchFamily="34" charset="0"/>
                        </a:rPr>
                        <a:t>2.FalseAlarm Rate(FAR): Minimized to 0.63% in optimized tests. </a:t>
                      </a:r>
                      <a:endParaRPr lang="en-IN" sz="1600" b="0" dirty="0">
                        <a:solidFill>
                          <a:schemeClr val="tx1"/>
                        </a:solidFill>
                        <a:latin typeface="Aptos Display" panose="020B00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en-US" sz="1600" b="1" i="0" u="none" strike="noStrike" kern="1200" dirty="0">
                          <a:solidFill>
                            <a:schemeClr val="dk1"/>
                          </a:solidFill>
                          <a:effectLst/>
                          <a:latin typeface="Aptos Display" panose="020B0004020202020204" pitchFamily="34" charset="0"/>
                          <a:ea typeface="+mn-ea"/>
                          <a:cs typeface="+mn-cs"/>
                        </a:rPr>
                        <a:t>SmartBugs &amp; Custom Solidity Library</a:t>
                      </a:r>
                      <a:r>
                        <a:rPr lang="en-US" sz="1600" b="0" i="0" u="none" strike="noStrike" kern="1200" dirty="0">
                          <a:solidFill>
                            <a:schemeClr val="dk1"/>
                          </a:solidFill>
                          <a:effectLst/>
                          <a:latin typeface="Aptos Display" panose="020B0004020202020204" pitchFamily="34" charset="0"/>
                          <a:ea typeface="+mn-ea"/>
                          <a:cs typeface="+mn-cs"/>
                        </a:rPr>
                        <a:t>: Combined known vulnerable contracts </a:t>
                      </a:r>
                      <a:endParaRPr lang="en-IN" sz="1600" b="0" dirty="0">
                        <a:solidFill>
                          <a:schemeClr val="tx1"/>
                        </a:solidFill>
                        <a:latin typeface="Aptos Display" panose="020B0004020202020204" pitchFamily="34" charset="0"/>
                      </a:endParaRPr>
                    </a:p>
                  </a:txBody>
                  <a:tcP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31841320"/>
                  </a:ext>
                </a:extLst>
              </a:tr>
              <a:tr h="2490955">
                <a:tc>
                  <a:txBody>
                    <a:bodyPr/>
                    <a:lstStyle/>
                    <a:p>
                      <a:pPr algn="just"/>
                      <a:r>
                        <a:rPr lang="en-US" sz="1600" b="0" dirty="0">
                          <a:solidFill>
                            <a:schemeClr val="bg1"/>
                          </a:solidFill>
                        </a:rPr>
                        <a:t>5</a:t>
                      </a:r>
                      <a:endParaRPr lang="en-IN" sz="1600" b="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en-IN" sz="1600" b="0" i="0" u="none" strike="noStrike" kern="1200" dirty="0">
                          <a:solidFill>
                            <a:schemeClr val="dk1"/>
                          </a:solidFill>
                          <a:effectLst/>
                          <a:latin typeface="Aptos Display" panose="020B0004020202020204" pitchFamily="34" charset="0"/>
                          <a:ea typeface="+mn-ea"/>
                          <a:cs typeface="+mn-cs"/>
                        </a:rPr>
                        <a:t>Xu et al., "Enhanced Smart ContractVulnerabilityDetection via Graph Neural Networks," </a:t>
                      </a:r>
                      <a:r>
                        <a:rPr lang="en-IN" sz="1600" b="0" i="1" u="none" strike="noStrike" kern="1200" dirty="0">
                          <a:solidFill>
                            <a:schemeClr val="dk1"/>
                          </a:solidFill>
                          <a:effectLst/>
                          <a:latin typeface="Aptos Display" panose="020B0004020202020204" pitchFamily="34" charset="0"/>
                          <a:ea typeface="+mn-ea"/>
                          <a:cs typeface="+mn-cs"/>
                        </a:rPr>
                        <a:t>IEEE Trans. on Software Engineering</a:t>
                      </a:r>
                      <a:r>
                        <a:rPr lang="en-IN" sz="1600" b="0" i="0" u="none" strike="noStrike" kern="1200" dirty="0">
                          <a:solidFill>
                            <a:schemeClr val="dk1"/>
                          </a:solidFill>
                          <a:effectLst/>
                          <a:latin typeface="Aptos Display" panose="020B0004020202020204" pitchFamily="34" charset="0"/>
                          <a:ea typeface="+mn-ea"/>
                          <a:cs typeface="+mn-cs"/>
                        </a:rPr>
                        <a:t>, 2025.</a:t>
                      </a:r>
                      <a:endParaRPr lang="en-IN" sz="1600" b="0" dirty="0">
                        <a:solidFill>
                          <a:schemeClr val="tx1"/>
                        </a:solidFill>
                        <a:latin typeface="Aptos Display" panose="020B0004020202020204" pitchFamily="34" charset="0"/>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en-IN" sz="1600" b="0" i="0" u="none" strike="noStrike" kern="1200" dirty="0">
                          <a:solidFill>
                            <a:schemeClr val="dk1"/>
                          </a:solidFill>
                          <a:effectLst/>
                          <a:latin typeface="Aptos Display" panose="020B0004020202020204" pitchFamily="34" charset="0"/>
                          <a:ea typeface="+mn-ea"/>
                          <a:cs typeface="+mn-cs"/>
                        </a:rPr>
                        <a:t>Dual-input framework (BSGVD) extracting Abstract Syntax Graphs (ASG) and Control Flow Graphs (CFG) via GNNs.</a:t>
                      </a:r>
                      <a:endParaRPr lang="en-IN" sz="1600" b="0" dirty="0">
                        <a:solidFill>
                          <a:schemeClr val="tx1"/>
                        </a:solidFill>
                        <a:latin typeface="Aptos Display" panose="020B00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Arial" panose="020B0604020202020204" pitchFamily="34" charset="0"/>
                        <a:buChar char="•"/>
                      </a:pPr>
                      <a:r>
                        <a:rPr lang="en-US" sz="1600" dirty="0">
                          <a:latin typeface="Aptos Display" panose="020B0004020202020204" pitchFamily="34" charset="0"/>
                        </a:rPr>
                        <a:t>High Accuracy</a:t>
                      </a:r>
                      <a:endParaRPr lang="en-US" sz="1600" b="0" dirty="0">
                        <a:latin typeface="Aptos Display" panose="020B0004020202020204" pitchFamily="34" charset="0"/>
                      </a:endParaRPr>
                    </a:p>
                    <a:p>
                      <a:pPr marL="285750" indent="-285750">
                        <a:buFont typeface="Arial" panose="020B0604020202020204" pitchFamily="34" charset="0"/>
                        <a:buChar char="•"/>
                      </a:pPr>
                      <a:r>
                        <a:rPr lang="en-US" sz="1600" dirty="0">
                          <a:latin typeface="Aptos Display" panose="020B0004020202020204" pitchFamily="34" charset="0"/>
                        </a:rPr>
                        <a:t>Broad Coverage</a:t>
                      </a:r>
                      <a:endParaRPr lang="en-US" sz="1600" b="0" dirty="0">
                        <a:latin typeface="Aptos Display" panose="020B0004020202020204" pitchFamily="34" charset="0"/>
                      </a:endParaRPr>
                    </a:p>
                    <a:p>
                      <a:pPr marL="285750" indent="-285750">
                        <a:buFont typeface="Arial" panose="020B0604020202020204" pitchFamily="34" charset="0"/>
                        <a:buChar char="•"/>
                      </a:pPr>
                      <a:r>
                        <a:rPr lang="en-US" sz="1600" dirty="0">
                          <a:latin typeface="Aptos Display" panose="020B0004020202020204" pitchFamily="34" charset="0"/>
                        </a:rPr>
                        <a:t>Deep Structural Analysis</a:t>
                      </a:r>
                      <a:br>
                        <a:rPr lang="en-US" sz="1600" b="0" dirty="0">
                          <a:latin typeface="Aptos Display" panose="020B0004020202020204" pitchFamily="34" charset="0"/>
                        </a:rPr>
                      </a:br>
                      <a:endParaRPr lang="en-IN" sz="1600" b="0" dirty="0">
                        <a:solidFill>
                          <a:schemeClr val="tx1"/>
                        </a:solidFill>
                        <a:latin typeface="Aptos Display" panose="020B00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lgn="just">
                        <a:buFont typeface="Arial" panose="020B0604020202020204" pitchFamily="34" charset="0"/>
                        <a:buChar char="•"/>
                      </a:pPr>
                      <a:r>
                        <a:rPr lang="en-US" sz="1600" dirty="0">
                          <a:latin typeface="Aptos Display" panose="020B0004020202020204" pitchFamily="34" charset="0"/>
                        </a:rPr>
                        <a:t>Extreme Resource Demands</a:t>
                      </a:r>
                    </a:p>
                    <a:p>
                      <a:pPr marL="285750" indent="-285750" algn="just">
                        <a:buFont typeface="Arial" panose="020B0604020202020204" pitchFamily="34" charset="0"/>
                        <a:buChar char="•"/>
                      </a:pPr>
                      <a:endParaRPr lang="en-US" sz="1600" b="0" dirty="0">
                        <a:solidFill>
                          <a:schemeClr val="tx1"/>
                        </a:solidFill>
                        <a:latin typeface="Aptos Display" panose="020B0004020202020204" pitchFamily="34" charset="0"/>
                      </a:endParaRPr>
                    </a:p>
                    <a:p>
                      <a:pPr marL="285750" indent="-285750" algn="just">
                        <a:buFont typeface="Arial" panose="020B0604020202020204" pitchFamily="34" charset="0"/>
                        <a:buChar char="•"/>
                      </a:pPr>
                      <a:r>
                        <a:rPr lang="en-US" sz="1600" dirty="0">
                          <a:latin typeface="Aptos Display" panose="020B0004020202020204" pitchFamily="34" charset="0"/>
                        </a:rPr>
                        <a:t>Complex Data Preparation</a:t>
                      </a:r>
                      <a:endParaRPr lang="en-IN" sz="1600" b="0" dirty="0">
                        <a:solidFill>
                          <a:schemeClr val="tx1"/>
                        </a:solidFill>
                        <a:latin typeface="Aptos Display" panose="020B00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en-IN" sz="1600" dirty="0">
                          <a:latin typeface="Aptos Display" panose="020B0004020202020204" pitchFamily="34" charset="0"/>
                        </a:rPr>
                        <a:t>1.Average Accuracy (95.78%)</a:t>
                      </a:r>
                    </a:p>
                    <a:p>
                      <a:pPr algn="just"/>
                      <a:endParaRPr lang="en-IN" sz="1600" b="0" dirty="0">
                        <a:solidFill>
                          <a:schemeClr val="tx1"/>
                        </a:solidFill>
                        <a:latin typeface="Aptos Display" panose="020B0004020202020204" pitchFamily="34" charset="0"/>
                      </a:endParaRPr>
                    </a:p>
                    <a:p>
                      <a:pPr algn="just"/>
                      <a:r>
                        <a:rPr lang="en-US" sz="1600" dirty="0">
                          <a:latin typeface="Aptos Display" panose="020B0004020202020204" pitchFamily="34" charset="0"/>
                        </a:rPr>
                        <a:t>2.F1-Score (93.80%)</a:t>
                      </a:r>
                      <a:endParaRPr lang="en-IN" sz="1600" b="0" dirty="0">
                        <a:solidFill>
                          <a:schemeClr val="tx1"/>
                        </a:solidFill>
                        <a:latin typeface="Aptos Display" panose="020B00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rtl="0"/>
                      <a:r>
                        <a:rPr lang="en-US" sz="1600" b="1" i="0" u="none" strike="noStrike" kern="1200" dirty="0">
                          <a:solidFill>
                            <a:schemeClr val="dk1"/>
                          </a:solidFill>
                          <a:effectLst/>
                          <a:latin typeface="Aptos Display" panose="020B0004020202020204" pitchFamily="34" charset="0"/>
                          <a:ea typeface="+mn-ea"/>
                          <a:cs typeface="+mn-cs"/>
                        </a:rPr>
                        <a:t>Real Ethereum Dataset</a:t>
                      </a:r>
                      <a:r>
                        <a:rPr lang="en-US" sz="1600" b="0" i="0" u="none" strike="noStrike" kern="1200" dirty="0">
                          <a:solidFill>
                            <a:schemeClr val="dk1"/>
                          </a:solidFill>
                          <a:effectLst/>
                          <a:latin typeface="Aptos Display" panose="020B0004020202020204" pitchFamily="34" charset="0"/>
                          <a:ea typeface="+mn-ea"/>
                          <a:cs typeface="+mn-cs"/>
                        </a:rPr>
                        <a:t>: 25,350 contracts labeled with Slither and cross-validated with historical exploits.</a:t>
                      </a:r>
                      <a:endParaRPr lang="en-US" sz="1600" b="0" dirty="0">
                        <a:effectLst/>
                        <a:latin typeface="Aptos Display" panose="020B0004020202020204" pitchFamily="34" charset="0"/>
                      </a:endParaRPr>
                    </a:p>
                    <a:p>
                      <a:br>
                        <a:rPr lang="en-US" sz="1600" b="0" dirty="0">
                          <a:latin typeface="Aptos Display" panose="020B0004020202020204" pitchFamily="34" charset="0"/>
                        </a:rPr>
                      </a:br>
                      <a:endParaRPr lang="en-IN" sz="1600" b="0" dirty="0">
                        <a:solidFill>
                          <a:schemeClr val="tx1"/>
                        </a:solidFill>
                        <a:latin typeface="Aptos Display" panose="020B0004020202020204" pitchFamily="34" charset="0"/>
                      </a:endParaRPr>
                    </a:p>
                  </a:txBody>
                  <a:tcP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17583453"/>
                  </a:ext>
                </a:extLst>
              </a:tr>
            </a:tbl>
          </a:graphicData>
        </a:graphic>
      </p:graphicFrame>
    </p:spTree>
    <p:extLst>
      <p:ext uri="{BB962C8B-B14F-4D97-AF65-F5344CB8AC3E}">
        <p14:creationId xmlns:p14="http://schemas.microsoft.com/office/powerpoint/2010/main" val="4192657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9AA92A-4519-5B51-CFA2-8650CBA23DB3}"/>
              </a:ext>
            </a:extLst>
          </p:cNvPr>
          <p:cNvSpPr txBox="1"/>
          <p:nvPr/>
        </p:nvSpPr>
        <p:spPr>
          <a:xfrm>
            <a:off x="500096" y="273488"/>
            <a:ext cx="5787737" cy="461665"/>
          </a:xfrm>
          <a:prstGeom prst="rect">
            <a:avLst/>
          </a:prstGeom>
          <a:noFill/>
        </p:spPr>
        <p:txBody>
          <a:bodyPr wrap="square" rtlCol="0">
            <a:spAutoFit/>
          </a:bodyPr>
          <a:lstStyle/>
          <a:p>
            <a:r>
              <a:rPr lang="en-US" sz="2400" b="1" dirty="0"/>
              <a:t>Problems We Analyzed:</a:t>
            </a:r>
            <a:endParaRPr lang="en-IN" sz="2400" b="1" dirty="0"/>
          </a:p>
        </p:txBody>
      </p:sp>
      <p:sp>
        <p:nvSpPr>
          <p:cNvPr id="7" name="TextBox 6">
            <a:extLst>
              <a:ext uri="{FF2B5EF4-FFF2-40B4-BE49-F238E27FC236}">
                <a16:creationId xmlns:a16="http://schemas.microsoft.com/office/drawing/2014/main" id="{A733F37F-F722-2E9A-5C94-5D8ED28278C9}"/>
              </a:ext>
            </a:extLst>
          </p:cNvPr>
          <p:cNvSpPr txBox="1"/>
          <p:nvPr/>
        </p:nvSpPr>
        <p:spPr>
          <a:xfrm>
            <a:off x="4996185" y="3098579"/>
            <a:ext cx="184731" cy="369332"/>
          </a:xfrm>
          <a:prstGeom prst="rect">
            <a:avLst/>
          </a:prstGeom>
          <a:noFill/>
        </p:spPr>
        <p:txBody>
          <a:bodyPr wrap="none" rtlCol="0">
            <a:spAutoFit/>
          </a:bodyPr>
          <a:lstStyle/>
          <a:p>
            <a:endParaRPr lang="en-IN" dirty="0"/>
          </a:p>
        </p:txBody>
      </p:sp>
      <p:grpSp>
        <p:nvGrpSpPr>
          <p:cNvPr id="25" name="Group 24">
            <a:extLst>
              <a:ext uri="{FF2B5EF4-FFF2-40B4-BE49-F238E27FC236}">
                <a16:creationId xmlns:a16="http://schemas.microsoft.com/office/drawing/2014/main" id="{AADC7ADB-44D0-FD2C-5853-4FAE888C4B9F}"/>
              </a:ext>
            </a:extLst>
          </p:cNvPr>
          <p:cNvGrpSpPr/>
          <p:nvPr/>
        </p:nvGrpSpPr>
        <p:grpSpPr>
          <a:xfrm>
            <a:off x="500093" y="931145"/>
            <a:ext cx="10959088" cy="4901149"/>
            <a:chOff x="500093" y="931145"/>
            <a:chExt cx="10959088" cy="4901149"/>
          </a:xfrm>
        </p:grpSpPr>
        <p:sp>
          <p:nvSpPr>
            <p:cNvPr id="18" name="TextBox 17">
              <a:extLst>
                <a:ext uri="{FF2B5EF4-FFF2-40B4-BE49-F238E27FC236}">
                  <a16:creationId xmlns:a16="http://schemas.microsoft.com/office/drawing/2014/main" id="{0B23891D-F81E-DD66-8314-7DF2198BDDE3}"/>
                </a:ext>
              </a:extLst>
            </p:cNvPr>
            <p:cNvSpPr txBox="1"/>
            <p:nvPr/>
          </p:nvSpPr>
          <p:spPr>
            <a:xfrm>
              <a:off x="500095" y="931145"/>
              <a:ext cx="10959086" cy="923330"/>
            </a:xfrm>
            <a:prstGeom prst="rect">
              <a:avLst/>
            </a:prstGeom>
            <a:noFill/>
          </p:spPr>
          <p:txBody>
            <a:bodyPr wrap="square">
              <a:spAutoFit/>
            </a:bodyPr>
            <a:lstStyle/>
            <a:p>
              <a:pPr marL="342900" indent="-342900">
                <a:buFont typeface="Arial" panose="020B0604020202020204" pitchFamily="34" charset="0"/>
                <a:buChar char="•"/>
              </a:pPr>
              <a:r>
                <a:rPr lang="en-US" dirty="0"/>
                <a:t>Long smart contracts suffer from context loss and complex vulnerabilities that single-modal methods miss, so bimodal feature fusion (code + semantic flow) with lightweight models like GRU/GAT/1D-CNN is needed for accurate, efficient detection</a:t>
              </a:r>
              <a:endParaRPr lang="en-IN" dirty="0"/>
            </a:p>
          </p:txBody>
        </p:sp>
        <p:sp>
          <p:nvSpPr>
            <p:cNvPr id="20" name="TextBox 19">
              <a:extLst>
                <a:ext uri="{FF2B5EF4-FFF2-40B4-BE49-F238E27FC236}">
                  <a16:creationId xmlns:a16="http://schemas.microsoft.com/office/drawing/2014/main" id="{3FC51937-98F1-5280-BD6B-11A3B15CE2A2}"/>
                </a:ext>
              </a:extLst>
            </p:cNvPr>
            <p:cNvSpPr txBox="1"/>
            <p:nvPr/>
          </p:nvSpPr>
          <p:spPr>
            <a:xfrm>
              <a:off x="500095" y="2327466"/>
              <a:ext cx="10959085" cy="923330"/>
            </a:xfrm>
            <a:prstGeom prst="rect">
              <a:avLst/>
            </a:prstGeom>
            <a:noFill/>
          </p:spPr>
          <p:txBody>
            <a:bodyPr wrap="square">
              <a:spAutoFit/>
            </a:bodyPr>
            <a:lstStyle/>
            <a:p>
              <a:pPr marL="342900" indent="-342900">
                <a:buFont typeface="Arial" panose="020B0604020202020204" pitchFamily="34" charset="0"/>
                <a:buChar char="•"/>
              </a:pPr>
              <a:r>
                <a:rPr lang="en-US" dirty="0"/>
                <a:t>Existing deep learning methods for smart contract vulnerability detection are limited by context loss and complexity, so bimodal feature fusion (code + semantic flow) with models like </a:t>
              </a:r>
              <a:r>
                <a:rPr lang="en-US" dirty="0" err="1"/>
                <a:t>BiLSTM</a:t>
              </a:r>
              <a:r>
                <a:rPr lang="en-US" dirty="0"/>
                <a:t>, Transformer-lite, or </a:t>
              </a:r>
              <a:r>
                <a:rPr lang="en-US" dirty="0" err="1"/>
                <a:t>GraphSAGE</a:t>
              </a:r>
              <a:r>
                <a:rPr lang="en-US" dirty="0"/>
                <a:t> is needed for accurate and efficient detection</a:t>
              </a:r>
              <a:endParaRPr lang="en-IN" dirty="0"/>
            </a:p>
          </p:txBody>
        </p:sp>
        <p:sp>
          <p:nvSpPr>
            <p:cNvPr id="22" name="TextBox 21">
              <a:extLst>
                <a:ext uri="{FF2B5EF4-FFF2-40B4-BE49-F238E27FC236}">
                  <a16:creationId xmlns:a16="http://schemas.microsoft.com/office/drawing/2014/main" id="{E3BD4230-179E-FA9A-5F93-52C5BC929241}"/>
                </a:ext>
              </a:extLst>
            </p:cNvPr>
            <p:cNvSpPr txBox="1"/>
            <p:nvPr/>
          </p:nvSpPr>
          <p:spPr>
            <a:xfrm>
              <a:off x="500095" y="3618531"/>
              <a:ext cx="10959084" cy="646331"/>
            </a:xfrm>
            <a:prstGeom prst="rect">
              <a:avLst/>
            </a:prstGeom>
            <a:noFill/>
          </p:spPr>
          <p:txBody>
            <a:bodyPr wrap="square">
              <a:spAutoFit/>
            </a:bodyPr>
            <a:lstStyle/>
            <a:p>
              <a:pPr marL="342900" indent="-342900">
                <a:buFont typeface="Arial" panose="020B0604020202020204" pitchFamily="34" charset="0"/>
                <a:buChar char="•"/>
              </a:pPr>
              <a:r>
                <a:rPr lang="en-US" dirty="0"/>
                <a:t>To detect anomalies in smart contracts, this work uses bimodal feature fusion (code + semantic flow) with </a:t>
              </a:r>
              <a:r>
                <a:rPr lang="en-US" dirty="0" err="1"/>
                <a:t>BiLSTM</a:t>
              </a:r>
              <a:r>
                <a:rPr lang="en-US" dirty="0"/>
                <a:t>, Transformer-lite, or </a:t>
              </a:r>
              <a:r>
                <a:rPr lang="en-US" dirty="0" err="1"/>
                <a:t>GraphSAGE</a:t>
              </a:r>
              <a:r>
                <a:rPr lang="en-US" dirty="0"/>
                <a:t> for accurate and efficient detection</a:t>
              </a:r>
            </a:p>
          </p:txBody>
        </p:sp>
        <p:sp>
          <p:nvSpPr>
            <p:cNvPr id="24" name="TextBox 23">
              <a:extLst>
                <a:ext uri="{FF2B5EF4-FFF2-40B4-BE49-F238E27FC236}">
                  <a16:creationId xmlns:a16="http://schemas.microsoft.com/office/drawing/2014/main" id="{E39457F3-9C7A-F809-AA28-A23C24CE24D7}"/>
                </a:ext>
              </a:extLst>
            </p:cNvPr>
            <p:cNvSpPr txBox="1"/>
            <p:nvPr/>
          </p:nvSpPr>
          <p:spPr>
            <a:xfrm>
              <a:off x="500093" y="4908964"/>
              <a:ext cx="10959085" cy="923330"/>
            </a:xfrm>
            <a:prstGeom prst="rect">
              <a:avLst/>
            </a:prstGeom>
            <a:noFill/>
          </p:spPr>
          <p:txBody>
            <a:bodyPr wrap="square">
              <a:spAutoFit/>
            </a:bodyPr>
            <a:lstStyle/>
            <a:p>
              <a:pPr marL="342900" indent="-342900">
                <a:buFont typeface="Arial" panose="020B0604020202020204" pitchFamily="34" charset="0"/>
                <a:buChar char="•"/>
              </a:pPr>
              <a:r>
                <a:rPr lang="en-US" dirty="0"/>
                <a:t>Existing smart contract vulnerability detection methods struggle with long contracts and complex flows, so this work uses Graph Neural Networks (GNNs) with bimodal feature fusion of code and semantic flow for accurate and efficient detection</a:t>
              </a:r>
              <a:endParaRPr lang="en-IN" dirty="0"/>
            </a:p>
          </p:txBody>
        </p:sp>
      </p:grpSp>
    </p:spTree>
    <p:extLst>
      <p:ext uri="{BB962C8B-B14F-4D97-AF65-F5344CB8AC3E}">
        <p14:creationId xmlns:p14="http://schemas.microsoft.com/office/powerpoint/2010/main" val="984957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F090D53-EC28-C9D6-751A-ACC0B47BE94E}"/>
              </a:ext>
            </a:extLst>
          </p:cNvPr>
          <p:cNvSpPr txBox="1"/>
          <p:nvPr/>
        </p:nvSpPr>
        <p:spPr>
          <a:xfrm>
            <a:off x="490968" y="1567333"/>
            <a:ext cx="11448185" cy="646331"/>
          </a:xfrm>
          <a:prstGeom prst="rect">
            <a:avLst/>
          </a:prstGeom>
          <a:noFill/>
        </p:spPr>
        <p:txBody>
          <a:bodyPr wrap="square">
            <a:spAutoFit/>
          </a:bodyPr>
          <a:lstStyle/>
          <a:p>
            <a:pPr algn="just"/>
            <a:r>
              <a:rPr lang="en-US" dirty="0"/>
              <a:t>Detecting and Localizing Vulnerabilities of Smart Contracts using GNNSE (Graph Neural Networks with Symbolic Execution) for bigdata</a:t>
            </a:r>
            <a:endParaRPr lang="en-IN" dirty="0"/>
          </a:p>
        </p:txBody>
      </p:sp>
      <p:sp>
        <p:nvSpPr>
          <p:cNvPr id="4" name="TextBox 3">
            <a:extLst>
              <a:ext uri="{FF2B5EF4-FFF2-40B4-BE49-F238E27FC236}">
                <a16:creationId xmlns:a16="http://schemas.microsoft.com/office/drawing/2014/main" id="{4F2E56EA-882B-E737-3EE4-4FE68A92C657}"/>
              </a:ext>
            </a:extLst>
          </p:cNvPr>
          <p:cNvSpPr txBox="1"/>
          <p:nvPr/>
        </p:nvSpPr>
        <p:spPr>
          <a:xfrm>
            <a:off x="490969" y="485894"/>
            <a:ext cx="5787737" cy="461665"/>
          </a:xfrm>
          <a:prstGeom prst="rect">
            <a:avLst/>
          </a:prstGeom>
          <a:noFill/>
        </p:spPr>
        <p:txBody>
          <a:bodyPr wrap="square" rtlCol="0">
            <a:spAutoFit/>
          </a:bodyPr>
          <a:lstStyle/>
          <a:p>
            <a:pPr algn="just"/>
            <a:r>
              <a:rPr lang="en-US" sz="2400" b="1" dirty="0"/>
              <a:t>Problem Statement and Objectives:</a:t>
            </a:r>
            <a:endParaRPr lang="en-IN" sz="2400" b="1" dirty="0"/>
          </a:p>
        </p:txBody>
      </p:sp>
      <p:sp>
        <p:nvSpPr>
          <p:cNvPr id="6" name="TextBox 5">
            <a:extLst>
              <a:ext uri="{FF2B5EF4-FFF2-40B4-BE49-F238E27FC236}">
                <a16:creationId xmlns:a16="http://schemas.microsoft.com/office/drawing/2014/main" id="{D8A952A1-0F0F-92FE-C5ED-4420D425CF53}"/>
              </a:ext>
            </a:extLst>
          </p:cNvPr>
          <p:cNvSpPr txBox="1"/>
          <p:nvPr/>
        </p:nvSpPr>
        <p:spPr>
          <a:xfrm>
            <a:off x="490969" y="2591434"/>
            <a:ext cx="6094268" cy="369332"/>
          </a:xfrm>
          <a:prstGeom prst="rect">
            <a:avLst/>
          </a:prstGeom>
          <a:noFill/>
        </p:spPr>
        <p:txBody>
          <a:bodyPr wrap="square">
            <a:spAutoFit/>
          </a:bodyPr>
          <a:lstStyle/>
          <a:p>
            <a:pPr algn="just"/>
            <a:r>
              <a:rPr lang="en-US" sz="1800" b="1" dirty="0"/>
              <a:t>Objectives:</a:t>
            </a:r>
            <a:endParaRPr lang="en-IN" dirty="0"/>
          </a:p>
        </p:txBody>
      </p:sp>
      <p:sp>
        <p:nvSpPr>
          <p:cNvPr id="10" name="TextBox 9">
            <a:extLst>
              <a:ext uri="{FF2B5EF4-FFF2-40B4-BE49-F238E27FC236}">
                <a16:creationId xmlns:a16="http://schemas.microsoft.com/office/drawing/2014/main" id="{11FB42CF-165F-808B-6E97-B24A564AA16D}"/>
              </a:ext>
            </a:extLst>
          </p:cNvPr>
          <p:cNvSpPr txBox="1"/>
          <p:nvPr/>
        </p:nvSpPr>
        <p:spPr>
          <a:xfrm>
            <a:off x="490969" y="1103559"/>
            <a:ext cx="6094268" cy="369332"/>
          </a:xfrm>
          <a:prstGeom prst="rect">
            <a:avLst/>
          </a:prstGeom>
          <a:noFill/>
        </p:spPr>
        <p:txBody>
          <a:bodyPr wrap="square">
            <a:spAutoFit/>
          </a:bodyPr>
          <a:lstStyle/>
          <a:p>
            <a:pPr algn="just"/>
            <a:r>
              <a:rPr lang="en-US" sz="1800" b="1" dirty="0"/>
              <a:t>Problem Statement </a:t>
            </a:r>
            <a:endParaRPr lang="en-IN" dirty="0"/>
          </a:p>
        </p:txBody>
      </p:sp>
      <p:sp>
        <p:nvSpPr>
          <p:cNvPr id="12" name="TextBox 11">
            <a:extLst>
              <a:ext uri="{FF2B5EF4-FFF2-40B4-BE49-F238E27FC236}">
                <a16:creationId xmlns:a16="http://schemas.microsoft.com/office/drawing/2014/main" id="{831211CB-4738-2E4D-0F3B-F352589E144D}"/>
              </a:ext>
            </a:extLst>
          </p:cNvPr>
          <p:cNvSpPr txBox="1"/>
          <p:nvPr/>
        </p:nvSpPr>
        <p:spPr>
          <a:xfrm>
            <a:off x="485994" y="3451101"/>
            <a:ext cx="11209195" cy="646331"/>
          </a:xfrm>
          <a:prstGeom prst="rect">
            <a:avLst/>
          </a:prstGeom>
          <a:noFill/>
        </p:spPr>
        <p:txBody>
          <a:bodyPr wrap="square">
            <a:spAutoFit/>
          </a:bodyPr>
          <a:lstStyle/>
          <a:p>
            <a:pPr marL="285750" indent="-285750" algn="just">
              <a:buFont typeface="Arial" panose="020B0604020202020204" pitchFamily="34" charset="0"/>
              <a:buChar char="•"/>
            </a:pPr>
            <a:r>
              <a:rPr lang="en-US" b="1" dirty="0"/>
              <a:t>Dataset:</a:t>
            </a:r>
            <a:r>
              <a:rPr lang="en-US" dirty="0"/>
              <a:t> Large-scale collections like </a:t>
            </a:r>
            <a:r>
              <a:rPr lang="en-US" b="1" dirty="0" err="1"/>
              <a:t>XBlock</a:t>
            </a:r>
            <a:r>
              <a:rPr lang="en-US" b="1" dirty="0"/>
              <a:t>-ESC</a:t>
            </a:r>
            <a:r>
              <a:rPr lang="en-US" dirty="0"/>
              <a:t> or </a:t>
            </a:r>
            <a:r>
              <a:rPr lang="en-US" b="1" dirty="0"/>
              <a:t>Smart-Check</a:t>
            </a:r>
            <a:r>
              <a:rPr lang="en-US" dirty="0"/>
              <a:t>, containing over 50,000 labeled Ethereum and </a:t>
            </a:r>
            <a:r>
              <a:rPr lang="en-US" dirty="0" err="1"/>
              <a:t>Vntchain</a:t>
            </a:r>
            <a:r>
              <a:rPr lang="en-US" dirty="0"/>
              <a:t> contracts.</a:t>
            </a:r>
            <a:endParaRPr lang="en-IN" dirty="0"/>
          </a:p>
        </p:txBody>
      </p:sp>
      <p:sp>
        <p:nvSpPr>
          <p:cNvPr id="5" name="TextBox 4">
            <a:extLst>
              <a:ext uri="{FF2B5EF4-FFF2-40B4-BE49-F238E27FC236}">
                <a16:creationId xmlns:a16="http://schemas.microsoft.com/office/drawing/2014/main" id="{66772C3A-4EA5-073A-11F1-15A0E1B5154D}"/>
              </a:ext>
            </a:extLst>
          </p:cNvPr>
          <p:cNvSpPr txBox="1"/>
          <p:nvPr/>
        </p:nvSpPr>
        <p:spPr>
          <a:xfrm>
            <a:off x="489237" y="4063629"/>
            <a:ext cx="11209194" cy="923330"/>
          </a:xfrm>
          <a:prstGeom prst="rect">
            <a:avLst/>
          </a:prstGeom>
          <a:noFill/>
        </p:spPr>
        <p:txBody>
          <a:bodyPr wrap="square">
            <a:spAutoFit/>
          </a:bodyPr>
          <a:lstStyle/>
          <a:p>
            <a:pPr marL="285750" indent="-285750">
              <a:buFont typeface="Arial" panose="020B0604020202020204" pitchFamily="34" charset="0"/>
              <a:buChar char="•"/>
            </a:pPr>
            <a:r>
              <a:rPr lang="en-US" b="1" dirty="0"/>
              <a:t>Code Embedding &amp; Control Flow Analysis:</a:t>
            </a:r>
            <a:r>
              <a:rPr lang="en-US" dirty="0"/>
              <a:t> Converts Solidity into </a:t>
            </a:r>
            <a:r>
              <a:rPr lang="en-US" b="1" dirty="0"/>
              <a:t>Control Flow Graphs (CFG)</a:t>
            </a:r>
            <a:r>
              <a:rPr lang="en-US" dirty="0"/>
              <a:t> and </a:t>
            </a:r>
            <a:r>
              <a:rPr lang="en-US" b="1" dirty="0"/>
              <a:t>Data Flow Graphs (DFG)</a:t>
            </a:r>
            <a:r>
              <a:rPr lang="en-US" dirty="0"/>
              <a:t>, then uses </a:t>
            </a:r>
            <a:r>
              <a:rPr lang="en-US" b="1" dirty="0"/>
              <a:t>Word2Vec</a:t>
            </a:r>
            <a:r>
              <a:rPr lang="en-US" dirty="0"/>
              <a:t> or </a:t>
            </a:r>
            <a:r>
              <a:rPr lang="en-US" b="1" dirty="0" err="1"/>
              <a:t>CodeBERT</a:t>
            </a:r>
            <a:r>
              <a:rPr lang="en-US" dirty="0"/>
              <a:t> to transform logical nodes into high-dimensional vectors for semantic understanding.</a:t>
            </a:r>
            <a:endParaRPr lang="en-IN" dirty="0"/>
          </a:p>
        </p:txBody>
      </p:sp>
      <p:sp>
        <p:nvSpPr>
          <p:cNvPr id="11" name="Rectangle 3">
            <a:extLst>
              <a:ext uri="{FF2B5EF4-FFF2-40B4-BE49-F238E27FC236}">
                <a16:creationId xmlns:a16="http://schemas.microsoft.com/office/drawing/2014/main" id="{475376EC-515B-42C4-4189-3F403861C39C}"/>
              </a:ext>
            </a:extLst>
          </p:cNvPr>
          <p:cNvSpPr>
            <a:spLocks noChangeArrowheads="1"/>
          </p:cNvSpPr>
          <p:nvPr/>
        </p:nvSpPr>
        <p:spPr bwMode="auto">
          <a:xfrm>
            <a:off x="485994" y="5011703"/>
            <a:ext cx="117205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   </a:t>
            </a:r>
            <a:r>
              <a:rPr lang="en-US" b="1" dirty="0"/>
              <a:t>Models Taken:</a:t>
            </a:r>
            <a:r>
              <a:rPr lang="en-US" dirty="0"/>
              <a:t> A hybrid pipeline pairing a </a:t>
            </a:r>
            <a:r>
              <a:rPr lang="en-US" b="1" dirty="0"/>
              <a:t>Temporal Message Propagation (TMP) GNN</a:t>
            </a:r>
            <a:r>
              <a:rPr lang="en-US" dirty="0"/>
              <a:t> (for rapid high-risk filtering)</a:t>
            </a:r>
          </a:p>
          <a:p>
            <a:pPr lvl="0" eaLnBrk="0" fontAlgn="base" hangingPunct="0">
              <a:spcBef>
                <a:spcPct val="0"/>
              </a:spcBef>
              <a:spcAft>
                <a:spcPct val="0"/>
              </a:spcAft>
            </a:pPr>
            <a:r>
              <a:rPr lang="en-US" dirty="0"/>
              <a:t>      with a </a:t>
            </a:r>
            <a:r>
              <a:rPr lang="en-US" b="1" dirty="0"/>
              <a:t>Z3-backed Symbolic Execution Engine</a:t>
            </a:r>
            <a:r>
              <a:rPr lang="en-US" dirty="0"/>
              <a:t> (for precise path verification and localization).</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7" name="Rectangle 1">
            <a:extLst>
              <a:ext uri="{FF2B5EF4-FFF2-40B4-BE49-F238E27FC236}">
                <a16:creationId xmlns:a16="http://schemas.microsoft.com/office/drawing/2014/main" id="{41429C98-0750-283B-BF71-8B6337AF382C}"/>
              </a:ext>
            </a:extLst>
          </p:cNvPr>
          <p:cNvSpPr>
            <a:spLocks noChangeArrowheads="1"/>
          </p:cNvSpPr>
          <p:nvPr/>
        </p:nvSpPr>
        <p:spPr bwMode="auto">
          <a:xfrm>
            <a:off x="485994" y="5775560"/>
            <a:ext cx="11799705"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Google Sans Text"/>
              </a:rPr>
              <a:t>Parameters to be Studied:</a:t>
            </a:r>
            <a:r>
              <a:rPr kumimoji="0" lang="en-US" altLang="en-US" sz="1800" b="0" i="0" u="none" strike="noStrike" cap="none" normalizeH="0" baseline="0" dirty="0">
                <a:ln>
                  <a:noFill/>
                </a:ln>
                <a:solidFill>
                  <a:schemeClr val="tx1"/>
                </a:solidFill>
                <a:effectLst/>
              </a:rPr>
              <a:t> </a:t>
            </a:r>
            <a:r>
              <a:rPr kumimoji="0" lang="en-US" altLang="en-US" sz="1800" b="1" i="0" u="none" strike="noStrike" cap="none" normalizeH="0" baseline="0" dirty="0">
                <a:ln>
                  <a:noFill/>
                </a:ln>
                <a:solidFill>
                  <a:schemeClr val="tx1"/>
                </a:solidFill>
                <a:effectLst/>
                <a:latin typeface="Google Sans Text"/>
              </a:rPr>
              <a:t>Detection Confidence Threshold ($\tau$)</a:t>
            </a:r>
            <a:r>
              <a:rPr kumimoji="0" lang="en-US" altLang="en-US" sz="1800" b="0" i="0" u="none" strike="noStrike" cap="none" normalizeH="0" baseline="0" dirty="0">
                <a:ln>
                  <a:noFill/>
                </a:ln>
                <a:solidFill>
                  <a:schemeClr val="tx1"/>
                </a:solidFill>
                <a:effectLst/>
              </a:rPr>
              <a:t>, </a:t>
            </a:r>
            <a:r>
              <a:rPr kumimoji="0" lang="en-US" altLang="en-US" sz="1800" b="1" i="0" u="none" strike="noStrike" cap="none" normalizeH="0" baseline="0" dirty="0">
                <a:ln>
                  <a:noFill/>
                </a:ln>
                <a:solidFill>
                  <a:schemeClr val="tx1"/>
                </a:solidFill>
                <a:effectLst/>
                <a:latin typeface="Google Sans Text"/>
              </a:rPr>
              <a:t>Symbolic Path Depth</a:t>
            </a:r>
            <a:r>
              <a:rPr kumimoji="0" lang="en-US" altLang="en-US" sz="1800" b="0" i="0" u="none" strike="noStrike" cap="none" normalizeH="0" baseline="0" dirty="0">
                <a:ln>
                  <a:noFill/>
                </a:ln>
                <a:solidFill>
                  <a:schemeClr val="tx1"/>
                </a:solidFill>
                <a:effectLst/>
              </a:rPr>
              <a:t>, </a:t>
            </a:r>
            <a:r>
              <a:rPr kumimoji="0" lang="en-US" altLang="en-US" sz="1800" b="1" i="0" u="none" strike="noStrike" cap="none" normalizeH="0" baseline="0" dirty="0">
                <a:ln>
                  <a:noFill/>
                </a:ln>
                <a:solidFill>
                  <a:schemeClr val="tx1"/>
                </a:solidFill>
                <a:effectLst/>
                <a:latin typeface="Google Sans Text"/>
              </a:rPr>
              <a:t>Message-Passing Hops</a:t>
            </a:r>
            <a:r>
              <a:rPr kumimoji="0" lang="en-US" altLang="en-US" sz="1800" b="0" i="0" u="none" strike="noStrike" cap="none" normalizeH="0" baseline="0" dirty="0">
                <a:ln>
                  <a:noFill/>
                </a:ln>
                <a:solidFill>
                  <a:schemeClr val="tx1"/>
                </a:solidFill>
                <a:effectLst/>
              </a:rPr>
              <a:t>, and </a:t>
            </a:r>
          </a:p>
          <a:p>
            <a:pPr marR="0" lvl="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Google Sans Text"/>
              </a:rPr>
              <a:t>      Dropout Rates</a:t>
            </a:r>
            <a:r>
              <a:rPr kumimoji="0" lang="en-US" altLang="en-US" sz="1800" b="0" i="0" u="none" strike="noStrike" cap="none" normalizeH="0" baseline="0" dirty="0">
                <a:ln>
                  <a:noFill/>
                </a:ln>
                <a:solidFill>
                  <a:schemeClr val="tx1"/>
                </a:solidFill>
                <a:effectLst/>
              </a:rPr>
              <a:t> to balance detection speed with the reduction of false positives.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39451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C08FD8A-53BC-BFB2-CD48-1438F6887149}"/>
              </a:ext>
            </a:extLst>
          </p:cNvPr>
          <p:cNvSpPr txBox="1"/>
          <p:nvPr/>
        </p:nvSpPr>
        <p:spPr>
          <a:xfrm>
            <a:off x="101601" y="482600"/>
            <a:ext cx="12090399" cy="5755422"/>
          </a:xfrm>
          <a:prstGeom prst="rect">
            <a:avLst/>
          </a:prstGeom>
          <a:noFill/>
        </p:spPr>
        <p:txBody>
          <a:bodyPr wrap="square" rtlCol="0">
            <a:spAutoFit/>
          </a:bodyPr>
          <a:lstStyle/>
          <a:p>
            <a:r>
              <a:rPr lang="en-US" sz="2400" b="1" dirty="0"/>
              <a:t>Proposed Solution</a:t>
            </a:r>
          </a:p>
          <a:p>
            <a:r>
              <a:rPr lang="en-US" sz="2000" b="1" dirty="0"/>
              <a:t> </a:t>
            </a:r>
          </a:p>
          <a:p>
            <a:r>
              <a:rPr lang="en-US" b="1" dirty="0"/>
              <a:t>Description</a:t>
            </a:r>
          </a:p>
          <a:p>
            <a:endParaRPr lang="en-US" dirty="0"/>
          </a:p>
          <a:p>
            <a:r>
              <a:rPr lang="en-US" dirty="0"/>
              <a:t>Concept:</a:t>
            </a:r>
            <a:br>
              <a:rPr lang="en-US" dirty="0"/>
            </a:br>
            <a:br>
              <a:rPr lang="en-US" dirty="0"/>
            </a:br>
            <a:r>
              <a:rPr lang="en-US" dirty="0"/>
              <a:t>We propose a GNNSE-based Smart Contract Vulnerability Detection and Localization System that integrates Graph Neural Networks (GNN) with Symbolic Execution (SE) to efficiently analyze large-scale smart contract datasets. The system is designed to address both vulnerability detection and precise localization by combining graph-based learning for scalability with symbolic execution for execution-path accuracy.</a:t>
            </a:r>
            <a:br>
              <a:rPr lang="en-US" dirty="0"/>
            </a:br>
            <a:br>
              <a:rPr lang="en-US" dirty="0"/>
            </a:br>
            <a:r>
              <a:rPr lang="en-US" dirty="0"/>
              <a:t>Graph Neural Networks are employed to model smart contracts as graphs derived from Abstract Syntax Trees (AST), Control Flow Graphs (CFG), and Data Flow Graphs (DFG), enabling the system to learn complex structural and dependency patterns. Symbolic Execution is selectively applied to high-risk regions identified by the GNN to accurately localize vulnerabilities at the function, variable, and line level.</a:t>
            </a:r>
          </a:p>
          <a:p>
            <a:r>
              <a:rPr lang="en-US" dirty="0"/>
              <a:t>Value Proposition:</a:t>
            </a:r>
            <a:br>
              <a:rPr lang="en-US" dirty="0"/>
            </a:br>
            <a:br>
              <a:rPr lang="en-US" dirty="0"/>
            </a:br>
            <a:r>
              <a:rPr lang="en-US" dirty="0"/>
              <a:t>This solution addresses scalability and localization limitations in existing smart contract security tools. GNN-based learning filters and prioritizes suspicious contracts, while Symbolic Execution confirms and localizes vulnerabilities, reducing false positives and enabling efficient auditing of large-scale blockchain data.</a:t>
            </a:r>
          </a:p>
        </p:txBody>
      </p:sp>
    </p:spTree>
    <p:extLst>
      <p:ext uri="{BB962C8B-B14F-4D97-AF65-F5344CB8AC3E}">
        <p14:creationId xmlns:p14="http://schemas.microsoft.com/office/powerpoint/2010/main" val="1418559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5D51F6-B8A8-6E80-915E-134439B5D956}"/>
              </a:ext>
            </a:extLst>
          </p:cNvPr>
          <p:cNvSpPr txBox="1"/>
          <p:nvPr/>
        </p:nvSpPr>
        <p:spPr>
          <a:xfrm>
            <a:off x="287866" y="117693"/>
            <a:ext cx="11904134" cy="4801314"/>
          </a:xfrm>
          <a:prstGeom prst="rect">
            <a:avLst/>
          </a:prstGeom>
          <a:noFill/>
        </p:spPr>
        <p:txBody>
          <a:bodyPr wrap="square" rtlCol="0">
            <a:spAutoFit/>
          </a:bodyPr>
          <a:lstStyle/>
          <a:p>
            <a:r>
              <a:rPr lang="en-US" b="1" dirty="0"/>
              <a:t> </a:t>
            </a:r>
            <a:endParaRPr lang="en-US" dirty="0"/>
          </a:p>
          <a:p>
            <a:r>
              <a:rPr lang="en-US" b="1" dirty="0"/>
              <a:t>Key Features</a:t>
            </a:r>
          </a:p>
          <a:p>
            <a:endParaRPr lang="en-US" dirty="0"/>
          </a:p>
          <a:p>
            <a:r>
              <a:rPr lang="en-US" dirty="0"/>
              <a:t>• Structural-aware vulnerability detection using GNNs</a:t>
            </a:r>
            <a:br>
              <a:rPr lang="en-US" dirty="0"/>
            </a:br>
            <a:r>
              <a:rPr lang="en-US" dirty="0"/>
              <a:t>• Precise vulnerability localization using symbolic execution</a:t>
            </a:r>
            <a:br>
              <a:rPr lang="en-US" dirty="0"/>
            </a:br>
            <a:r>
              <a:rPr lang="en-US" dirty="0"/>
              <a:t>• Scalable analysis for big data smart contract repositories</a:t>
            </a:r>
            <a:br>
              <a:rPr lang="en-US" dirty="0"/>
            </a:br>
            <a:r>
              <a:rPr lang="en-US" dirty="0"/>
              <a:t>• Detection of multiple vulnerability types</a:t>
            </a:r>
          </a:p>
          <a:p>
            <a:r>
              <a:rPr lang="en-US" b="1" dirty="0"/>
              <a:t> </a:t>
            </a:r>
            <a:endParaRPr lang="en-US" dirty="0"/>
          </a:p>
          <a:p>
            <a:r>
              <a:rPr lang="en-US" b="1" dirty="0"/>
              <a:t>Novelty &amp; Uniqueness</a:t>
            </a:r>
          </a:p>
          <a:p>
            <a:endParaRPr lang="en-US" dirty="0"/>
          </a:p>
          <a:p>
            <a:r>
              <a:rPr lang="en-US" dirty="0"/>
              <a:t>The proposed system uniquely integrates graph learning with symbolic reasoning. Unlike traditional approaches, it supports both large-scale detection and precise localization, making it suitable for real-world blockchain auditing.</a:t>
            </a:r>
          </a:p>
          <a:p>
            <a:r>
              <a:rPr lang="en-US" b="1" dirty="0"/>
              <a:t> </a:t>
            </a:r>
            <a:endParaRPr lang="en-US" dirty="0"/>
          </a:p>
          <a:p>
            <a:r>
              <a:rPr lang="en-US" b="1" dirty="0"/>
              <a:t>Feasibility of Idea</a:t>
            </a:r>
          </a:p>
          <a:p>
            <a:endParaRPr lang="en-US" dirty="0"/>
          </a:p>
          <a:p>
            <a:r>
              <a:rPr lang="en-US" dirty="0"/>
              <a:t>The system leverages mature deep learning frameworks and symbolic execution tools. Publicly available datasets and standard computing infrastructure ensure feasibility for academic and practical deployment.</a:t>
            </a:r>
          </a:p>
        </p:txBody>
      </p:sp>
    </p:spTree>
    <p:extLst>
      <p:ext uri="{BB962C8B-B14F-4D97-AF65-F5344CB8AC3E}">
        <p14:creationId xmlns:p14="http://schemas.microsoft.com/office/powerpoint/2010/main" val="3264881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0521B74-51E9-4A0F-FE62-2CA74CFE722E}"/>
              </a:ext>
            </a:extLst>
          </p:cNvPr>
          <p:cNvSpPr txBox="1"/>
          <p:nvPr/>
        </p:nvSpPr>
        <p:spPr>
          <a:xfrm>
            <a:off x="169334" y="155254"/>
            <a:ext cx="6096000" cy="480837"/>
          </a:xfrm>
          <a:prstGeom prst="rect">
            <a:avLst/>
          </a:prstGeom>
          <a:noFill/>
        </p:spPr>
        <p:txBody>
          <a:bodyPr wrap="square">
            <a:spAutoFit/>
          </a:bodyPr>
          <a:lstStyle/>
          <a:p>
            <a:pPr marL="0" marR="0">
              <a:lnSpc>
                <a:spcPct val="115000"/>
              </a:lnSpc>
              <a:spcAft>
                <a:spcPts val="1000"/>
              </a:spcAft>
              <a:buNone/>
            </a:pPr>
            <a:r>
              <a:rPr lang="en-US" sz="2400" b="1" dirty="0">
                <a:effectLst/>
                <a:latin typeface="Cambria" panose="02040503050406030204" pitchFamily="18" charset="0"/>
                <a:ea typeface="MS Mincho" panose="02020609040205080304" pitchFamily="49" charset="-128"/>
                <a:cs typeface="Times New Roman" panose="02020603050405020304" pitchFamily="18" charset="0"/>
              </a:rPr>
              <a:t>Software and Hardware Requirements</a:t>
            </a:r>
            <a:r>
              <a:rPr lang="en-US" sz="1800" b="1" dirty="0">
                <a:effectLst/>
                <a:latin typeface="Cambria" panose="02040503050406030204" pitchFamily="18" charset="0"/>
                <a:ea typeface="MS Mincho" panose="02020609040205080304" pitchFamily="49" charset="-128"/>
                <a:cs typeface="Times New Roman" panose="02020603050405020304" pitchFamily="18" charset="0"/>
              </a:rPr>
              <a:t>:</a:t>
            </a:r>
            <a:endParaRPr lang="en-US" sz="1600" dirty="0">
              <a:effectLst/>
              <a:latin typeface="Cambria" panose="02040503050406030204" pitchFamily="18" charset="0"/>
              <a:ea typeface="MS Mincho" panose="02020609040205080304" pitchFamily="49" charset="-128"/>
              <a:cs typeface="Times New Roman" panose="02020603050405020304" pitchFamily="18" charset="0"/>
            </a:endParaRPr>
          </a:p>
        </p:txBody>
      </p:sp>
      <p:sp>
        <p:nvSpPr>
          <p:cNvPr id="7" name="TextBox 6">
            <a:extLst>
              <a:ext uri="{FF2B5EF4-FFF2-40B4-BE49-F238E27FC236}">
                <a16:creationId xmlns:a16="http://schemas.microsoft.com/office/drawing/2014/main" id="{D92E9185-0D95-3BD3-CACD-6FCF65935713}"/>
              </a:ext>
            </a:extLst>
          </p:cNvPr>
          <p:cNvSpPr txBox="1"/>
          <p:nvPr/>
        </p:nvSpPr>
        <p:spPr>
          <a:xfrm>
            <a:off x="1642533" y="2201333"/>
            <a:ext cx="5637265" cy="2435199"/>
          </a:xfrm>
          <a:prstGeom prst="rect">
            <a:avLst/>
          </a:prstGeom>
          <a:noFill/>
        </p:spPr>
        <p:txBody>
          <a:bodyPr wrap="square" rtlCol="0">
            <a:spAutoFit/>
          </a:bodyPr>
          <a:lstStyle/>
          <a:p>
            <a:endParaRPr lang="en-US" dirty="0"/>
          </a:p>
        </p:txBody>
      </p:sp>
      <p:graphicFrame>
        <p:nvGraphicFramePr>
          <p:cNvPr id="9" name="Table 8">
            <a:extLst>
              <a:ext uri="{FF2B5EF4-FFF2-40B4-BE49-F238E27FC236}">
                <a16:creationId xmlns:a16="http://schemas.microsoft.com/office/drawing/2014/main" id="{C3B79EC8-039F-03EF-9B56-5A6BF11FD4BA}"/>
              </a:ext>
            </a:extLst>
          </p:cNvPr>
          <p:cNvGraphicFramePr>
            <a:graphicFrameLocks noGrp="1"/>
          </p:cNvGraphicFramePr>
          <p:nvPr>
            <p:extLst>
              <p:ext uri="{D42A27DB-BD31-4B8C-83A1-F6EECF244321}">
                <p14:modId xmlns:p14="http://schemas.microsoft.com/office/powerpoint/2010/main" val="269813487"/>
              </p:ext>
            </p:extLst>
          </p:nvPr>
        </p:nvGraphicFramePr>
        <p:xfrm>
          <a:off x="507459" y="1069365"/>
          <a:ext cx="10515600" cy="5041646"/>
        </p:xfrm>
        <a:graphic>
          <a:graphicData uri="http://schemas.openxmlformats.org/drawingml/2006/table">
            <a:tbl>
              <a:tblPr firstRow="1" firstCol="1" bandRow="1">
                <a:tableStyleId>{5940675A-B579-460E-94D1-54222C63F5DA}</a:tableStyleId>
              </a:tblPr>
              <a:tblGrid>
                <a:gridCol w="3505200">
                  <a:extLst>
                    <a:ext uri="{9D8B030D-6E8A-4147-A177-3AD203B41FA5}">
                      <a16:colId xmlns:a16="http://schemas.microsoft.com/office/drawing/2014/main" val="1703066433"/>
                    </a:ext>
                  </a:extLst>
                </a:gridCol>
                <a:gridCol w="3505200">
                  <a:extLst>
                    <a:ext uri="{9D8B030D-6E8A-4147-A177-3AD203B41FA5}">
                      <a16:colId xmlns:a16="http://schemas.microsoft.com/office/drawing/2014/main" val="3574709608"/>
                    </a:ext>
                  </a:extLst>
                </a:gridCol>
                <a:gridCol w="3505200">
                  <a:extLst>
                    <a:ext uri="{9D8B030D-6E8A-4147-A177-3AD203B41FA5}">
                      <a16:colId xmlns:a16="http://schemas.microsoft.com/office/drawing/2014/main" val="1194625715"/>
                    </a:ext>
                  </a:extLst>
                </a:gridCol>
              </a:tblGrid>
              <a:tr h="0">
                <a:tc>
                  <a:txBody>
                    <a:bodyPr/>
                    <a:lstStyle/>
                    <a:p>
                      <a:pPr marL="0" marR="0">
                        <a:lnSpc>
                          <a:spcPct val="115000"/>
                        </a:lnSpc>
                        <a:spcAft>
                          <a:spcPts val="1000"/>
                        </a:spcAft>
                        <a:buNone/>
                      </a:pPr>
                      <a:r>
                        <a:rPr lang="en-US" sz="1800">
                          <a:effectLst/>
                        </a:rPr>
                        <a:t>Category</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114300" marR="114300" marT="76200" marB="76200" anchor="ctr"/>
                </a:tc>
                <a:tc>
                  <a:txBody>
                    <a:bodyPr/>
                    <a:lstStyle/>
                    <a:p>
                      <a:pPr marL="0" marR="0">
                        <a:lnSpc>
                          <a:spcPct val="115000"/>
                        </a:lnSpc>
                        <a:spcAft>
                          <a:spcPts val="1000"/>
                        </a:spcAft>
                        <a:buNone/>
                      </a:pPr>
                      <a:r>
                        <a:rPr lang="en-US" sz="1800">
                          <a:effectLst/>
                        </a:rPr>
                        <a:t>Component</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114300" marR="114300" marT="76200" marB="76200" anchor="ctr"/>
                </a:tc>
                <a:tc>
                  <a:txBody>
                    <a:bodyPr/>
                    <a:lstStyle/>
                    <a:p>
                      <a:pPr marL="0" marR="0">
                        <a:lnSpc>
                          <a:spcPct val="115000"/>
                        </a:lnSpc>
                        <a:spcAft>
                          <a:spcPts val="1000"/>
                        </a:spcAft>
                        <a:buNone/>
                      </a:pPr>
                      <a:r>
                        <a:rPr lang="en-US" sz="1800">
                          <a:effectLst/>
                        </a:rPr>
                        <a:t>Requirement Details</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114300" marR="114300" marT="76200" marB="76200" anchor="ctr"/>
                </a:tc>
                <a:extLst>
                  <a:ext uri="{0D108BD9-81ED-4DB2-BD59-A6C34878D82A}">
                    <a16:rowId xmlns:a16="http://schemas.microsoft.com/office/drawing/2014/main" val="3973291221"/>
                  </a:ext>
                </a:extLst>
              </a:tr>
              <a:tr h="430530">
                <a:tc>
                  <a:txBody>
                    <a:bodyPr/>
                    <a:lstStyle/>
                    <a:p>
                      <a:pPr marL="0" marR="0">
                        <a:lnSpc>
                          <a:spcPct val="115000"/>
                        </a:lnSpc>
                        <a:spcAft>
                          <a:spcPts val="1000"/>
                        </a:spcAft>
                        <a:buNone/>
                      </a:pPr>
                      <a:r>
                        <a:rPr lang="en-US" sz="1800" dirty="0">
                          <a:effectLst/>
                        </a:rPr>
                        <a:t>Software</a:t>
                      </a:r>
                      <a:endParaRPr lang="en-US" sz="1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114300" marR="114300" marT="76200" marB="76200" anchor="ctr"/>
                </a:tc>
                <a:tc>
                  <a:txBody>
                    <a:bodyPr/>
                    <a:lstStyle/>
                    <a:p>
                      <a:pPr marL="0" marR="0">
                        <a:lnSpc>
                          <a:spcPct val="115000"/>
                        </a:lnSpc>
                        <a:spcAft>
                          <a:spcPts val="1000"/>
                        </a:spcAft>
                        <a:buNone/>
                      </a:pPr>
                      <a:r>
                        <a:rPr lang="en-US" sz="1800">
                          <a:effectLst/>
                        </a:rPr>
                        <a:t>Programming Language</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114300" marR="114300" marT="76200" marB="76200" anchor="ctr"/>
                </a:tc>
                <a:tc>
                  <a:txBody>
                    <a:bodyPr/>
                    <a:lstStyle/>
                    <a:p>
                      <a:pPr marL="0" marR="0">
                        <a:lnSpc>
                          <a:spcPct val="115000"/>
                        </a:lnSpc>
                        <a:spcAft>
                          <a:spcPts val="1000"/>
                        </a:spcAft>
                        <a:buNone/>
                      </a:pPr>
                      <a:r>
                        <a:rPr lang="en-US" sz="1800">
                          <a:effectLst/>
                        </a:rPr>
                        <a:t>Python 3.9+ and Solidity (for source code analysis) </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114300" marR="114300" marT="76200" marB="76200" anchor="ctr"/>
                </a:tc>
                <a:extLst>
                  <a:ext uri="{0D108BD9-81ED-4DB2-BD59-A6C34878D82A}">
                    <a16:rowId xmlns:a16="http://schemas.microsoft.com/office/drawing/2014/main" val="673297802"/>
                  </a:ext>
                </a:extLst>
              </a:tr>
              <a:tr h="424815">
                <a:tc>
                  <a:txBody>
                    <a:bodyPr/>
                    <a:lstStyle/>
                    <a:p>
                      <a:pPr>
                        <a:lnSpc>
                          <a:spcPct val="115000"/>
                        </a:lnSpc>
                        <a:buNone/>
                      </a:pPr>
                      <a:endParaRPr lang="en-US" sz="1800">
                        <a:effectLst/>
                        <a:latin typeface="Cambria" panose="02040503050406030204" pitchFamily="18" charset="0"/>
                      </a:endParaRPr>
                    </a:p>
                  </a:txBody>
                  <a:tcPr marL="114300" marR="114300" marT="76200" marB="76200" anchor="ctr"/>
                </a:tc>
                <a:tc>
                  <a:txBody>
                    <a:bodyPr/>
                    <a:lstStyle/>
                    <a:p>
                      <a:pPr marL="0" marR="0">
                        <a:lnSpc>
                          <a:spcPct val="115000"/>
                        </a:lnSpc>
                        <a:spcAft>
                          <a:spcPts val="1000"/>
                        </a:spcAft>
                        <a:buNone/>
                      </a:pPr>
                      <a:r>
                        <a:rPr lang="en-US" sz="1800">
                          <a:effectLst/>
                        </a:rPr>
                        <a:t>DL Frameworks</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114300" marR="114300" marT="76200" marB="76200" anchor="ctr"/>
                </a:tc>
                <a:tc>
                  <a:txBody>
                    <a:bodyPr/>
                    <a:lstStyle/>
                    <a:p>
                      <a:pPr marL="0" marR="0">
                        <a:lnSpc>
                          <a:spcPct val="115000"/>
                        </a:lnSpc>
                        <a:spcAft>
                          <a:spcPts val="1000"/>
                        </a:spcAft>
                        <a:buNone/>
                      </a:pPr>
                      <a:r>
                        <a:rPr lang="en-US" sz="1800">
                          <a:effectLst/>
                        </a:rPr>
                        <a:t>PyTorch and PyTorch Geometric (for GNN modeling) </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114300" marR="114300" marT="76200" marB="76200" anchor="ctr"/>
                </a:tc>
                <a:extLst>
                  <a:ext uri="{0D108BD9-81ED-4DB2-BD59-A6C34878D82A}">
                    <a16:rowId xmlns:a16="http://schemas.microsoft.com/office/drawing/2014/main" val="57691343"/>
                  </a:ext>
                </a:extLst>
              </a:tr>
              <a:tr h="413385">
                <a:tc>
                  <a:txBody>
                    <a:bodyPr/>
                    <a:lstStyle/>
                    <a:p>
                      <a:pPr>
                        <a:lnSpc>
                          <a:spcPct val="115000"/>
                        </a:lnSpc>
                        <a:buNone/>
                      </a:pPr>
                      <a:endParaRPr lang="en-US" sz="1800">
                        <a:effectLst/>
                        <a:latin typeface="Cambria" panose="02040503050406030204" pitchFamily="18" charset="0"/>
                      </a:endParaRPr>
                    </a:p>
                  </a:txBody>
                  <a:tcPr marL="114300" marR="114300" marT="76200" marB="76200" anchor="ctr"/>
                </a:tc>
                <a:tc>
                  <a:txBody>
                    <a:bodyPr/>
                    <a:lstStyle/>
                    <a:p>
                      <a:pPr marL="0" marR="0">
                        <a:lnSpc>
                          <a:spcPct val="115000"/>
                        </a:lnSpc>
                        <a:spcAft>
                          <a:spcPts val="1000"/>
                        </a:spcAft>
                        <a:buNone/>
                      </a:pPr>
                      <a:r>
                        <a:rPr lang="en-US" sz="1800">
                          <a:effectLst/>
                        </a:rPr>
                        <a:t>Symbolic Execution</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114300" marR="114300" marT="76200" marB="76200" anchor="ctr"/>
                </a:tc>
                <a:tc>
                  <a:txBody>
                    <a:bodyPr/>
                    <a:lstStyle/>
                    <a:p>
                      <a:pPr marL="0" marR="0">
                        <a:lnSpc>
                          <a:spcPct val="115000"/>
                        </a:lnSpc>
                        <a:spcAft>
                          <a:spcPts val="1000"/>
                        </a:spcAft>
                        <a:buNone/>
                      </a:pPr>
                      <a:r>
                        <a:rPr lang="en-US" sz="1800">
                          <a:effectLst/>
                        </a:rPr>
                        <a:t>Z3 Theorem Prover, Slither, or Mythril (for localization) </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114300" marR="114300" marT="76200" marB="76200" anchor="ctr"/>
                </a:tc>
                <a:extLst>
                  <a:ext uri="{0D108BD9-81ED-4DB2-BD59-A6C34878D82A}">
                    <a16:rowId xmlns:a16="http://schemas.microsoft.com/office/drawing/2014/main" val="641506940"/>
                  </a:ext>
                </a:extLst>
              </a:tr>
              <a:tr h="350520">
                <a:tc>
                  <a:txBody>
                    <a:bodyPr/>
                    <a:lstStyle/>
                    <a:p>
                      <a:pPr>
                        <a:lnSpc>
                          <a:spcPct val="115000"/>
                        </a:lnSpc>
                        <a:buNone/>
                      </a:pPr>
                      <a:endParaRPr lang="en-US" sz="1800">
                        <a:effectLst/>
                        <a:latin typeface="Cambria" panose="02040503050406030204" pitchFamily="18" charset="0"/>
                      </a:endParaRPr>
                    </a:p>
                  </a:txBody>
                  <a:tcPr marL="114300" marR="114300" marT="76200" marB="76200" anchor="ctr"/>
                </a:tc>
                <a:tc>
                  <a:txBody>
                    <a:bodyPr/>
                    <a:lstStyle/>
                    <a:p>
                      <a:pPr marL="0" marR="0">
                        <a:lnSpc>
                          <a:spcPct val="115000"/>
                        </a:lnSpc>
                        <a:spcAft>
                          <a:spcPts val="1000"/>
                        </a:spcAft>
                        <a:buNone/>
                      </a:pPr>
                      <a:r>
                        <a:rPr lang="en-US" sz="1800">
                          <a:effectLst/>
                        </a:rPr>
                        <a:t>Data Processing</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114300" marR="114300" marT="76200" marB="76200" anchor="ctr"/>
                </a:tc>
                <a:tc>
                  <a:txBody>
                    <a:bodyPr/>
                    <a:lstStyle/>
                    <a:p>
                      <a:pPr marL="0" marR="0">
                        <a:lnSpc>
                          <a:spcPct val="115000"/>
                        </a:lnSpc>
                        <a:spcAft>
                          <a:spcPts val="1000"/>
                        </a:spcAft>
                        <a:buNone/>
                      </a:pPr>
                      <a:r>
                        <a:rPr lang="en-US" sz="1800">
                          <a:effectLst/>
                        </a:rPr>
                        <a:t>Solidity-Antlr (for AST parsing), NumPy, and Pandas </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114300" marR="114300" marT="76200" marB="76200" anchor="ctr"/>
                </a:tc>
                <a:extLst>
                  <a:ext uri="{0D108BD9-81ED-4DB2-BD59-A6C34878D82A}">
                    <a16:rowId xmlns:a16="http://schemas.microsoft.com/office/drawing/2014/main" val="928508099"/>
                  </a:ext>
                </a:extLst>
              </a:tr>
              <a:tr h="0">
                <a:tc>
                  <a:txBody>
                    <a:bodyPr/>
                    <a:lstStyle/>
                    <a:p>
                      <a:pPr>
                        <a:lnSpc>
                          <a:spcPct val="115000"/>
                        </a:lnSpc>
                        <a:buNone/>
                      </a:pPr>
                      <a:endParaRPr lang="en-US" sz="1800">
                        <a:effectLst/>
                        <a:latin typeface="Cambria" panose="02040503050406030204" pitchFamily="18" charset="0"/>
                      </a:endParaRPr>
                    </a:p>
                  </a:txBody>
                  <a:tcPr marL="114300" marR="114300" marT="76200" marB="76200" anchor="ctr"/>
                </a:tc>
                <a:tc>
                  <a:txBody>
                    <a:bodyPr/>
                    <a:lstStyle/>
                    <a:p>
                      <a:pPr marL="0" marR="0">
                        <a:lnSpc>
                          <a:spcPct val="115000"/>
                        </a:lnSpc>
                        <a:spcAft>
                          <a:spcPts val="1000"/>
                        </a:spcAft>
                        <a:buNone/>
                      </a:pPr>
                      <a:r>
                        <a:rPr lang="en-US" sz="1800">
                          <a:effectLst/>
                        </a:rPr>
                        <a:t>Web Interface</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114300" marR="114300" marT="76200" marB="76200" anchor="ctr"/>
                </a:tc>
                <a:tc>
                  <a:txBody>
                    <a:bodyPr/>
                    <a:lstStyle/>
                    <a:p>
                      <a:pPr marL="0" marR="0">
                        <a:lnSpc>
                          <a:spcPct val="115000"/>
                        </a:lnSpc>
                        <a:spcAft>
                          <a:spcPts val="1000"/>
                        </a:spcAft>
                        <a:buNone/>
                      </a:pPr>
                      <a:r>
                        <a:rPr lang="en-US" sz="1800">
                          <a:effectLst/>
                        </a:rPr>
                        <a:t>Streamlit (Frontend &amp; User Dashboard) </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114300" marR="114300" marT="76200" marB="76200" anchor="ctr"/>
                </a:tc>
                <a:extLst>
                  <a:ext uri="{0D108BD9-81ED-4DB2-BD59-A6C34878D82A}">
                    <a16:rowId xmlns:a16="http://schemas.microsoft.com/office/drawing/2014/main" val="235203682"/>
                  </a:ext>
                </a:extLst>
              </a:tr>
              <a:tr h="0">
                <a:tc>
                  <a:txBody>
                    <a:bodyPr/>
                    <a:lstStyle/>
                    <a:p>
                      <a:pPr>
                        <a:lnSpc>
                          <a:spcPct val="115000"/>
                        </a:lnSpc>
                        <a:buNone/>
                      </a:pPr>
                      <a:endParaRPr lang="en-US" sz="1800">
                        <a:effectLst/>
                        <a:latin typeface="Cambria" panose="02040503050406030204" pitchFamily="18" charset="0"/>
                      </a:endParaRPr>
                    </a:p>
                  </a:txBody>
                  <a:tcPr marL="114300" marR="114300" marT="76200" marB="76200" anchor="ctr"/>
                </a:tc>
                <a:tc>
                  <a:txBody>
                    <a:bodyPr/>
                    <a:lstStyle/>
                    <a:p>
                      <a:pPr marL="0" marR="0">
                        <a:lnSpc>
                          <a:spcPct val="115000"/>
                        </a:lnSpc>
                        <a:spcAft>
                          <a:spcPts val="1000"/>
                        </a:spcAft>
                        <a:buNone/>
                      </a:pPr>
                      <a:r>
                        <a:rPr lang="en-US" sz="1800">
                          <a:effectLst/>
                        </a:rPr>
                        <a:t>Datasets</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114300" marR="114300" marT="76200" marB="76200" anchor="ctr"/>
                </a:tc>
                <a:tc>
                  <a:txBody>
                    <a:bodyPr/>
                    <a:lstStyle/>
                    <a:p>
                      <a:pPr marL="0" marR="0">
                        <a:lnSpc>
                          <a:spcPct val="115000"/>
                        </a:lnSpc>
                        <a:spcAft>
                          <a:spcPts val="1000"/>
                        </a:spcAft>
                        <a:buNone/>
                      </a:pPr>
                      <a:r>
                        <a:rPr lang="en-US" sz="1800" dirty="0" err="1">
                          <a:effectLst/>
                        </a:rPr>
                        <a:t>XBlock</a:t>
                      </a:r>
                      <a:r>
                        <a:rPr lang="en-US" sz="1800" dirty="0">
                          <a:effectLst/>
                        </a:rPr>
                        <a:t>-ESC, Smart-Check, or </a:t>
                      </a:r>
                      <a:r>
                        <a:rPr lang="en-US" sz="1800" dirty="0" err="1">
                          <a:effectLst/>
                        </a:rPr>
                        <a:t>SmartBugs</a:t>
                      </a:r>
                      <a:r>
                        <a:rPr lang="en-US" sz="1800" dirty="0">
                          <a:effectLst/>
                        </a:rPr>
                        <a:t>-Wild (50k+ contracts) </a:t>
                      </a:r>
                      <a:endParaRPr lang="en-US" sz="1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114300" marR="114300" marT="76200" marB="76200" anchor="ctr"/>
                </a:tc>
                <a:extLst>
                  <a:ext uri="{0D108BD9-81ED-4DB2-BD59-A6C34878D82A}">
                    <a16:rowId xmlns:a16="http://schemas.microsoft.com/office/drawing/2014/main" val="4176685387"/>
                  </a:ext>
                </a:extLst>
              </a:tr>
            </a:tbl>
          </a:graphicData>
        </a:graphic>
      </p:graphicFrame>
    </p:spTree>
    <p:extLst>
      <p:ext uri="{BB962C8B-B14F-4D97-AF65-F5344CB8AC3E}">
        <p14:creationId xmlns:p14="http://schemas.microsoft.com/office/powerpoint/2010/main" val="2546971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6942EC0C-DFA5-1D20-5968-C3197D10CB4C}"/>
              </a:ext>
            </a:extLst>
          </p:cNvPr>
          <p:cNvGraphicFramePr>
            <a:graphicFrameLocks noGrp="1"/>
          </p:cNvGraphicFramePr>
          <p:nvPr>
            <p:extLst>
              <p:ext uri="{D42A27DB-BD31-4B8C-83A1-F6EECF244321}">
                <p14:modId xmlns:p14="http://schemas.microsoft.com/office/powerpoint/2010/main" val="3007694788"/>
              </p:ext>
            </p:extLst>
          </p:nvPr>
        </p:nvGraphicFramePr>
        <p:xfrm>
          <a:off x="449093" y="434975"/>
          <a:ext cx="10515600" cy="5672582"/>
        </p:xfrm>
        <a:graphic>
          <a:graphicData uri="http://schemas.openxmlformats.org/drawingml/2006/table">
            <a:tbl>
              <a:tblPr firstRow="1" firstCol="1" bandRow="1">
                <a:tableStyleId>{5940675A-B579-460E-94D1-54222C63F5DA}</a:tableStyleId>
              </a:tblPr>
              <a:tblGrid>
                <a:gridCol w="3505200">
                  <a:extLst>
                    <a:ext uri="{9D8B030D-6E8A-4147-A177-3AD203B41FA5}">
                      <a16:colId xmlns:a16="http://schemas.microsoft.com/office/drawing/2014/main" val="1221636068"/>
                    </a:ext>
                  </a:extLst>
                </a:gridCol>
                <a:gridCol w="3505200">
                  <a:extLst>
                    <a:ext uri="{9D8B030D-6E8A-4147-A177-3AD203B41FA5}">
                      <a16:colId xmlns:a16="http://schemas.microsoft.com/office/drawing/2014/main" val="2757159808"/>
                    </a:ext>
                  </a:extLst>
                </a:gridCol>
                <a:gridCol w="3505200">
                  <a:extLst>
                    <a:ext uri="{9D8B030D-6E8A-4147-A177-3AD203B41FA5}">
                      <a16:colId xmlns:a16="http://schemas.microsoft.com/office/drawing/2014/main" val="3321301390"/>
                    </a:ext>
                  </a:extLst>
                </a:gridCol>
              </a:tblGrid>
              <a:tr h="0">
                <a:tc>
                  <a:txBody>
                    <a:bodyPr/>
                    <a:lstStyle/>
                    <a:p>
                      <a:pPr marL="0" marR="0">
                        <a:lnSpc>
                          <a:spcPct val="115000"/>
                        </a:lnSpc>
                        <a:spcAft>
                          <a:spcPts val="1000"/>
                        </a:spcAft>
                        <a:buNone/>
                      </a:pPr>
                      <a:r>
                        <a:rPr lang="en-US" sz="1800" dirty="0">
                          <a:effectLst/>
                        </a:rPr>
                        <a:t>Hardware</a:t>
                      </a:r>
                      <a:endParaRPr lang="en-US" sz="1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114300" marR="114300" marT="76200" marB="76200" anchor="ctr"/>
                </a:tc>
                <a:tc>
                  <a:txBody>
                    <a:bodyPr/>
                    <a:lstStyle/>
                    <a:p>
                      <a:pPr marL="0" marR="0">
                        <a:lnSpc>
                          <a:spcPct val="115000"/>
                        </a:lnSpc>
                        <a:spcAft>
                          <a:spcPts val="1000"/>
                        </a:spcAft>
                        <a:buNone/>
                      </a:pPr>
                      <a:r>
                        <a:rPr lang="en-US" sz="1800">
                          <a:effectLst/>
                        </a:rPr>
                        <a:t>Processor (CPU)</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114300" marR="114300" marT="76200" marB="76200" anchor="ctr"/>
                </a:tc>
                <a:tc>
                  <a:txBody>
                    <a:bodyPr/>
                    <a:lstStyle/>
                    <a:p>
                      <a:pPr marL="0" marR="0">
                        <a:lnSpc>
                          <a:spcPct val="115000"/>
                        </a:lnSpc>
                        <a:spcAft>
                          <a:spcPts val="1000"/>
                        </a:spcAft>
                        <a:buNone/>
                      </a:pPr>
                      <a:r>
                        <a:rPr lang="en-US" sz="1800">
                          <a:effectLst/>
                        </a:rPr>
                        <a:t>Minimum: Intel i5 / Ryzen 5; Recommended: Intel i7 / Ryzen 7 </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114300" marR="114300" marT="76200" marB="76200" anchor="ctr"/>
                </a:tc>
                <a:extLst>
                  <a:ext uri="{0D108BD9-81ED-4DB2-BD59-A6C34878D82A}">
                    <a16:rowId xmlns:a16="http://schemas.microsoft.com/office/drawing/2014/main" val="3464848447"/>
                  </a:ext>
                </a:extLst>
              </a:tr>
              <a:tr h="441960">
                <a:tc>
                  <a:txBody>
                    <a:bodyPr/>
                    <a:lstStyle/>
                    <a:p>
                      <a:pPr>
                        <a:lnSpc>
                          <a:spcPct val="115000"/>
                        </a:lnSpc>
                        <a:buNone/>
                      </a:pPr>
                      <a:endParaRPr lang="en-US" sz="1800">
                        <a:effectLst/>
                        <a:latin typeface="Cambria" panose="02040503050406030204" pitchFamily="18" charset="0"/>
                      </a:endParaRPr>
                    </a:p>
                  </a:txBody>
                  <a:tcPr marL="114300" marR="114300" marT="76200" marB="76200" anchor="ctr"/>
                </a:tc>
                <a:tc>
                  <a:txBody>
                    <a:bodyPr/>
                    <a:lstStyle/>
                    <a:p>
                      <a:pPr marL="0" marR="0">
                        <a:lnSpc>
                          <a:spcPct val="115000"/>
                        </a:lnSpc>
                        <a:spcAft>
                          <a:spcPts val="1000"/>
                        </a:spcAft>
                        <a:buNone/>
                      </a:pPr>
                      <a:r>
                        <a:rPr lang="en-US" sz="1800">
                          <a:effectLst/>
                        </a:rPr>
                        <a:t>Graphics (GPU)</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114300" marR="114300" marT="76200" marB="76200" anchor="ctr"/>
                </a:tc>
                <a:tc>
                  <a:txBody>
                    <a:bodyPr/>
                    <a:lstStyle/>
                    <a:p>
                      <a:pPr marL="0" marR="0">
                        <a:lnSpc>
                          <a:spcPct val="115000"/>
                        </a:lnSpc>
                        <a:spcAft>
                          <a:spcPts val="1000"/>
                        </a:spcAft>
                        <a:buNone/>
                      </a:pPr>
                      <a:r>
                        <a:rPr lang="en-US" sz="1800">
                          <a:effectLst/>
                        </a:rPr>
                        <a:t>Required for Training: NVIDIA RTX 3060+ or Google Colab T4/A100 </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114300" marR="114300" marT="76200" marB="76200" anchor="ctr"/>
                </a:tc>
                <a:extLst>
                  <a:ext uri="{0D108BD9-81ED-4DB2-BD59-A6C34878D82A}">
                    <a16:rowId xmlns:a16="http://schemas.microsoft.com/office/drawing/2014/main" val="1565916050"/>
                  </a:ext>
                </a:extLst>
              </a:tr>
              <a:tr h="436245">
                <a:tc>
                  <a:txBody>
                    <a:bodyPr/>
                    <a:lstStyle/>
                    <a:p>
                      <a:pPr>
                        <a:lnSpc>
                          <a:spcPct val="115000"/>
                        </a:lnSpc>
                        <a:buNone/>
                      </a:pPr>
                      <a:endParaRPr lang="en-US" sz="1800">
                        <a:effectLst/>
                        <a:latin typeface="Cambria" panose="02040503050406030204" pitchFamily="18" charset="0"/>
                      </a:endParaRPr>
                    </a:p>
                  </a:txBody>
                  <a:tcPr marL="114300" marR="114300" marT="76200" marB="76200" anchor="ctr"/>
                </a:tc>
                <a:tc>
                  <a:txBody>
                    <a:bodyPr/>
                    <a:lstStyle/>
                    <a:p>
                      <a:pPr marL="0" marR="0">
                        <a:lnSpc>
                          <a:spcPct val="115000"/>
                        </a:lnSpc>
                        <a:spcAft>
                          <a:spcPts val="1000"/>
                        </a:spcAft>
                        <a:buNone/>
                      </a:pPr>
                      <a:r>
                        <a:rPr lang="en-US" sz="1800">
                          <a:effectLst/>
                        </a:rPr>
                        <a:t>System RAM</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114300" marR="114300" marT="76200" marB="76200" anchor="ctr"/>
                </a:tc>
                <a:tc>
                  <a:txBody>
                    <a:bodyPr/>
                    <a:lstStyle/>
                    <a:p>
                      <a:pPr marL="0" marR="0">
                        <a:lnSpc>
                          <a:spcPct val="115000"/>
                        </a:lnSpc>
                        <a:spcAft>
                          <a:spcPts val="1000"/>
                        </a:spcAft>
                        <a:buNone/>
                      </a:pPr>
                      <a:r>
                        <a:rPr lang="en-US" sz="1800">
                          <a:effectLst/>
                        </a:rPr>
                        <a:t>Minimum: 8 GB; Recommended: 16 GB - 32 GB for large graph processing </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114300" marR="114300" marT="76200" marB="76200" anchor="ctr"/>
                </a:tc>
                <a:extLst>
                  <a:ext uri="{0D108BD9-81ED-4DB2-BD59-A6C34878D82A}">
                    <a16:rowId xmlns:a16="http://schemas.microsoft.com/office/drawing/2014/main" val="2542453759"/>
                  </a:ext>
                </a:extLst>
              </a:tr>
              <a:tr h="259080">
                <a:tc>
                  <a:txBody>
                    <a:bodyPr/>
                    <a:lstStyle/>
                    <a:p>
                      <a:pPr>
                        <a:lnSpc>
                          <a:spcPct val="115000"/>
                        </a:lnSpc>
                        <a:buNone/>
                      </a:pPr>
                      <a:endParaRPr lang="en-US" sz="1800">
                        <a:effectLst/>
                        <a:latin typeface="Cambria" panose="02040503050406030204" pitchFamily="18" charset="0"/>
                      </a:endParaRPr>
                    </a:p>
                  </a:txBody>
                  <a:tcPr marL="114300" marR="114300" marT="76200" marB="76200" anchor="ctr"/>
                </a:tc>
                <a:tc>
                  <a:txBody>
                    <a:bodyPr/>
                    <a:lstStyle/>
                    <a:p>
                      <a:pPr marL="0" marR="0">
                        <a:lnSpc>
                          <a:spcPct val="115000"/>
                        </a:lnSpc>
                        <a:spcAft>
                          <a:spcPts val="1000"/>
                        </a:spcAft>
                        <a:buNone/>
                      </a:pPr>
                      <a:r>
                        <a:rPr lang="en-US" sz="1800">
                          <a:effectLst/>
                        </a:rPr>
                        <a:t>Storage</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114300" marR="114300" marT="76200" marB="76200" anchor="ctr"/>
                </a:tc>
                <a:tc>
                  <a:txBody>
                    <a:bodyPr/>
                    <a:lstStyle/>
                    <a:p>
                      <a:pPr marL="0" marR="0">
                        <a:lnSpc>
                          <a:spcPct val="115000"/>
                        </a:lnSpc>
                        <a:spcAft>
                          <a:spcPts val="1000"/>
                        </a:spcAft>
                        <a:buNone/>
                      </a:pPr>
                      <a:r>
                        <a:rPr lang="en-US" sz="1800">
                          <a:effectLst/>
                        </a:rPr>
                        <a:t>100 GB SSD (NVMe preferred for fast dataset I/O) </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114300" marR="114300" marT="76200" marB="76200" anchor="ctr"/>
                </a:tc>
                <a:extLst>
                  <a:ext uri="{0D108BD9-81ED-4DB2-BD59-A6C34878D82A}">
                    <a16:rowId xmlns:a16="http://schemas.microsoft.com/office/drawing/2014/main" val="3050371857"/>
                  </a:ext>
                </a:extLst>
              </a:tr>
              <a:tr h="0">
                <a:tc>
                  <a:txBody>
                    <a:bodyPr/>
                    <a:lstStyle/>
                    <a:p>
                      <a:pPr>
                        <a:lnSpc>
                          <a:spcPct val="115000"/>
                        </a:lnSpc>
                        <a:buNone/>
                      </a:pPr>
                      <a:endParaRPr lang="en-US" sz="1800">
                        <a:effectLst/>
                        <a:latin typeface="Cambria" panose="02040503050406030204" pitchFamily="18" charset="0"/>
                      </a:endParaRPr>
                    </a:p>
                  </a:txBody>
                  <a:tcPr marL="114300" marR="114300" marT="76200" marB="76200" anchor="ctr"/>
                </a:tc>
                <a:tc>
                  <a:txBody>
                    <a:bodyPr/>
                    <a:lstStyle/>
                    <a:p>
                      <a:pPr marL="0" marR="0">
                        <a:lnSpc>
                          <a:spcPct val="115000"/>
                        </a:lnSpc>
                        <a:spcAft>
                          <a:spcPts val="1000"/>
                        </a:spcAft>
                        <a:buNone/>
                      </a:pPr>
                      <a:r>
                        <a:rPr lang="en-US" sz="1800">
                          <a:effectLst/>
                        </a:rPr>
                        <a:t>Network</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114300" marR="114300" marT="76200" marB="76200" anchor="ctr"/>
                </a:tc>
                <a:tc>
                  <a:txBody>
                    <a:bodyPr/>
                    <a:lstStyle/>
                    <a:p>
                      <a:pPr marL="0" marR="0">
                        <a:lnSpc>
                          <a:spcPct val="115000"/>
                        </a:lnSpc>
                        <a:spcAft>
                          <a:spcPts val="1000"/>
                        </a:spcAft>
                        <a:buNone/>
                      </a:pPr>
                      <a:r>
                        <a:rPr lang="en-US" sz="1800">
                          <a:effectLst/>
                        </a:rPr>
                        <a:t>Stable internet connection for model hosting and cloud API access </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114300" marR="114300" marT="76200" marB="76200" anchor="ctr"/>
                </a:tc>
                <a:extLst>
                  <a:ext uri="{0D108BD9-81ED-4DB2-BD59-A6C34878D82A}">
                    <a16:rowId xmlns:a16="http://schemas.microsoft.com/office/drawing/2014/main" val="1011417478"/>
                  </a:ext>
                </a:extLst>
              </a:tr>
              <a:tr h="0">
                <a:tc>
                  <a:txBody>
                    <a:bodyPr/>
                    <a:lstStyle/>
                    <a:p>
                      <a:pPr marL="0" marR="0">
                        <a:lnSpc>
                          <a:spcPct val="115000"/>
                        </a:lnSpc>
                        <a:spcAft>
                          <a:spcPts val="1000"/>
                        </a:spcAft>
                        <a:buNone/>
                      </a:pPr>
                      <a:r>
                        <a:rPr lang="en-US" sz="1800">
                          <a:effectLst/>
                        </a:rPr>
                        <a:t>Deployment</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114300" marR="114300" marT="76200" marB="76200" anchor="ctr"/>
                </a:tc>
                <a:tc>
                  <a:txBody>
                    <a:bodyPr/>
                    <a:lstStyle/>
                    <a:p>
                      <a:pPr marL="0" marR="0">
                        <a:lnSpc>
                          <a:spcPct val="115000"/>
                        </a:lnSpc>
                        <a:spcAft>
                          <a:spcPts val="1000"/>
                        </a:spcAft>
                        <a:buNone/>
                      </a:pPr>
                      <a:r>
                        <a:rPr lang="en-US" sz="1800">
                          <a:effectLst/>
                        </a:rPr>
                        <a:t>Environment</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114300" marR="114300" marT="76200" marB="76200" anchor="ctr"/>
                </a:tc>
                <a:tc>
                  <a:txBody>
                    <a:bodyPr/>
                    <a:lstStyle/>
                    <a:p>
                      <a:pPr marL="0" marR="0">
                        <a:lnSpc>
                          <a:spcPct val="115000"/>
                        </a:lnSpc>
                        <a:spcAft>
                          <a:spcPts val="1000"/>
                        </a:spcAft>
                        <a:buNone/>
                      </a:pPr>
                      <a:r>
                        <a:rPr lang="en-US" sz="1800">
                          <a:effectLst/>
                        </a:rPr>
                        <a:t>Google Colab (with LocalTunnel)</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114300" marR="114300" marT="76200" marB="76200" anchor="ctr"/>
                </a:tc>
                <a:extLst>
                  <a:ext uri="{0D108BD9-81ED-4DB2-BD59-A6C34878D82A}">
                    <a16:rowId xmlns:a16="http://schemas.microsoft.com/office/drawing/2014/main" val="3601436221"/>
                  </a:ext>
                </a:extLst>
              </a:tr>
              <a:tr h="0">
                <a:tc>
                  <a:txBody>
                    <a:bodyPr/>
                    <a:lstStyle/>
                    <a:p>
                      <a:pPr>
                        <a:lnSpc>
                          <a:spcPct val="115000"/>
                        </a:lnSpc>
                        <a:buNone/>
                      </a:pPr>
                      <a:endParaRPr lang="en-US" sz="1800">
                        <a:effectLst/>
                        <a:latin typeface="Cambria" panose="02040503050406030204" pitchFamily="18" charset="0"/>
                      </a:endParaRPr>
                    </a:p>
                  </a:txBody>
                  <a:tcPr marL="114300" marR="114300" marT="76200" marB="76200" anchor="ctr"/>
                </a:tc>
                <a:tc>
                  <a:txBody>
                    <a:bodyPr/>
                    <a:lstStyle/>
                    <a:p>
                      <a:pPr marL="0" marR="0">
                        <a:lnSpc>
                          <a:spcPct val="115000"/>
                        </a:lnSpc>
                        <a:spcAft>
                          <a:spcPts val="1000"/>
                        </a:spcAft>
                        <a:buNone/>
                      </a:pPr>
                      <a:r>
                        <a:rPr lang="en-US" sz="1800">
                          <a:effectLst/>
                        </a:rPr>
                        <a:t>Client Device</a:t>
                      </a:r>
                      <a:endParaRPr lang="en-US" sz="1800">
                        <a:effectLst/>
                        <a:latin typeface="Cambria" panose="02040503050406030204" pitchFamily="18" charset="0"/>
                        <a:ea typeface="MS Mincho" panose="02020609040205080304" pitchFamily="49" charset="-128"/>
                        <a:cs typeface="Times New Roman" panose="02020603050405020304" pitchFamily="18" charset="0"/>
                      </a:endParaRPr>
                    </a:p>
                  </a:txBody>
                  <a:tcPr marL="114300" marR="114300" marT="76200" marB="76200" anchor="ctr"/>
                </a:tc>
                <a:tc>
                  <a:txBody>
                    <a:bodyPr/>
                    <a:lstStyle/>
                    <a:p>
                      <a:pPr marL="0" marR="0">
                        <a:lnSpc>
                          <a:spcPct val="115000"/>
                        </a:lnSpc>
                        <a:spcAft>
                          <a:spcPts val="1000"/>
                        </a:spcAft>
                        <a:buNone/>
                      </a:pPr>
                      <a:r>
                        <a:rPr lang="en-US" sz="1800" dirty="0">
                          <a:effectLst/>
                        </a:rPr>
                        <a:t>Any device with a modern web browser (Chrome/Firefox) </a:t>
                      </a:r>
                      <a:endParaRPr lang="en-US" sz="1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114300" marR="114300" marT="76200" marB="76200" anchor="ctr"/>
                </a:tc>
                <a:extLst>
                  <a:ext uri="{0D108BD9-81ED-4DB2-BD59-A6C34878D82A}">
                    <a16:rowId xmlns:a16="http://schemas.microsoft.com/office/drawing/2014/main" val="2197110747"/>
                  </a:ext>
                </a:extLst>
              </a:tr>
            </a:tbl>
          </a:graphicData>
        </a:graphic>
      </p:graphicFrame>
    </p:spTree>
    <p:extLst>
      <p:ext uri="{BB962C8B-B14F-4D97-AF65-F5344CB8AC3E}">
        <p14:creationId xmlns:p14="http://schemas.microsoft.com/office/powerpoint/2010/main" val="1007547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7E1F8FC-442B-F0F7-8005-E2FD8CADFD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722694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8DFFD2-D99E-D9BA-CEF2-0B1209074963}"/>
              </a:ext>
            </a:extLst>
          </p:cNvPr>
          <p:cNvSpPr txBox="1"/>
          <p:nvPr/>
        </p:nvSpPr>
        <p:spPr>
          <a:xfrm>
            <a:off x="729963" y="657413"/>
            <a:ext cx="2647082" cy="461665"/>
          </a:xfrm>
          <a:prstGeom prst="rect">
            <a:avLst/>
          </a:prstGeom>
          <a:noFill/>
        </p:spPr>
        <p:txBody>
          <a:bodyPr wrap="square">
            <a:spAutoFit/>
          </a:bodyPr>
          <a:lstStyle/>
          <a:p>
            <a:pPr algn="just"/>
            <a:r>
              <a:rPr lang="en-US" sz="2400" b="1" dirty="0"/>
              <a:t>References:</a:t>
            </a:r>
            <a:endParaRPr lang="en-IN" sz="2400" b="1" dirty="0"/>
          </a:p>
        </p:txBody>
      </p:sp>
      <p:sp>
        <p:nvSpPr>
          <p:cNvPr id="7" name="TextBox 6">
            <a:extLst>
              <a:ext uri="{FF2B5EF4-FFF2-40B4-BE49-F238E27FC236}">
                <a16:creationId xmlns:a16="http://schemas.microsoft.com/office/drawing/2014/main" id="{912EF35E-DEE4-1967-4354-05C99CBC0E06}"/>
              </a:ext>
            </a:extLst>
          </p:cNvPr>
          <p:cNvSpPr txBox="1"/>
          <p:nvPr/>
        </p:nvSpPr>
        <p:spPr>
          <a:xfrm>
            <a:off x="729963" y="1319058"/>
            <a:ext cx="10495756" cy="5355312"/>
          </a:xfrm>
          <a:prstGeom prst="rect">
            <a:avLst/>
          </a:prstGeom>
          <a:noFill/>
        </p:spPr>
        <p:txBody>
          <a:bodyPr wrap="square">
            <a:spAutoFit/>
          </a:bodyPr>
          <a:lstStyle/>
          <a:p>
            <a:pPr marL="342900" indent="-342900">
              <a:buFont typeface="+mj-lt"/>
              <a:buAutoNum type="arabicPeriod"/>
            </a:pPr>
            <a:r>
              <a:rPr lang="en-IN" dirty="0"/>
              <a:t>  T. Nguyen, K. T. Vo, T.-T. Ta, T.-A. Nguven-Hoang, and N.-T. Dinh, “Thebenefits and challenges of applying blockchain technology into big data:A literature review,” in Proc. Int. Conf. Adv. Technol. Commun., 2022,pp. 219–224. </a:t>
            </a:r>
            <a:r>
              <a:rPr lang="en-IN" dirty="0">
                <a:hlinkClick r:id="rId2"/>
              </a:rPr>
              <a:t>https://ieeexplore.ieee.org/document/10535206</a:t>
            </a:r>
            <a:endParaRPr lang="en-IN" dirty="0"/>
          </a:p>
          <a:p>
            <a:pPr marL="342900" indent="-342900" algn="just">
              <a:buFont typeface="+mj-lt"/>
              <a:buAutoNum type="arabicPeriod"/>
            </a:pPr>
            <a:endParaRPr lang="en-IN" dirty="0"/>
          </a:p>
          <a:p>
            <a:pPr marL="342900" indent="-342900">
              <a:buFont typeface="+mj-lt"/>
              <a:buAutoNum type="arabicPeriod"/>
            </a:pPr>
            <a:r>
              <a:rPr lang="en-IN" dirty="0"/>
              <a:t> G. Ramakrishnan, M. Rehan, and G. Sujatha, “Solidity vulnerabilityscanner,” in Proc. Int. Conf. Data Sci. Agents Artif. Intell., 2022, pp. 1–5. </a:t>
            </a:r>
            <a:r>
              <a:rPr lang="en-IN" dirty="0">
                <a:hlinkClick r:id="rId2"/>
              </a:rPr>
              <a:t>https://ieeexplore.ieee.org/document/10535206</a:t>
            </a:r>
            <a:endParaRPr lang="en-IN" dirty="0"/>
          </a:p>
          <a:p>
            <a:pPr marL="342900" indent="-342900">
              <a:buFont typeface="+mj-lt"/>
              <a:buAutoNum type="arabicPeriod"/>
            </a:pPr>
            <a:endParaRPr lang="en-IN" dirty="0"/>
          </a:p>
          <a:p>
            <a:pPr marL="342900" indent="-342900">
              <a:buFont typeface="+mj-lt"/>
              <a:buAutoNum type="arabicPeriod"/>
            </a:pPr>
            <a:r>
              <a:rPr lang="en-IN" dirty="0"/>
              <a:t>B. Jia, X. Zhang, J. Liu, Y. Zhang, K. Huang, and Y. Liang, “Blockchain-enabled federated learning data protection aggregation scheme with diferential privacy and homomorphic encryption in IIoT,” IEEE Trans. Ind.Informat., vol. 18, no. 6, pp. 4049–4058, Jun. 2022. </a:t>
            </a:r>
            <a:r>
              <a:rPr lang="en-IN" dirty="0">
                <a:hlinkClick r:id="rId2"/>
              </a:rPr>
              <a:t>https://ieeexplore.ieee.org/document/10535206</a:t>
            </a:r>
            <a:endParaRPr lang="en-IN" dirty="0"/>
          </a:p>
          <a:p>
            <a:pPr marL="342900" indent="-342900" algn="just">
              <a:buFont typeface="+mj-lt"/>
              <a:buAutoNum type="arabicPeriod"/>
            </a:pPr>
            <a:endParaRPr lang="en-IN" dirty="0"/>
          </a:p>
          <a:p>
            <a:pPr marL="342900" indent="-342900">
              <a:buFont typeface="+mj-lt"/>
              <a:buAutoNum type="arabicPeriod"/>
            </a:pPr>
            <a:r>
              <a:rPr lang="en-IN" dirty="0"/>
              <a:t>M. I. Mehar et al., “Understanding a revolutionary and flawed grandexperiment in blockchain: The DAO attack,” J. Cases Inf. Technol.,vol.21,no. 1, pp. 19–32, 2019. </a:t>
            </a:r>
            <a:r>
              <a:rPr lang="en-IN" dirty="0">
                <a:hlinkClick r:id="rId2"/>
              </a:rPr>
              <a:t>https://ieeexplore.ieee.org/document/10535206</a:t>
            </a:r>
            <a:endParaRPr lang="en-IN" dirty="0"/>
          </a:p>
          <a:p>
            <a:pPr marL="342900" indent="-342900" algn="just">
              <a:buFont typeface="+mj-lt"/>
              <a:buAutoNum type="arabicPeriod"/>
            </a:pPr>
            <a:endParaRPr lang="en-IN" dirty="0"/>
          </a:p>
          <a:p>
            <a:pPr marL="342900" indent="-342900">
              <a:buFont typeface="+mj-lt"/>
              <a:buAutoNum type="arabicPeriod"/>
            </a:pPr>
            <a:r>
              <a:rPr lang="en-IN" dirty="0"/>
              <a:t>L. Luu, D.-H. Chu, H. Olickel, P. Saxena, and A. Hobor, “Making smartcontracts smarter,” in Proc. ACM SIGSAC Conf. Comput. Commun. Secur.,2016, pp. 254–269. </a:t>
            </a:r>
            <a:r>
              <a:rPr lang="en-IN" dirty="0">
                <a:hlinkClick r:id="rId2"/>
              </a:rPr>
              <a:t>https://ieeexplore.ieee.org/document/10535206</a:t>
            </a:r>
            <a:endParaRPr lang="en-IN" dirty="0"/>
          </a:p>
        </p:txBody>
      </p:sp>
    </p:spTree>
    <p:extLst>
      <p:ext uri="{BB962C8B-B14F-4D97-AF65-F5344CB8AC3E}">
        <p14:creationId xmlns:p14="http://schemas.microsoft.com/office/powerpoint/2010/main" val="16164023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TM16401375[[fn=Madison]]</Template>
  <TotalTime>899</TotalTime>
  <Words>1634</Words>
  <Application>Microsoft Office PowerPoint</Application>
  <PresentationFormat>Widescreen</PresentationFormat>
  <Paragraphs>179</Paragraphs>
  <Slides>11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Aptos Display</vt:lpstr>
      <vt:lpstr>Arial</vt:lpstr>
      <vt:lpstr>Cambria</vt:lpstr>
      <vt:lpstr>Google Sans Text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Varun karthikeyan.M</dc:creator>
  <cp:lastModifiedBy>Ragu Raman</cp:lastModifiedBy>
  <cp:revision>65</cp:revision>
  <dcterms:created xsi:type="dcterms:W3CDTF">2026-01-23T05:42:45Z</dcterms:created>
  <dcterms:modified xsi:type="dcterms:W3CDTF">2026-02-08T02:02:28Z</dcterms:modified>
</cp:coreProperties>
</file>