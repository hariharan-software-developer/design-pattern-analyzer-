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AED"/>
    <a:srgbClr val="CCD2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6102" autoAdjust="0"/>
    <p:restoredTop sz="94660"/>
  </p:normalViewPr>
  <p:slideViewPr>
    <p:cSldViewPr snapToGrid="0">
      <p:cViewPr varScale="1">
        <p:scale>
          <a:sx n="74" d="100"/>
          <a:sy n="74" d="100"/>
        </p:scale>
        <p:origin x="72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513A34-264F-4891-ACA7-37B27D61782F}" type="datetimeFigureOut">
              <a:rPr lang="en-IN" smtClean="0"/>
              <a:t>26-01-2026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4C5F1C-FBFE-40B8-BF56-7CA90452BF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4766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C5F1C-FBFE-40B8-BF56-7CA90452BF76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2853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27DB3-0F2F-7CD9-F6ED-19982C0154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B298DD-B066-CF18-0591-A65C0AA67B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1EEA1-7733-B0E7-A58B-EE77D941D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5FADC-EF53-44CC-96A3-3DDCB505AF8D}" type="datetimeFigureOut">
              <a:rPr lang="en-IN" smtClean="0"/>
              <a:t>26-01-2026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F73F5-8DCF-D906-6A26-72DA02909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DF28C-72C2-8D29-1A7D-78E8C8073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0866-52D2-451D-9DF6-7E829D4DF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7920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D190F-DE0F-81EE-9DF3-ACECDD18B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922D5-0292-E142-75BF-FE27E03B5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8BA1B8-C20C-9B38-FE89-AB0F01610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5FADC-EF53-44CC-96A3-3DDCB505AF8D}" type="datetimeFigureOut">
              <a:rPr lang="en-IN" smtClean="0"/>
              <a:t>26-01-2026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B8106-E5A2-A4EA-6ABF-9E806151E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68A41-B4A1-DDFD-4A9E-43C553EF8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0866-52D2-451D-9DF6-7E829D4DF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3080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171EE-49F1-C518-26EC-8E43BBF21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697837-526F-D8B3-8972-BAD4D5FFAE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75DE6-AC6C-F40F-E08B-B06E5AE80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5FADC-EF53-44CC-96A3-3DDCB505AF8D}" type="datetimeFigureOut">
              <a:rPr lang="en-IN" smtClean="0"/>
              <a:t>26-01-2026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E9C73-A83A-3D72-5AA3-258110517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EBEB3-05C9-E0D4-7BF9-5E20939B2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0866-52D2-451D-9DF6-7E829D4DF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1615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7E203-EEC2-3F64-4EE9-841CA1753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F1492-A166-D46A-EF2C-5992E20779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9FEF29-ED53-8BFC-B2D4-6EC1B02E5E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95B2AF-7F1B-8E52-1C2D-F74B6C324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5FADC-EF53-44CC-96A3-3DDCB505AF8D}" type="datetimeFigureOut">
              <a:rPr lang="en-IN" smtClean="0"/>
              <a:t>26-01-2026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2AE9C0-C3D4-4F14-E4DB-040BBC82C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28F120-5560-1EB6-8AB3-6799C3736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0866-52D2-451D-9DF6-7E829D4DF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622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51312-2529-1E83-57A3-E68734337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36C470-B092-0890-BCE9-DEB385E3EE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A3D358-A64D-6533-EEDC-9FC091219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F37FD6-62B1-19AC-C28A-646805808F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E342D6-613E-3D49-94C9-27450A3FCC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C19E06-75B9-C1A5-7360-4D2D29C5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5FADC-EF53-44CC-96A3-3DDCB505AF8D}" type="datetimeFigureOut">
              <a:rPr lang="en-IN" smtClean="0"/>
              <a:t>26-01-2026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E35F74-8E0B-14B4-5C5F-33961F5A0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D33D0D-AE16-30F3-40B8-0D1582C4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0866-52D2-451D-9DF6-7E829D4DF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1054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54281-651C-03AD-6F44-01A978AF6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E1AA3C-EED4-A6A4-4B9D-AF18AE081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5FADC-EF53-44CC-96A3-3DDCB505AF8D}" type="datetimeFigureOut">
              <a:rPr lang="en-IN" smtClean="0"/>
              <a:t>26-01-2026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8B353B-17F8-A0C9-138B-25E8A4AD8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2D6467-8652-0FEB-9735-AEA5CAD6C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0866-52D2-451D-9DF6-7E829D4DF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264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58C1DA-5389-B5E5-ADDF-3D3FB0AB7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5FADC-EF53-44CC-96A3-3DDCB505AF8D}" type="datetimeFigureOut">
              <a:rPr lang="en-IN" smtClean="0"/>
              <a:t>26-01-2026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F464B6-5434-4275-4471-60275DCC4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A6B16-1F65-066F-DDD1-225396A3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0866-52D2-451D-9DF6-7E829D4DF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8505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5B7CD-3193-93E8-CF17-B8E5C863E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0A8E1-4745-5DB8-D8EE-73ECD3DA1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BD605D-0D4B-5E81-4A1A-2A2BEEE8F9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63ABC6-F9C7-F727-FED4-23D93C862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5FADC-EF53-44CC-96A3-3DDCB505AF8D}" type="datetimeFigureOut">
              <a:rPr lang="en-IN" smtClean="0"/>
              <a:t>26-01-2026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DC65D-EB2B-F13F-619C-BE7DCE494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B22FF5-CF5F-7EA2-E53D-CBEF8212E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0866-52D2-451D-9DF6-7E829D4DF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5527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519D8-6A33-2DAE-8A78-0233D67F6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49A978-76CF-3779-1717-530C8DCA07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C6E2C7-440E-F8D3-1FCC-F0C7B19869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B5C8C5-0D51-FF51-AC6C-0EA854961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5FADC-EF53-44CC-96A3-3DDCB505AF8D}" type="datetimeFigureOut">
              <a:rPr lang="en-IN" smtClean="0"/>
              <a:t>26-01-2026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98C0B8-7BA3-3992-41C7-B97C69793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D35EC7-6643-EA22-46A2-0C5D8CA5F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0866-52D2-451D-9DF6-7E829D4DF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3445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41201-28B4-3929-6A95-3C1D20B42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681DC3-33A6-52C2-08DB-A080D679DE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929A4-D0B0-BCCE-96F8-063139B54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5FADC-EF53-44CC-96A3-3DDCB505AF8D}" type="datetimeFigureOut">
              <a:rPr lang="en-IN" smtClean="0"/>
              <a:t>26-01-2026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E3252F-7D2C-5C4F-60A9-3722D4182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53AD1-497F-61B0-BCB5-9F3D5BDE8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0866-52D2-451D-9DF6-7E829D4DF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816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72C0F2-F226-A500-124B-326E916A17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F78794-82CF-C13C-4CF7-823AC8DC6E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1CAF-DB7A-95E2-E613-F40383884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5FADC-EF53-44CC-96A3-3DDCB505AF8D}" type="datetimeFigureOut">
              <a:rPr lang="en-IN" smtClean="0"/>
              <a:t>26-01-2026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8B8FD-9330-1242-213C-3B9E054A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29585-55BD-ADD9-DCE6-E6C0C77D2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A0866-52D2-451D-9DF6-7E829D4DF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1550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F407B6-A4B0-0844-D477-A7D75DDC1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FAF3B0-65D1-3215-9E87-0D80E68892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37CC8-0EF2-EDE5-2704-0844CB4F34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15FADC-EF53-44CC-96A3-3DDCB505AF8D}" type="datetimeFigureOut">
              <a:rPr lang="en-IN" smtClean="0"/>
              <a:t>26-01-2026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AAB41-3E10-0372-2B4F-A6235DC2DE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00779-4AEC-09B4-41F4-40C0CAF868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CA0866-52D2-451D-9DF6-7E829D4DF4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990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09/TSE.2025.3570421" TargetMode="External"/><Relationship Id="rId2" Type="http://schemas.openxmlformats.org/officeDocument/2006/relationships/hyperlink" Target="https://doi.org/10.1109/TR.2024.3480010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i.org/10.1109/TSE.2025.3597319" TargetMode="External"/><Relationship Id="rId5" Type="http://schemas.openxmlformats.org/officeDocument/2006/relationships/hyperlink" Target="https://doi.org/10.1109/ACCESS.2024.3364351" TargetMode="External"/><Relationship Id="rId4" Type="http://schemas.openxmlformats.org/officeDocument/2006/relationships/hyperlink" Target="https://doi.org/10.1109/TBDATA.2024.340337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B52CDC5-3DC9-EBDF-5A74-532D8591ADC4}"/>
              </a:ext>
            </a:extLst>
          </p:cNvPr>
          <p:cNvSpPr txBox="1"/>
          <p:nvPr/>
        </p:nvSpPr>
        <p:spPr>
          <a:xfrm>
            <a:off x="3034825" y="4361646"/>
            <a:ext cx="71871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Team Members:</a:t>
            </a:r>
            <a:endParaRPr lang="en-IN" sz="2400" dirty="0"/>
          </a:p>
          <a:p>
            <a:r>
              <a:rPr lang="en-IN" sz="2400" dirty="0"/>
              <a:t>422422205002	</a:t>
            </a:r>
            <a:r>
              <a:rPr lang="en-IN" sz="2400" b="1" dirty="0"/>
              <a:t>VETRI SELVAN G</a:t>
            </a:r>
            <a:r>
              <a:rPr lang="en-IN" sz="2400" dirty="0"/>
              <a:t> </a:t>
            </a:r>
          </a:p>
          <a:p>
            <a:r>
              <a:rPr lang="en-IN" sz="2400" dirty="0"/>
              <a:t>422422205026	</a:t>
            </a:r>
            <a:r>
              <a:rPr lang="en-IN" sz="2400" b="1" dirty="0"/>
              <a:t>DIVYASRI V</a:t>
            </a:r>
            <a:r>
              <a:rPr lang="en-IN" sz="2400" dirty="0"/>
              <a:t> </a:t>
            </a:r>
          </a:p>
          <a:p>
            <a:r>
              <a:rPr lang="en-IN" sz="2400" dirty="0"/>
              <a:t>422422205044	</a:t>
            </a:r>
            <a:r>
              <a:rPr lang="en-IN" sz="2400" b="1" dirty="0"/>
              <a:t>VARUN KARTHIKEYAN M</a:t>
            </a:r>
            <a:r>
              <a:rPr lang="en-IN" sz="2400" dirty="0"/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B1B76F-A102-FC4B-00F1-C870350EB8C9}"/>
              </a:ext>
            </a:extLst>
          </p:cNvPr>
          <p:cNvSpPr txBox="1"/>
          <p:nvPr/>
        </p:nvSpPr>
        <p:spPr>
          <a:xfrm>
            <a:off x="3044353" y="3319089"/>
            <a:ext cx="25681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BATCH NO: </a:t>
            </a:r>
            <a:r>
              <a:rPr lang="en-IN" sz="20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B91D65-D8A1-14C6-53FE-2993C5291966}"/>
              </a:ext>
            </a:extLst>
          </p:cNvPr>
          <p:cNvSpPr txBox="1"/>
          <p:nvPr/>
        </p:nvSpPr>
        <p:spPr>
          <a:xfrm>
            <a:off x="3034825" y="3840367"/>
            <a:ext cx="68286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SUPERVISOR: Dr. R. Shyamala, M.E., Ph.D., AP/IT</a:t>
            </a: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D3B53134-A1AE-9A0E-BF88-34DED15F75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466"/>
          <a:stretch>
            <a:fillRect/>
          </a:stretch>
        </p:blipFill>
        <p:spPr bwMode="auto">
          <a:xfrm>
            <a:off x="1583819" y="497713"/>
            <a:ext cx="898647" cy="885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1B83B2D-6D39-2273-ABC5-CE8F68E05587}"/>
              </a:ext>
            </a:extLst>
          </p:cNvPr>
          <p:cNvSpPr txBox="1"/>
          <p:nvPr/>
        </p:nvSpPr>
        <p:spPr>
          <a:xfrm>
            <a:off x="1101219" y="2138528"/>
            <a:ext cx="103144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Smart Contract Vulnerability Detection using Deep Learning and Explainable AI (XAI)</a:t>
            </a:r>
            <a:endParaRPr lang="en-IN" sz="2400" dirty="0"/>
          </a:p>
          <a:p>
            <a:pPr algn="ctr"/>
            <a:endParaRPr lang="en-IN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D0F15A-AC20-D3DC-3830-BEBCC66E380E}"/>
              </a:ext>
            </a:extLst>
          </p:cNvPr>
          <p:cNvSpPr txBox="1"/>
          <p:nvPr/>
        </p:nvSpPr>
        <p:spPr>
          <a:xfrm>
            <a:off x="5612511" y="1593930"/>
            <a:ext cx="12700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/>
              <a:t>TITLE</a:t>
            </a:r>
            <a:endParaRPr lang="en-IN" sz="2800" b="1" u="sng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4F3877-B450-568F-E708-AD41320AEFB5}"/>
              </a:ext>
            </a:extLst>
          </p:cNvPr>
          <p:cNvSpPr txBox="1"/>
          <p:nvPr/>
        </p:nvSpPr>
        <p:spPr>
          <a:xfrm>
            <a:off x="2795140" y="458309"/>
            <a:ext cx="690481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University College of Engineering, </a:t>
            </a:r>
            <a:r>
              <a:rPr lang="en-US" sz="2400" b="1" dirty="0" err="1"/>
              <a:t>Tindivanam</a:t>
            </a:r>
            <a:endParaRPr lang="en-US" sz="2400" b="1" dirty="0"/>
          </a:p>
          <a:p>
            <a:pPr algn="ctr"/>
            <a:r>
              <a:rPr lang="en-US" sz="1800" dirty="0"/>
              <a:t>(A Constituent College of Anna University, Chennai)</a:t>
            </a:r>
          </a:p>
          <a:p>
            <a:pPr algn="ctr"/>
            <a:r>
              <a:rPr lang="en-IN" sz="1800" b="1" dirty="0"/>
              <a:t>Department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632356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1069B32-0B8E-80FA-4B69-805017B49C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366701"/>
              </p:ext>
            </p:extLst>
          </p:nvPr>
        </p:nvGraphicFramePr>
        <p:xfrm>
          <a:off x="0" y="0"/>
          <a:ext cx="12192001" cy="69367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98947">
                  <a:extLst>
                    <a:ext uri="{9D8B030D-6E8A-4147-A177-3AD203B41FA5}">
                      <a16:colId xmlns:a16="http://schemas.microsoft.com/office/drawing/2014/main" val="1604045408"/>
                    </a:ext>
                  </a:extLst>
                </a:gridCol>
                <a:gridCol w="2338943">
                  <a:extLst>
                    <a:ext uri="{9D8B030D-6E8A-4147-A177-3AD203B41FA5}">
                      <a16:colId xmlns:a16="http://schemas.microsoft.com/office/drawing/2014/main" val="3140278023"/>
                    </a:ext>
                  </a:extLst>
                </a:gridCol>
                <a:gridCol w="2160792">
                  <a:extLst>
                    <a:ext uri="{9D8B030D-6E8A-4147-A177-3AD203B41FA5}">
                      <a16:colId xmlns:a16="http://schemas.microsoft.com/office/drawing/2014/main" val="903329714"/>
                    </a:ext>
                  </a:extLst>
                </a:gridCol>
                <a:gridCol w="1852627">
                  <a:extLst>
                    <a:ext uri="{9D8B030D-6E8A-4147-A177-3AD203B41FA5}">
                      <a16:colId xmlns:a16="http://schemas.microsoft.com/office/drawing/2014/main" val="2657687268"/>
                    </a:ext>
                  </a:extLst>
                </a:gridCol>
                <a:gridCol w="1748419">
                  <a:extLst>
                    <a:ext uri="{9D8B030D-6E8A-4147-A177-3AD203B41FA5}">
                      <a16:colId xmlns:a16="http://schemas.microsoft.com/office/drawing/2014/main" val="3942841394"/>
                    </a:ext>
                  </a:extLst>
                </a:gridCol>
                <a:gridCol w="1549921">
                  <a:extLst>
                    <a:ext uri="{9D8B030D-6E8A-4147-A177-3AD203B41FA5}">
                      <a16:colId xmlns:a16="http://schemas.microsoft.com/office/drawing/2014/main" val="3722859582"/>
                    </a:ext>
                  </a:extLst>
                </a:gridCol>
                <a:gridCol w="1742352">
                  <a:extLst>
                    <a:ext uri="{9D8B030D-6E8A-4147-A177-3AD203B41FA5}">
                      <a16:colId xmlns:a16="http://schemas.microsoft.com/office/drawing/2014/main" val="3067950471"/>
                    </a:ext>
                  </a:extLst>
                </a:gridCol>
              </a:tblGrid>
              <a:tr h="632447"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/>
                        <a:t>S.No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Paper (</a:t>
                      </a:r>
                      <a:r>
                        <a:rPr lang="en-US" sz="16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Author,Title</a:t>
                      </a:r>
                      <a:r>
                        <a:rPr lang="en-US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Journal </a:t>
                      </a:r>
                      <a:r>
                        <a:rPr lang="en-US" sz="16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Name,Year</a:t>
                      </a:r>
                      <a:r>
                        <a:rPr lang="en-US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 Idea / Approach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Advantages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Disadvantages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Evaluation Metrics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Data Set</a:t>
                      </a:r>
                      <a:endParaRPr lang="en-IN" sz="16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(if required)</a:t>
                      </a:r>
                      <a:endParaRPr lang="en-IN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2695692"/>
                  </a:ext>
                </a:extLst>
              </a:tr>
              <a:tr h="304289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  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Chu et al., "</a:t>
                      </a:r>
                      <a:r>
                        <a:rPr lang="en-GB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DeepFusion</a:t>
                      </a:r>
                      <a:r>
                        <a:rPr lang="en-GB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Smart Contract Vulnerability Detection Via Deep Learning and Data Fusion", IEEE Transactions on Reliability, 2025</a:t>
                      </a:r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Fuses program slices (semantic flow) + AST (syntactic structure) into </a:t>
                      </a:r>
                      <a:r>
                        <a:rPr lang="en-US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BiLSTM+Attention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to capture bidirectional context and highlight vulnerabilities.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BiLSTM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Bidirectional dependencies.</a:t>
                      </a: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Novel: First DL for </a:t>
                      </a:r>
                      <a:r>
                        <a:rPr lang="en-US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tx.origin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+ self-destruct.</a:t>
                      </a: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Attention: Highlights key features.</a:t>
                      </a: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Fused data: Higher training time</a:t>
                      </a: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External tools: Slither/</a:t>
                      </a:r>
                      <a:r>
                        <a:rPr lang="en-US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solc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dependency</a:t>
                      </a: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Manual labels: Verification bias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 Accuracy</a:t>
                      </a:r>
                      <a:b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 Recall</a:t>
                      </a:r>
                      <a:b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 Precision</a:t>
                      </a:r>
                    </a:p>
                    <a:p>
                      <a:pPr algn="l"/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  F1 Score</a:t>
                      </a:r>
                    </a:p>
                    <a:p>
                      <a:pPr marL="342900" indent="-342900" algn="just">
                        <a:buFont typeface="+mj-lt"/>
                        <a:buAutoNum type="arabicPeriod"/>
                      </a:pP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 Dataset:</a:t>
                      </a:r>
                      <a:r>
                        <a:rPr lang="en-GB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109,834 contracts collected from GitHub/</a:t>
                      </a:r>
                    </a:p>
                    <a:p>
                      <a:pPr algn="just"/>
                      <a:r>
                        <a:rPr lang="en-GB" sz="16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Etherscan</a:t>
                      </a:r>
                      <a:r>
                        <a:rPr lang="en-GB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filtered to 4,313 buggy contracts.</a:t>
                      </a:r>
                      <a:endParaRPr lang="en-IN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9471464"/>
                  </a:ext>
                </a:extLst>
              </a:tr>
              <a:tr h="318265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Xu et al., "Enhanced Smart Contract Vulnerability Detection via Graph Neural Networks", IEEE Transactions on Software Engineering, 2025</a:t>
                      </a:r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/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GNNs process CFG (control flow) + ASG (syntax graphs) from </a:t>
                      </a:r>
                      <a:r>
                        <a:rPr lang="en-US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source+bytecode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to capture program semantics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Dual   input: Source+</a:t>
                      </a: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bytecode    </a:t>
                      </a: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features</a:t>
                      </a: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95.78%: Average accuracy</a:t>
                      </a: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  types: Common vulnerabilities</a:t>
                      </a: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Heavy: Graph construction overhead</a:t>
                      </a:r>
                    </a:p>
                    <a:p>
                      <a:pPr marL="0" lvl="0" indent="0" algn="just">
                        <a:buFont typeface="Arial" panose="020B0604020202020204" pitchFamily="34" charset="0"/>
                        <a:buNone/>
                      </a:pP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Complex: Dual CFG+ASG architecture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 Accuracy </a:t>
                      </a:r>
                      <a:b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/>
                      <a:r>
                        <a:rPr lang="en-IN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 F1 Score</a:t>
                      </a:r>
                    </a:p>
                    <a:p>
                      <a:pPr algn="just"/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Real Ethereum Dataset:</a:t>
                      </a:r>
                      <a:r>
                        <a:rPr lang="en-GB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Tested on a large-scale real-world dataset.</a:t>
                      </a:r>
                      <a:endParaRPr lang="en-IN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22768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8335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BBC863E-9744-0210-18D2-D2E36AB646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2678232"/>
              </p:ext>
            </p:extLst>
          </p:nvPr>
        </p:nvGraphicFramePr>
        <p:xfrm>
          <a:off x="0" y="0"/>
          <a:ext cx="12191998" cy="6858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16973">
                  <a:extLst>
                    <a:ext uri="{9D8B030D-6E8A-4147-A177-3AD203B41FA5}">
                      <a16:colId xmlns:a16="http://schemas.microsoft.com/office/drawing/2014/main" val="850779925"/>
                    </a:ext>
                  </a:extLst>
                </a:gridCol>
                <a:gridCol w="2566554">
                  <a:extLst>
                    <a:ext uri="{9D8B030D-6E8A-4147-A177-3AD203B41FA5}">
                      <a16:colId xmlns:a16="http://schemas.microsoft.com/office/drawing/2014/main" val="198362701"/>
                    </a:ext>
                  </a:extLst>
                </a:gridCol>
                <a:gridCol w="1766455">
                  <a:extLst>
                    <a:ext uri="{9D8B030D-6E8A-4147-A177-3AD203B41FA5}">
                      <a16:colId xmlns:a16="http://schemas.microsoft.com/office/drawing/2014/main" val="3192176299"/>
                    </a:ext>
                  </a:extLst>
                </a:gridCol>
                <a:gridCol w="1916874">
                  <a:extLst>
                    <a:ext uri="{9D8B030D-6E8A-4147-A177-3AD203B41FA5}">
                      <a16:colId xmlns:a16="http://schemas.microsoft.com/office/drawing/2014/main" val="409060717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48041422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86456048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487150543"/>
                    </a:ext>
                  </a:extLst>
                </a:gridCol>
              </a:tblGrid>
              <a:tr h="2342795">
                <a:tc>
                  <a:txBody>
                    <a:bodyPr/>
                    <a:lstStyle/>
                    <a:p>
                      <a:pPr algn="just"/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IN" sz="16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Lian et al., "A Universal and Efficient Multi-Modal Smart Contract Vulnerability Detection Framework for Big Data", IEEE Transactions on Big Data, 2025</a:t>
                      </a:r>
                      <a:endParaRPr lang="en-IN" sz="16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/>
                      <a:endParaRPr lang="en-IN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Multi-modal: Static analysis + sequential models for massive-scale contracts</a:t>
                      </a:r>
                      <a:endParaRPr lang="en-IN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Scalable: Handles millions of contracts</a:t>
                      </a: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sz="16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Robust: Resists code obfuscation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Storage-heavy: Multi-modal data demands</a:t>
                      </a: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Redundant: Modal feature overlap</a:t>
                      </a:r>
                      <a:endParaRPr lang="en-IN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Detection Rate</a:t>
                      </a:r>
                    </a:p>
                    <a:p>
                      <a:pPr algn="just"/>
                      <a:br>
                        <a:rPr lang="en-IN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IN" sz="16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/>
                      <a:r>
                        <a:rPr lang="en-IN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Scalability</a:t>
                      </a:r>
                    </a:p>
                    <a:p>
                      <a:pPr algn="just"/>
                      <a:endParaRPr lang="en-IN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6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SmartBugs</a:t>
                      </a:r>
                      <a:r>
                        <a:rPr lang="en-GB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-Wild</a:t>
                      </a:r>
                      <a:r>
                        <a:rPr lang="en-GB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A large-scale public dataset of real-world contracts.</a:t>
                      </a:r>
                      <a:endParaRPr lang="en-IN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673711"/>
                  </a:ext>
                </a:extLst>
              </a:tr>
              <a:tr h="2172410">
                <a:tc>
                  <a:txBody>
                    <a:bodyPr/>
                    <a:lstStyle/>
                    <a:p>
                      <a:pPr algn="just"/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IN" sz="16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Loh et al., "An Integrated Smart Contract Vulnerability Detection Tool Using Multi-Layer Perceptron", IEEE Access, 2024</a:t>
                      </a:r>
                      <a:endParaRPr lang="en-IN" sz="16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/>
                      <a:endParaRPr lang="en-IN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MLP+LSTM hybrid model trained on feature vectors extracted from Opcodes and Control Flow Graphs (CFG)</a:t>
                      </a:r>
                      <a:endParaRPr lang="en-IN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Unified: Standardized heterogeneous preprocessing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Balanced: AST injection balancing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Opcodes: Lose semantic intent</a:t>
                      </a: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MLP: Feature scaling sensitive</a:t>
                      </a:r>
                      <a:endParaRPr lang="en-IN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Accuracy </a:t>
                      </a:r>
                    </a:p>
                    <a:p>
                      <a:pPr algn="just"/>
                      <a:endParaRPr lang="en-IN" sz="16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/>
                      <a:endParaRPr lang="en-IN" sz="16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/>
                      <a:r>
                        <a:rPr lang="en-IN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False Positive Rate (FPR)</a:t>
                      </a:r>
                    </a:p>
                    <a:p>
                      <a:pPr algn="just"/>
                      <a:endParaRPr lang="en-IN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6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Real-Time Contracts: </a:t>
                      </a:r>
                      <a:r>
                        <a:rPr lang="en-GB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Deployed contracts on the Ethereum Blockchain.</a:t>
                      </a:r>
                      <a:endParaRPr lang="en-IN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31841320"/>
                  </a:ext>
                </a:extLst>
              </a:tr>
              <a:tr h="2342795">
                <a:tc>
                  <a:txBody>
                    <a:bodyPr/>
                    <a:lstStyle/>
                    <a:p>
                      <a:pPr algn="just"/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IN" sz="16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Zhang et al., "Advanced Smart Contract Vulnerability Detection via LLM-Powered Multi-Agent Systems", IEEE Transactions on Software Engineering, 2025</a:t>
                      </a:r>
                      <a:endParaRPr lang="en-IN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/>
                      <a:endParaRPr lang="en-IN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LLM-</a:t>
                      </a:r>
                      <a:r>
                        <a:rPr lang="en-US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SmartAudit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Multi-agent LLM system with Buffer-of-Thought for iterative vulnerability refinement</a:t>
                      </a:r>
                      <a:endParaRPr lang="en-IN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IN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98% accuracy on common vulnerabilities. </a:t>
                      </a:r>
                      <a:br>
                        <a:rPr lang="en-IN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IN" sz="16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IN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Agents "double-check" work to reduce errors. </a:t>
                      </a:r>
                    </a:p>
                    <a:p>
                      <a:pPr algn="just"/>
                      <a:endParaRPr lang="en-IN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IN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Non-deterministic: Variable results</a:t>
                      </a: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IN" sz="16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IN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Costly: High API/hardware overhead</a:t>
                      </a:r>
                    </a:p>
                    <a:p>
                      <a:pPr algn="just"/>
                      <a:endParaRPr lang="en-IN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Accuracy </a:t>
                      </a:r>
                    </a:p>
                    <a:p>
                      <a:pPr algn="just"/>
                      <a:br>
                        <a:rPr lang="en-IN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IN" sz="16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IN" sz="16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   CVE Identification Rate</a:t>
                      </a:r>
                    </a:p>
                    <a:p>
                      <a:pPr algn="just"/>
                      <a:endParaRPr lang="en-IN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Combined Dataset:</a:t>
                      </a:r>
                      <a:r>
                        <a:rPr lang="en-GB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Benchmark common vulnerabilities + Real-world project corpus + CVE dataset.</a:t>
                      </a:r>
                      <a:endParaRPr lang="en-IN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17583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2657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9AA92A-4519-5B51-CFA2-8650CBA23DB3}"/>
              </a:ext>
            </a:extLst>
          </p:cNvPr>
          <p:cNvSpPr txBox="1"/>
          <p:nvPr/>
        </p:nvSpPr>
        <p:spPr>
          <a:xfrm>
            <a:off x="654627" y="422034"/>
            <a:ext cx="57877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Problems We Analyzed: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A0F36F-892E-5079-CF38-AED7A8C09193}"/>
              </a:ext>
            </a:extLst>
          </p:cNvPr>
          <p:cNvSpPr txBox="1"/>
          <p:nvPr/>
        </p:nvSpPr>
        <p:spPr>
          <a:xfrm>
            <a:off x="446809" y="1080654"/>
            <a:ext cx="1069224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Traditional tools </a:t>
            </a:r>
            <a:r>
              <a:rPr lang="en-IN" dirty="0" err="1"/>
              <a:t>analyze</a:t>
            </a:r>
            <a:r>
              <a:rPr lang="en-IN" dirty="0"/>
              <a:t> source code OR bytecode separately, missing cross-level correlations. Control Flow Graphs (CFG) capture execution paths but ignore syntax structure, while Abstract Syntax Graphs (ASG) miss runtime </a:t>
            </a:r>
            <a:r>
              <a:rPr lang="en-IN" dirty="0" err="1"/>
              <a:t>behavior</a:t>
            </a:r>
            <a:r>
              <a:rPr lang="en-IN" dirty="0"/>
              <a:t>. This disconnect prevents comprehensive vulnerability detection across both source and bytecode, leaving critical semantic relationships undetected in deployed contracts.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Static analysis provides rich structural data but lacks sequential patterns, while sequential models miss static context. This modality disconnect fails at massive-scale analysis, preventing comprehensive detection across large blockchain datasets and leaving widespread vulnerabilities undetected.</a:t>
            </a:r>
          </a:p>
          <a:p>
            <a:pPr algn="just"/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Single-pass models make one-shot decisions without refinement, missing nuanced vulnerabilities. Static tools are rule-bound, traditional DL lacks deliberation, and no system provides conversational refinement through multi-agent collaboration with persistent reasoning context ("Buffer-of-Thought"), resulting in inconsistent detection of complex, multi-step exploits.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Opcodes capture low-level EVM execution but lose high-level semantics, while Control Flow Graphs (CFG) reveal program structure without runtime behavior. Single-model approaches fail to integrate these complementary perspectives, resulting in incomplete vulnerability detection that misses critical opcode patterns and CFG execution paths simultaneously.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4957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090D53-EC28-C9D6-751A-ACC0B47BE94E}"/>
              </a:ext>
            </a:extLst>
          </p:cNvPr>
          <p:cNvSpPr txBox="1"/>
          <p:nvPr/>
        </p:nvSpPr>
        <p:spPr>
          <a:xfrm>
            <a:off x="490969" y="1653615"/>
            <a:ext cx="114481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dirty="0"/>
              <a:t>Existing automated tools suffer from a 'Black Box' dilemma—providing detections without explanations—or excessive false positives. This creates a critical need for an Interpretable Deep Learning System that combines context-aware accuracy with line-level visual evidence to enable efficient and trustworthy vulnerability remediation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2E56EA-882B-E737-3EE4-4FE68A92C657}"/>
              </a:ext>
            </a:extLst>
          </p:cNvPr>
          <p:cNvSpPr txBox="1"/>
          <p:nvPr/>
        </p:nvSpPr>
        <p:spPr>
          <a:xfrm>
            <a:off x="490969" y="485894"/>
            <a:ext cx="57877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/>
              <a:t>Problem Statement and Objectives:</a:t>
            </a:r>
            <a:endParaRPr lang="en-IN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A952A1-0F0F-92FE-C5ED-4420D425CF53}"/>
              </a:ext>
            </a:extLst>
          </p:cNvPr>
          <p:cNvSpPr txBox="1"/>
          <p:nvPr/>
        </p:nvSpPr>
        <p:spPr>
          <a:xfrm>
            <a:off x="490969" y="2797524"/>
            <a:ext cx="609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1" dirty="0"/>
              <a:t>Objectives: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FB42CF-165F-808B-6E97-B24A564AA16D}"/>
              </a:ext>
            </a:extLst>
          </p:cNvPr>
          <p:cNvSpPr txBox="1"/>
          <p:nvPr/>
        </p:nvSpPr>
        <p:spPr>
          <a:xfrm>
            <a:off x="490969" y="1103559"/>
            <a:ext cx="609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1" dirty="0"/>
              <a:t>Problem Statement 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1211CB-4738-2E4D-0F3B-F352589E144D}"/>
              </a:ext>
            </a:extLst>
          </p:cNvPr>
          <p:cNvSpPr txBox="1"/>
          <p:nvPr/>
        </p:nvSpPr>
        <p:spPr>
          <a:xfrm>
            <a:off x="490968" y="3387435"/>
            <a:ext cx="1120919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​Validate Context-Awareness: Demonstrate that Bi-Directional LSTM correctly identifies long-term dependencies missed by static tools.​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Demonstrate Interpretability: Visualize vulnerability locations using Attention Heatmaps to resolve the "Black Box" issue.</a:t>
            </a:r>
          </a:p>
          <a:p>
            <a:pPr algn="just"/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​Validate Precision: Prove that semantic tokenization effectively filters noise to reduce False Positives.</a:t>
            </a:r>
          </a:p>
        </p:txBody>
      </p:sp>
    </p:spTree>
    <p:extLst>
      <p:ext uri="{BB962C8B-B14F-4D97-AF65-F5344CB8AC3E}">
        <p14:creationId xmlns:p14="http://schemas.microsoft.com/office/powerpoint/2010/main" val="939451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8DFFD2-D99E-D9BA-CEF2-0B1209074963}"/>
              </a:ext>
            </a:extLst>
          </p:cNvPr>
          <p:cNvSpPr txBox="1"/>
          <p:nvPr/>
        </p:nvSpPr>
        <p:spPr>
          <a:xfrm>
            <a:off x="729963" y="657413"/>
            <a:ext cx="26470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/>
              <a:t>References:</a:t>
            </a:r>
            <a:endParaRPr lang="en-IN" sz="24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20B77DB-0CCC-25B0-0C5B-A3F2F8E5D6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963" y="1389636"/>
            <a:ext cx="11170228" cy="4930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15870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H. Chu, P. Zhang, H. Dong, Y. Xiao, and S. Ji, “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DeepFusion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Smart Contract Vulnerability Detection via Deep Learning and Data Fusion,”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IEEE Transactions on Reliability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vol. 74, no. 3, pp. 3544–3558, Oct. 2024,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https://doi.org/10.1109/TR.2024.3480010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>
                <a:latin typeface="Arial" panose="020B0604020202020204" pitchFamily="34" charset="0"/>
              </a:rPr>
              <a:t>C. Xu, H. Xu, L. Zhu, X. Shen, and K. Sharif, “Enhanced Smart Contract Vulnerability Detection via Graph Neural Networks: Achieving High Accuracy and Efficiency,” </a:t>
            </a:r>
            <a:r>
              <a:rPr lang="en-US" altLang="en-US" sz="1600" i="1" dirty="0">
                <a:latin typeface="Arial" panose="020B0604020202020204" pitchFamily="34" charset="0"/>
              </a:rPr>
              <a:t>IEEE Transactions on Software Engineering</a:t>
            </a:r>
            <a:r>
              <a:rPr lang="en-US" altLang="en-US" sz="1600" dirty="0">
                <a:latin typeface="Arial" panose="020B0604020202020204" pitchFamily="34" charset="0"/>
              </a:rPr>
              <a:t>, vol. 51, no. 6, pp. 1854–1865, May 2025, </a:t>
            </a:r>
            <a:r>
              <a:rPr lang="en-US" altLang="en-US" sz="1600" dirty="0" err="1">
                <a:latin typeface="Arial" panose="020B0604020202020204" pitchFamily="34" charset="0"/>
              </a:rPr>
              <a:t>doi</a:t>
            </a:r>
            <a:r>
              <a:rPr lang="en-US" altLang="en-US" sz="1600" dirty="0">
                <a:latin typeface="Arial" panose="020B0604020202020204" pitchFamily="34" charset="0"/>
              </a:rPr>
              <a:t>: </a:t>
            </a:r>
            <a:r>
              <a:rPr lang="en-US" altLang="en-US" sz="1600" dirty="0">
                <a:latin typeface="Arial" panose="020B0604020202020204" pitchFamily="34" charset="0"/>
                <a:hlinkClick r:id="rId3"/>
              </a:rPr>
              <a:t>https://doi.org/10.1109/TSE.2025.3570421</a:t>
            </a:r>
            <a:r>
              <a:rPr lang="en-US" altLang="en-US" sz="1600" dirty="0">
                <a:latin typeface="Arial" panose="020B0604020202020204" pitchFamily="34" charset="0"/>
              </a:rPr>
              <a:t>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>
                <a:latin typeface="Arial" panose="020B0604020202020204" pitchFamily="34" charset="0"/>
              </a:rPr>
              <a:t>W. Lian, Z. Bao, X. Zhang, B. Jia, and Y. Zhang, “A Universal and Efficient Multi-modal Smart Contract Vulnerability Detection Framework for Big Data,” </a:t>
            </a:r>
            <a:r>
              <a:rPr lang="en-US" altLang="en-US" sz="1600" i="1" dirty="0">
                <a:latin typeface="Arial" panose="020B0604020202020204" pitchFamily="34" charset="0"/>
              </a:rPr>
              <a:t>IEEE Transactions on Big Data</a:t>
            </a:r>
            <a:r>
              <a:rPr lang="en-US" altLang="en-US" sz="1600" dirty="0">
                <a:latin typeface="Arial" panose="020B0604020202020204" pitchFamily="34" charset="0"/>
              </a:rPr>
              <a:t>, vol. 11, no. 1, pp. 190–207, May 2024, </a:t>
            </a:r>
            <a:r>
              <a:rPr lang="en-US" altLang="en-US" sz="1600" dirty="0" err="1">
                <a:latin typeface="Arial" panose="020B0604020202020204" pitchFamily="34" charset="0"/>
              </a:rPr>
              <a:t>doi</a:t>
            </a:r>
            <a:r>
              <a:rPr lang="en-US" altLang="en-US" sz="1600" dirty="0">
                <a:latin typeface="Arial" panose="020B0604020202020204" pitchFamily="34" charset="0"/>
              </a:rPr>
              <a:t>: </a:t>
            </a:r>
            <a:r>
              <a:rPr lang="en-US" altLang="en-US" sz="1600" dirty="0">
                <a:latin typeface="Arial" panose="020B0604020202020204" pitchFamily="34" charset="0"/>
                <a:hlinkClick r:id="rId4"/>
              </a:rPr>
              <a:t>https://doi.org/10.1109/TBDATA.2024.3403376</a:t>
            </a:r>
            <a:r>
              <a:rPr lang="en-US" altLang="en-US" sz="1600" dirty="0">
                <a:latin typeface="Arial" panose="020B0604020202020204" pitchFamily="34" charset="0"/>
              </a:rPr>
              <a:t>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>
                <a:latin typeface="Arial" panose="020B0604020202020204" pitchFamily="34" charset="0"/>
              </a:rPr>
              <a:t>L. S. Haw Colin, Purnima Murali Mohan, J. Pan, and P. L. Kok Keong, “An Integrated Smart Contract Vulnerability Detection Tool Using Multi-layer Perceptron on Real-time Solidity Smart Contracts,” </a:t>
            </a:r>
            <a:r>
              <a:rPr lang="en-US" altLang="en-US" sz="1600" i="1" dirty="0">
                <a:latin typeface="Arial" panose="020B0604020202020204" pitchFamily="34" charset="0"/>
              </a:rPr>
              <a:t>IEEE Access</a:t>
            </a:r>
            <a:r>
              <a:rPr lang="en-US" altLang="en-US" sz="1600" dirty="0">
                <a:latin typeface="Arial" panose="020B0604020202020204" pitchFamily="34" charset="0"/>
              </a:rPr>
              <a:t>, vol. 12, pp. 23549–23567, Feb. 2024, </a:t>
            </a:r>
            <a:r>
              <a:rPr lang="en-US" altLang="en-US" sz="1600" dirty="0" err="1">
                <a:latin typeface="Arial" panose="020B0604020202020204" pitchFamily="34" charset="0"/>
              </a:rPr>
              <a:t>doi</a:t>
            </a:r>
            <a:r>
              <a:rPr lang="en-US" altLang="en-US" sz="1600" dirty="0">
                <a:latin typeface="Arial" panose="020B0604020202020204" pitchFamily="34" charset="0"/>
              </a:rPr>
              <a:t>: </a:t>
            </a:r>
            <a:r>
              <a:rPr lang="en-US" altLang="en-US" sz="1600" dirty="0">
                <a:latin typeface="Arial" panose="020B0604020202020204" pitchFamily="34" charset="0"/>
                <a:hlinkClick r:id="rId5"/>
              </a:rPr>
              <a:t>https://doi.org/10.1109/ACCESS.2024.3364351</a:t>
            </a:r>
            <a:r>
              <a:rPr lang="en-US" altLang="en-US" sz="1600" dirty="0">
                <a:latin typeface="Arial" panose="020B0604020202020204" pitchFamily="34" charset="0"/>
              </a:rPr>
              <a:t>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dirty="0"/>
              <a:t>Z. Wei </a:t>
            </a:r>
            <a:r>
              <a:rPr lang="en-IN" i="1" dirty="0"/>
              <a:t>et al.</a:t>
            </a:r>
            <a:r>
              <a:rPr lang="en-IN" dirty="0"/>
              <a:t>, “Advanced Smart Contract Vulnerability Detection via LLM-Powered Multi-Agent Systems,” </a:t>
            </a:r>
            <a:r>
              <a:rPr lang="en-IN" i="1" dirty="0"/>
              <a:t>IEEE Transactions on Software Engineering</a:t>
            </a:r>
            <a:r>
              <a:rPr lang="en-IN" dirty="0"/>
              <a:t>, vol. 51, no. 10, pp. 2830–2846, Aug. 2025, </a:t>
            </a:r>
            <a:r>
              <a:rPr lang="en-IN" dirty="0" err="1"/>
              <a:t>doi</a:t>
            </a:r>
            <a:r>
              <a:rPr lang="en-IN" dirty="0"/>
              <a:t>: </a:t>
            </a:r>
            <a:r>
              <a:rPr lang="en-IN" dirty="0">
                <a:hlinkClick r:id="rId6"/>
              </a:rPr>
              <a:t>https://doi.org/10.1109/TSE.2025.3597319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16402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631</TotalTime>
  <Words>1208</Words>
  <Application>Microsoft Office PowerPoint</Application>
  <PresentationFormat>Widescreen</PresentationFormat>
  <Paragraphs>122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Varun karthikeyan.M</dc:creator>
  <cp:lastModifiedBy>Varun karthikeyan.M</cp:lastModifiedBy>
  <cp:revision>49</cp:revision>
  <dcterms:created xsi:type="dcterms:W3CDTF">2026-01-23T05:42:45Z</dcterms:created>
  <dcterms:modified xsi:type="dcterms:W3CDTF">2026-01-26T14:10:40Z</dcterms:modified>
</cp:coreProperties>
</file>